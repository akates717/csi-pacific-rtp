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58" r:id="rId2"/>
    <p:sldId id="281" r:id="rId3"/>
    <p:sldId id="309" r:id="rId4"/>
    <p:sldId id="310" r:id="rId5"/>
    <p:sldId id="273" r:id="rId6"/>
    <p:sldId id="272" r:id="rId7"/>
    <p:sldId id="276" r:id="rId8"/>
    <p:sldId id="277" r:id="rId9"/>
    <p:sldId id="280" r:id="rId10"/>
    <p:sldId id="278" r:id="rId11"/>
    <p:sldId id="279" r:id="rId12"/>
    <p:sldId id="266" r:id="rId13"/>
    <p:sldId id="265" r:id="rId14"/>
    <p:sldId id="267" r:id="rId15"/>
    <p:sldId id="268" r:id="rId16"/>
    <p:sldId id="275" r:id="rId17"/>
    <p:sldId id="269" r:id="rId18"/>
    <p:sldId id="274"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2490E7-A7CD-694C-84E8-41E5CB8A531B}" v="115" dt="2026-05-16T01:06:13.7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586" autoAdjust="0"/>
    <p:restoredTop sz="63953"/>
  </p:normalViewPr>
  <p:slideViewPr>
    <p:cSldViewPr snapToGrid="0">
      <p:cViewPr varScale="1">
        <p:scale>
          <a:sx n="84" d="100"/>
          <a:sy n="84" d="100"/>
        </p:scale>
        <p:origin x="1064" y="176"/>
      </p:cViewPr>
      <p:guideLst/>
    </p:cSldViewPr>
  </p:slideViewPr>
  <p:notesTextViewPr>
    <p:cViewPr>
      <p:scale>
        <a:sx n="3" d="2"/>
        <a:sy n="3" d="2"/>
      </p:scale>
      <p:origin x="0" y="0"/>
    </p:cViewPr>
  </p:notesTextViewPr>
  <p:sorterViewPr>
    <p:cViewPr varScale="1">
      <p:scale>
        <a:sx n="1" d="1"/>
        <a:sy n="1" d="1"/>
      </p:scale>
      <p:origin x="0" y="-13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Kates" userId="8fd5ec3e-c8da-46f6-bbad-ce7a7878ba0f" providerId="ADAL" clId="{F3C475C8-A694-5247-A1B1-BD486B98B493}"/>
    <pc:docChg chg="undo redo custSel addSld delSld modSld sldOrd">
      <pc:chgData name="Andrew Kates" userId="8fd5ec3e-c8da-46f6-bbad-ce7a7878ba0f" providerId="ADAL" clId="{F3C475C8-A694-5247-A1B1-BD486B98B493}" dt="2026-05-18T16:35:43.363" v="24898" actId="20577"/>
      <pc:docMkLst>
        <pc:docMk/>
      </pc:docMkLst>
      <pc:sldChg chg="modSp mod modNotesTx">
        <pc:chgData name="Andrew Kates" userId="8fd5ec3e-c8da-46f6-bbad-ce7a7878ba0f" providerId="ADAL" clId="{F3C475C8-A694-5247-A1B1-BD486B98B493}" dt="2026-05-15T15:48:10.246" v="21282" actId="20577"/>
        <pc:sldMkLst>
          <pc:docMk/>
          <pc:sldMk cId="3543289025" sldId="258"/>
        </pc:sldMkLst>
        <pc:spChg chg="mod">
          <ac:chgData name="Andrew Kates" userId="8fd5ec3e-c8da-46f6-bbad-ce7a7878ba0f" providerId="ADAL" clId="{F3C475C8-A694-5247-A1B1-BD486B98B493}" dt="2026-05-13T18:45:38.003" v="15745" actId="113"/>
          <ac:spMkLst>
            <pc:docMk/>
            <pc:sldMk cId="3543289025" sldId="258"/>
            <ac:spMk id="2" creationId="{00000000-0000-0000-0000-000000000000}"/>
          </ac:spMkLst>
        </pc:spChg>
      </pc:sldChg>
      <pc:sldChg chg="mod modShow">
        <pc:chgData name="Andrew Kates" userId="8fd5ec3e-c8da-46f6-bbad-ce7a7878ba0f" providerId="ADAL" clId="{F3C475C8-A694-5247-A1B1-BD486B98B493}" dt="2026-05-13T18:13:48.668" v="14968" actId="729"/>
        <pc:sldMkLst>
          <pc:docMk/>
          <pc:sldMk cId="3918262711" sldId="266"/>
        </pc:sldMkLst>
      </pc:sldChg>
      <pc:sldChg chg="mod modShow">
        <pc:chgData name="Andrew Kates" userId="8fd5ec3e-c8da-46f6-bbad-ce7a7878ba0f" providerId="ADAL" clId="{F3C475C8-A694-5247-A1B1-BD486B98B493}" dt="2026-05-13T18:13:40.844" v="14967" actId="729"/>
        <pc:sldMkLst>
          <pc:docMk/>
          <pc:sldMk cId="310404465" sldId="267"/>
        </pc:sldMkLst>
      </pc:sldChg>
      <pc:sldChg chg="mod modShow">
        <pc:chgData name="Andrew Kates" userId="8fd5ec3e-c8da-46f6-bbad-ce7a7878ba0f" providerId="ADAL" clId="{F3C475C8-A694-5247-A1B1-BD486B98B493}" dt="2026-05-13T18:13:59.564" v="14969" actId="729"/>
        <pc:sldMkLst>
          <pc:docMk/>
          <pc:sldMk cId="852876430" sldId="269"/>
        </pc:sldMkLst>
      </pc:sldChg>
      <pc:sldChg chg="modNotesTx">
        <pc:chgData name="Andrew Kates" userId="8fd5ec3e-c8da-46f6-bbad-ce7a7878ba0f" providerId="ADAL" clId="{F3C475C8-A694-5247-A1B1-BD486B98B493}" dt="2026-05-15T16:45:14.458" v="22298" actId="20577"/>
        <pc:sldMkLst>
          <pc:docMk/>
          <pc:sldMk cId="1988230745" sldId="272"/>
        </pc:sldMkLst>
      </pc:sldChg>
      <pc:sldChg chg="modSp modNotesTx">
        <pc:chgData name="Andrew Kates" userId="8fd5ec3e-c8da-46f6-bbad-ce7a7878ba0f" providerId="ADAL" clId="{F3C475C8-A694-5247-A1B1-BD486B98B493}" dt="2026-05-15T15:58:52.010" v="22097" actId="20577"/>
        <pc:sldMkLst>
          <pc:docMk/>
          <pc:sldMk cId="2177813612" sldId="273"/>
        </pc:sldMkLst>
        <pc:graphicFrameChg chg="mod">
          <ac:chgData name="Andrew Kates" userId="8fd5ec3e-c8da-46f6-bbad-ce7a7878ba0f" providerId="ADAL" clId="{F3C475C8-A694-5247-A1B1-BD486B98B493}" dt="2026-05-13T17:53:16.792" v="13877" actId="20577"/>
          <ac:graphicFrameMkLst>
            <pc:docMk/>
            <pc:sldMk cId="2177813612" sldId="273"/>
            <ac:graphicFrameMk id="3" creationId="{4117B0BF-A6F2-802D-6475-C3BE56322528}"/>
          </ac:graphicFrameMkLst>
        </pc:graphicFrameChg>
      </pc:sldChg>
      <pc:sldChg chg="modSp new mod modNotesTx">
        <pc:chgData name="Andrew Kates" userId="8fd5ec3e-c8da-46f6-bbad-ce7a7878ba0f" providerId="ADAL" clId="{F3C475C8-A694-5247-A1B1-BD486B98B493}" dt="2026-05-15T16:47:41.940" v="22369" actId="20577"/>
        <pc:sldMkLst>
          <pc:docMk/>
          <pc:sldMk cId="1510800784" sldId="276"/>
        </pc:sldMkLst>
        <pc:spChg chg="mod">
          <ac:chgData name="Andrew Kates" userId="8fd5ec3e-c8da-46f6-bbad-ce7a7878ba0f" providerId="ADAL" clId="{F3C475C8-A694-5247-A1B1-BD486B98B493}" dt="2026-05-13T17:56:04.660" v="13911" actId="20577"/>
          <ac:spMkLst>
            <pc:docMk/>
            <pc:sldMk cId="1510800784" sldId="276"/>
            <ac:spMk id="2" creationId="{529AEE9E-A058-4C42-D5B1-AD5C1A4152E9}"/>
          </ac:spMkLst>
        </pc:spChg>
        <pc:spChg chg="mod">
          <ac:chgData name="Andrew Kates" userId="8fd5ec3e-c8da-46f6-bbad-ce7a7878ba0f" providerId="ADAL" clId="{F3C475C8-A694-5247-A1B1-BD486B98B493}" dt="2026-05-13T17:59:13.618" v="14043" actId="20577"/>
          <ac:spMkLst>
            <pc:docMk/>
            <pc:sldMk cId="1510800784" sldId="276"/>
            <ac:spMk id="3" creationId="{0E1E268D-BD35-7CFB-878D-300D7931D110}"/>
          </ac:spMkLst>
        </pc:spChg>
      </pc:sldChg>
      <pc:sldChg chg="modSp new mod modNotesTx">
        <pc:chgData name="Andrew Kates" userId="8fd5ec3e-c8da-46f6-bbad-ce7a7878ba0f" providerId="ADAL" clId="{F3C475C8-A694-5247-A1B1-BD486B98B493}" dt="2026-05-15T16:48:38.105" v="22412" actId="20577"/>
        <pc:sldMkLst>
          <pc:docMk/>
          <pc:sldMk cId="2486907702" sldId="277"/>
        </pc:sldMkLst>
        <pc:spChg chg="mod">
          <ac:chgData name="Andrew Kates" userId="8fd5ec3e-c8da-46f6-bbad-ce7a7878ba0f" providerId="ADAL" clId="{F3C475C8-A694-5247-A1B1-BD486B98B493}" dt="2026-05-13T18:00:48.438" v="14188" actId="20577"/>
          <ac:spMkLst>
            <pc:docMk/>
            <pc:sldMk cId="2486907702" sldId="277"/>
            <ac:spMk id="3" creationId="{DC2085FF-7136-2E20-D840-6A95FBEE8989}"/>
          </ac:spMkLst>
        </pc:spChg>
      </pc:sldChg>
      <pc:sldChg chg="modSp new mod ord">
        <pc:chgData name="Andrew Kates" userId="8fd5ec3e-c8da-46f6-bbad-ce7a7878ba0f" providerId="ADAL" clId="{F3C475C8-A694-5247-A1B1-BD486B98B493}" dt="2026-05-09T18:52:25.398" v="10349" actId="20577"/>
        <pc:sldMkLst>
          <pc:docMk/>
          <pc:sldMk cId="1960656376" sldId="278"/>
        </pc:sldMkLst>
        <pc:spChg chg="mod">
          <ac:chgData name="Andrew Kates" userId="8fd5ec3e-c8da-46f6-bbad-ce7a7878ba0f" providerId="ADAL" clId="{F3C475C8-A694-5247-A1B1-BD486B98B493}" dt="2026-05-09T18:52:25.398" v="10349" actId="20577"/>
          <ac:spMkLst>
            <pc:docMk/>
            <pc:sldMk cId="1960656376" sldId="278"/>
            <ac:spMk id="2" creationId="{7AD3A37E-B017-9684-8292-92306C831849}"/>
          </ac:spMkLst>
        </pc:spChg>
      </pc:sldChg>
      <pc:sldChg chg="modSp new mod modAnim modNotesTx">
        <pc:chgData name="Andrew Kates" userId="8fd5ec3e-c8da-46f6-bbad-ce7a7878ba0f" providerId="ADAL" clId="{F3C475C8-A694-5247-A1B1-BD486B98B493}" dt="2026-05-16T20:52:41.231" v="24412" actId="20577"/>
        <pc:sldMkLst>
          <pc:docMk/>
          <pc:sldMk cId="3163074255" sldId="279"/>
        </pc:sldMkLst>
        <pc:spChg chg="mod">
          <ac:chgData name="Andrew Kates" userId="8fd5ec3e-c8da-46f6-bbad-ce7a7878ba0f" providerId="ADAL" clId="{F3C475C8-A694-5247-A1B1-BD486B98B493}" dt="2026-05-09T18:55:29.125" v="10466" actId="20577"/>
          <ac:spMkLst>
            <pc:docMk/>
            <pc:sldMk cId="3163074255" sldId="279"/>
            <ac:spMk id="2" creationId="{204749BF-0610-5307-2D7D-4D63AAAAFB20}"/>
          </ac:spMkLst>
        </pc:spChg>
        <pc:spChg chg="mod">
          <ac:chgData name="Andrew Kates" userId="8fd5ec3e-c8da-46f6-bbad-ce7a7878ba0f" providerId="ADAL" clId="{F3C475C8-A694-5247-A1B1-BD486B98B493}" dt="2026-05-09T19:01:38.991" v="10956" actId="255"/>
          <ac:spMkLst>
            <pc:docMk/>
            <pc:sldMk cId="3163074255" sldId="279"/>
            <ac:spMk id="3" creationId="{AA8218A9-E9CC-32B5-D297-CABB62CD1204}"/>
          </ac:spMkLst>
        </pc:spChg>
      </pc:sldChg>
      <pc:sldChg chg="modSp new mod modNotesTx">
        <pc:chgData name="Andrew Kates" userId="8fd5ec3e-c8da-46f6-bbad-ce7a7878ba0f" providerId="ADAL" clId="{F3C475C8-A694-5247-A1B1-BD486B98B493}" dt="2026-05-18T16:35:43.363" v="24898" actId="20577"/>
        <pc:sldMkLst>
          <pc:docMk/>
          <pc:sldMk cId="2913460077" sldId="280"/>
        </pc:sldMkLst>
        <pc:spChg chg="mod">
          <ac:chgData name="Andrew Kates" userId="8fd5ec3e-c8da-46f6-bbad-ce7a7878ba0f" providerId="ADAL" clId="{F3C475C8-A694-5247-A1B1-BD486B98B493}" dt="2026-05-11T17:16:55.838" v="12901" actId="20577"/>
          <ac:spMkLst>
            <pc:docMk/>
            <pc:sldMk cId="2913460077" sldId="280"/>
            <ac:spMk id="2" creationId="{2714E5C6-4F65-A868-4B6E-75990055CC99}"/>
          </ac:spMkLst>
        </pc:spChg>
        <pc:spChg chg="mod">
          <ac:chgData name="Andrew Kates" userId="8fd5ec3e-c8da-46f6-bbad-ce7a7878ba0f" providerId="ADAL" clId="{F3C475C8-A694-5247-A1B1-BD486B98B493}" dt="2026-05-11T17:17:48.647" v="12948" actId="20577"/>
          <ac:spMkLst>
            <pc:docMk/>
            <pc:sldMk cId="2913460077" sldId="280"/>
            <ac:spMk id="3" creationId="{B5F32B5F-1F0E-D479-ECFB-BBA2812A72AD}"/>
          </ac:spMkLst>
        </pc:spChg>
      </pc:sldChg>
      <pc:sldChg chg="modSp new mod ord modNotesTx">
        <pc:chgData name="Andrew Kates" userId="8fd5ec3e-c8da-46f6-bbad-ce7a7878ba0f" providerId="ADAL" clId="{F3C475C8-A694-5247-A1B1-BD486B98B493}" dt="2026-05-14T18:50:06.943" v="20106" actId="20577"/>
        <pc:sldMkLst>
          <pc:docMk/>
          <pc:sldMk cId="2793768868" sldId="281"/>
        </pc:sldMkLst>
        <pc:spChg chg="mod">
          <ac:chgData name="Andrew Kates" userId="8fd5ec3e-c8da-46f6-bbad-ce7a7878ba0f" providerId="ADAL" clId="{F3C475C8-A694-5247-A1B1-BD486B98B493}" dt="2026-05-13T17:39:44.268" v="13127" actId="20577"/>
          <ac:spMkLst>
            <pc:docMk/>
            <pc:sldMk cId="2793768868" sldId="281"/>
            <ac:spMk id="2" creationId="{68767ADF-DFCE-E675-06DF-82607B900DBE}"/>
          </ac:spMkLst>
        </pc:spChg>
        <pc:spChg chg="mod">
          <ac:chgData name="Andrew Kates" userId="8fd5ec3e-c8da-46f6-bbad-ce7a7878ba0f" providerId="ADAL" clId="{F3C475C8-A694-5247-A1B1-BD486B98B493}" dt="2026-05-13T18:47:05.874" v="15749" actId="20577"/>
          <ac:spMkLst>
            <pc:docMk/>
            <pc:sldMk cId="2793768868" sldId="281"/>
            <ac:spMk id="3" creationId="{B90B3B7C-025A-F06A-B7DD-B3E3D1C4F7E5}"/>
          </ac:spMkLst>
        </pc:spChg>
      </pc:sldChg>
      <pc:sldChg chg="addSp delSp modSp add mod modTransition modNotesTx">
        <pc:chgData name="Andrew Kates" userId="8fd5ec3e-c8da-46f6-bbad-ce7a7878ba0f" providerId="ADAL" clId="{F3C475C8-A694-5247-A1B1-BD486B98B493}" dt="2026-05-14T04:11:27.165" v="18165" actId="20577"/>
        <pc:sldMkLst>
          <pc:docMk/>
          <pc:sldMk cId="1135346601" sldId="309"/>
        </pc:sldMkLst>
        <pc:spChg chg="mod">
          <ac:chgData name="Andrew Kates" userId="8fd5ec3e-c8da-46f6-bbad-ce7a7878ba0f" providerId="ADAL" clId="{F3C475C8-A694-5247-A1B1-BD486B98B493}" dt="2026-05-13T17:47:07.123" v="13442" actId="20577"/>
          <ac:spMkLst>
            <pc:docMk/>
            <pc:sldMk cId="1135346601" sldId="309"/>
            <ac:spMk id="3" creationId="{D7B6C86C-B8CD-2B6A-6B02-2C65D0F25933}"/>
          </ac:spMkLst>
        </pc:spChg>
        <pc:graphicFrameChg chg="mod">
          <ac:chgData name="Andrew Kates" userId="8fd5ec3e-c8da-46f6-bbad-ce7a7878ba0f" providerId="ADAL" clId="{F3C475C8-A694-5247-A1B1-BD486B98B493}" dt="2026-05-13T17:46:37.792" v="13391" actId="20577"/>
          <ac:graphicFrameMkLst>
            <pc:docMk/>
            <pc:sldMk cId="1135346601" sldId="309"/>
            <ac:graphicFrameMk id="5" creationId="{F76B0F9A-EA06-C3E5-6A99-24CCE3571E65}"/>
          </ac:graphicFrameMkLst>
        </pc:graphicFrameChg>
      </pc:sldChg>
      <pc:sldChg chg="addSp delSp modSp new mod ord modAnim modNotesTx">
        <pc:chgData name="Andrew Kates" userId="8fd5ec3e-c8da-46f6-bbad-ce7a7878ba0f" providerId="ADAL" clId="{F3C475C8-A694-5247-A1B1-BD486B98B493}" dt="2026-05-14T18:52:18.613" v="20133" actId="20577"/>
        <pc:sldMkLst>
          <pc:docMk/>
          <pc:sldMk cId="4116205107" sldId="310"/>
        </pc:sldMkLst>
        <pc:picChg chg="add mod">
          <ac:chgData name="Andrew Kates" userId="8fd5ec3e-c8da-46f6-bbad-ce7a7878ba0f" providerId="ADAL" clId="{F3C475C8-A694-5247-A1B1-BD486B98B493}" dt="2026-05-13T18:05:53.918" v="14240" actId="1076"/>
          <ac:picMkLst>
            <pc:docMk/>
            <pc:sldMk cId="4116205107" sldId="310"/>
            <ac:picMk id="5" creationId="{73470F84-0A25-4407-ECD7-76AC5B3A62D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C31C40-33E2-3847-8B33-9D6ADB4B3CA5}" type="doc">
      <dgm:prSet loTypeId="urn:microsoft.com/office/officeart/2005/8/layout/venn1" loCatId="" qsTypeId="urn:microsoft.com/office/officeart/2005/8/quickstyle/simple3" qsCatId="simple" csTypeId="urn:microsoft.com/office/officeart/2005/8/colors/colorful2" csCatId="colorful" phldr="1"/>
      <dgm:spPr/>
    </dgm:pt>
    <dgm:pt modelId="{4CCB70B8-D264-1C49-948A-35A9DCCAC47E}">
      <dgm:prSet phldrT="[Text]" custT="1"/>
      <dgm:spPr>
        <a:solidFill>
          <a:srgbClr val="FF0000">
            <a:alpha val="18778"/>
          </a:srgbClr>
        </a:solidFill>
      </dgm:spPr>
      <dgm:t>
        <a:bodyPr/>
        <a:lstStyle/>
        <a:p>
          <a:r>
            <a:rPr lang="en-US" sz="1600" b="1" dirty="0"/>
            <a:t>CSI Pacific</a:t>
          </a:r>
        </a:p>
        <a:p>
          <a:r>
            <a:rPr lang="en-US" sz="1300" dirty="0"/>
            <a:t>Strength &amp; Conditioning Coach</a:t>
          </a:r>
        </a:p>
        <a:p>
          <a:r>
            <a:rPr lang="en-US" sz="1300" dirty="0"/>
            <a:t>(2015 – Present)</a:t>
          </a:r>
        </a:p>
      </dgm:t>
    </dgm:pt>
    <dgm:pt modelId="{790C3AEC-CBDF-7D4A-8886-D318D09E3619}" type="parTrans" cxnId="{5EE58F39-972E-4E47-B08D-00CE5AE85B75}">
      <dgm:prSet/>
      <dgm:spPr/>
      <dgm:t>
        <a:bodyPr/>
        <a:lstStyle/>
        <a:p>
          <a:endParaRPr lang="en-US"/>
        </a:p>
      </dgm:t>
    </dgm:pt>
    <dgm:pt modelId="{574DD3CB-7116-854F-8003-179BCDEAA004}" type="sibTrans" cxnId="{5EE58F39-972E-4E47-B08D-00CE5AE85B75}">
      <dgm:prSet/>
      <dgm:spPr/>
      <dgm:t>
        <a:bodyPr/>
        <a:lstStyle/>
        <a:p>
          <a:endParaRPr lang="en-US"/>
        </a:p>
      </dgm:t>
    </dgm:pt>
    <dgm:pt modelId="{600FC00F-AE3E-CD4B-8FA8-27191F18C52E}">
      <dgm:prSet phldrT="[Text]" custT="1"/>
      <dgm:spPr>
        <a:solidFill>
          <a:schemeClr val="accent3">
            <a:alpha val="30540"/>
          </a:schemeClr>
        </a:solidFill>
      </dgm:spPr>
      <dgm:t>
        <a:bodyPr/>
        <a:lstStyle/>
        <a:p>
          <a:r>
            <a:rPr lang="en-US" sz="1600" b="1" dirty="0"/>
            <a:t>MITACS</a:t>
          </a:r>
        </a:p>
        <a:p>
          <a:r>
            <a:rPr lang="en-US" sz="1300" dirty="0"/>
            <a:t>Accelerate Fellowship</a:t>
          </a:r>
        </a:p>
        <a:p>
          <a:r>
            <a:rPr lang="en-US" sz="1300" dirty="0"/>
            <a:t>(2024)</a:t>
          </a:r>
        </a:p>
      </dgm:t>
    </dgm:pt>
    <dgm:pt modelId="{1FE182FD-3862-6049-9E8B-48E50C4530D3}" type="parTrans" cxnId="{567DA9B8-F661-174C-9F0F-AF25F8F381FE}">
      <dgm:prSet/>
      <dgm:spPr/>
      <dgm:t>
        <a:bodyPr/>
        <a:lstStyle/>
        <a:p>
          <a:endParaRPr lang="en-US"/>
        </a:p>
      </dgm:t>
    </dgm:pt>
    <dgm:pt modelId="{96FA5039-711F-F745-9732-1955454FFDE8}" type="sibTrans" cxnId="{567DA9B8-F661-174C-9F0F-AF25F8F381FE}">
      <dgm:prSet/>
      <dgm:spPr/>
      <dgm:t>
        <a:bodyPr/>
        <a:lstStyle/>
        <a:p>
          <a:endParaRPr lang="en-US"/>
        </a:p>
      </dgm:t>
    </dgm:pt>
    <dgm:pt modelId="{E5EAE536-9908-AB40-8768-05E2A257A852}">
      <dgm:prSet phldrT="[Text]" custT="1"/>
      <dgm:spPr>
        <a:solidFill>
          <a:schemeClr val="accent1">
            <a:alpha val="30000"/>
          </a:schemeClr>
        </a:solidFill>
      </dgm:spPr>
      <dgm:t>
        <a:bodyPr/>
        <a:lstStyle/>
        <a:p>
          <a:r>
            <a:rPr lang="en-US" sz="1600" b="1" dirty="0"/>
            <a:t>University of Victoria</a:t>
          </a:r>
        </a:p>
        <a:p>
          <a:r>
            <a:rPr lang="en-US" sz="1300" dirty="0"/>
            <a:t>PhD Candidate</a:t>
          </a:r>
        </a:p>
        <a:p>
          <a:r>
            <a:rPr lang="en-US" sz="1300" dirty="0"/>
            <a:t>(2022 – Present)</a:t>
          </a:r>
        </a:p>
        <a:p>
          <a:r>
            <a:rPr lang="en-US" sz="1300" dirty="0"/>
            <a:t>Dr. Marc </a:t>
          </a:r>
          <a:r>
            <a:rPr lang="en-US" sz="1300" dirty="0" err="1"/>
            <a:t>Klimstra</a:t>
          </a:r>
          <a:endParaRPr lang="en-US" sz="1300" dirty="0"/>
        </a:p>
        <a:p>
          <a:r>
            <a:rPr lang="en-US" sz="1300" dirty="0"/>
            <a:t>Dr. Ming-Chang Tsai</a:t>
          </a:r>
        </a:p>
      </dgm:t>
    </dgm:pt>
    <dgm:pt modelId="{449B2303-7659-2948-95F3-CC1F0F524904}" type="parTrans" cxnId="{027E8A8B-7B62-274E-89D4-3F269C071EDF}">
      <dgm:prSet/>
      <dgm:spPr/>
      <dgm:t>
        <a:bodyPr/>
        <a:lstStyle/>
        <a:p>
          <a:endParaRPr lang="en-US"/>
        </a:p>
      </dgm:t>
    </dgm:pt>
    <dgm:pt modelId="{631E2E19-C18F-CD4D-AB7E-6F412202BD96}" type="sibTrans" cxnId="{027E8A8B-7B62-274E-89D4-3F269C071EDF}">
      <dgm:prSet/>
      <dgm:spPr/>
      <dgm:t>
        <a:bodyPr/>
        <a:lstStyle/>
        <a:p>
          <a:endParaRPr lang="en-US"/>
        </a:p>
      </dgm:t>
    </dgm:pt>
    <dgm:pt modelId="{8349AEB1-AF24-0043-B8F7-89534494ACD4}" type="pres">
      <dgm:prSet presAssocID="{CDC31C40-33E2-3847-8B33-9D6ADB4B3CA5}" presName="compositeShape" presStyleCnt="0">
        <dgm:presLayoutVars>
          <dgm:chMax val="7"/>
          <dgm:dir/>
          <dgm:resizeHandles val="exact"/>
        </dgm:presLayoutVars>
      </dgm:prSet>
      <dgm:spPr/>
    </dgm:pt>
    <dgm:pt modelId="{783D168C-A2FE-3E4C-A3BA-ED5C0C0D0CD2}" type="pres">
      <dgm:prSet presAssocID="{4CCB70B8-D264-1C49-948A-35A9DCCAC47E}" presName="circ1" presStyleLbl="vennNode1" presStyleIdx="0" presStyleCnt="3"/>
      <dgm:spPr/>
    </dgm:pt>
    <dgm:pt modelId="{44CF0FE6-7940-6F4D-8FC3-3CBEB88064FB}" type="pres">
      <dgm:prSet presAssocID="{4CCB70B8-D264-1C49-948A-35A9DCCAC47E}" presName="circ1Tx" presStyleLbl="revTx" presStyleIdx="0" presStyleCnt="0">
        <dgm:presLayoutVars>
          <dgm:chMax val="0"/>
          <dgm:chPref val="0"/>
          <dgm:bulletEnabled val="1"/>
        </dgm:presLayoutVars>
      </dgm:prSet>
      <dgm:spPr/>
    </dgm:pt>
    <dgm:pt modelId="{34D2F516-D27F-934A-8273-6A130FE3224D}" type="pres">
      <dgm:prSet presAssocID="{600FC00F-AE3E-CD4B-8FA8-27191F18C52E}" presName="circ2" presStyleLbl="vennNode1" presStyleIdx="1" presStyleCnt="3"/>
      <dgm:spPr/>
    </dgm:pt>
    <dgm:pt modelId="{9057FC0E-9053-9D4B-B5B1-559AAD368CA0}" type="pres">
      <dgm:prSet presAssocID="{600FC00F-AE3E-CD4B-8FA8-27191F18C52E}" presName="circ2Tx" presStyleLbl="revTx" presStyleIdx="0" presStyleCnt="0">
        <dgm:presLayoutVars>
          <dgm:chMax val="0"/>
          <dgm:chPref val="0"/>
          <dgm:bulletEnabled val="1"/>
        </dgm:presLayoutVars>
      </dgm:prSet>
      <dgm:spPr/>
    </dgm:pt>
    <dgm:pt modelId="{7EDAEE88-3D78-A242-A182-584E39A2C535}" type="pres">
      <dgm:prSet presAssocID="{E5EAE536-9908-AB40-8768-05E2A257A852}" presName="circ3" presStyleLbl="vennNode1" presStyleIdx="2" presStyleCnt="3"/>
      <dgm:spPr/>
    </dgm:pt>
    <dgm:pt modelId="{51024BE4-F0A1-0D47-B103-9D9E9B016DC9}" type="pres">
      <dgm:prSet presAssocID="{E5EAE536-9908-AB40-8768-05E2A257A852}" presName="circ3Tx" presStyleLbl="revTx" presStyleIdx="0" presStyleCnt="0">
        <dgm:presLayoutVars>
          <dgm:chMax val="0"/>
          <dgm:chPref val="0"/>
          <dgm:bulletEnabled val="1"/>
        </dgm:presLayoutVars>
      </dgm:prSet>
      <dgm:spPr/>
    </dgm:pt>
  </dgm:ptLst>
  <dgm:cxnLst>
    <dgm:cxn modelId="{EB9EFF0A-22E4-BE4C-8574-A34B3333D380}" type="presOf" srcId="{600FC00F-AE3E-CD4B-8FA8-27191F18C52E}" destId="{34D2F516-D27F-934A-8273-6A130FE3224D}" srcOrd="0" destOrd="0" presId="urn:microsoft.com/office/officeart/2005/8/layout/venn1"/>
    <dgm:cxn modelId="{9F1A3A0E-BA91-4E42-9FC5-96813F6BFB8F}" type="presOf" srcId="{4CCB70B8-D264-1C49-948A-35A9DCCAC47E}" destId="{783D168C-A2FE-3E4C-A3BA-ED5C0C0D0CD2}" srcOrd="0" destOrd="0" presId="urn:microsoft.com/office/officeart/2005/8/layout/venn1"/>
    <dgm:cxn modelId="{A63A7816-FE3A-454C-A3B5-F502A7ED7DF9}" type="presOf" srcId="{4CCB70B8-D264-1C49-948A-35A9DCCAC47E}" destId="{44CF0FE6-7940-6F4D-8FC3-3CBEB88064FB}" srcOrd="1" destOrd="0" presId="urn:microsoft.com/office/officeart/2005/8/layout/venn1"/>
    <dgm:cxn modelId="{FAA3632B-2433-B247-A3A4-22EB3DA5FD54}" type="presOf" srcId="{CDC31C40-33E2-3847-8B33-9D6ADB4B3CA5}" destId="{8349AEB1-AF24-0043-B8F7-89534494ACD4}" srcOrd="0" destOrd="0" presId="urn:microsoft.com/office/officeart/2005/8/layout/venn1"/>
    <dgm:cxn modelId="{5EE58F39-972E-4E47-B08D-00CE5AE85B75}" srcId="{CDC31C40-33E2-3847-8B33-9D6ADB4B3CA5}" destId="{4CCB70B8-D264-1C49-948A-35A9DCCAC47E}" srcOrd="0" destOrd="0" parTransId="{790C3AEC-CBDF-7D4A-8886-D318D09E3619}" sibTransId="{574DD3CB-7116-854F-8003-179BCDEAA004}"/>
    <dgm:cxn modelId="{6FC5DE42-28E6-7340-BBEB-884B676C967B}" type="presOf" srcId="{E5EAE536-9908-AB40-8768-05E2A257A852}" destId="{51024BE4-F0A1-0D47-B103-9D9E9B016DC9}" srcOrd="1" destOrd="0" presId="urn:microsoft.com/office/officeart/2005/8/layout/venn1"/>
    <dgm:cxn modelId="{6E93AA63-B680-604A-8C0F-A85878CF981D}" type="presOf" srcId="{E5EAE536-9908-AB40-8768-05E2A257A852}" destId="{7EDAEE88-3D78-A242-A182-584E39A2C535}" srcOrd="0" destOrd="0" presId="urn:microsoft.com/office/officeart/2005/8/layout/venn1"/>
    <dgm:cxn modelId="{80375069-AAA4-4549-94CD-3122AED16942}" type="presOf" srcId="{600FC00F-AE3E-CD4B-8FA8-27191F18C52E}" destId="{9057FC0E-9053-9D4B-B5B1-559AAD368CA0}" srcOrd="1" destOrd="0" presId="urn:microsoft.com/office/officeart/2005/8/layout/venn1"/>
    <dgm:cxn modelId="{027E8A8B-7B62-274E-89D4-3F269C071EDF}" srcId="{CDC31C40-33E2-3847-8B33-9D6ADB4B3CA5}" destId="{E5EAE536-9908-AB40-8768-05E2A257A852}" srcOrd="2" destOrd="0" parTransId="{449B2303-7659-2948-95F3-CC1F0F524904}" sibTransId="{631E2E19-C18F-CD4D-AB7E-6F412202BD96}"/>
    <dgm:cxn modelId="{567DA9B8-F661-174C-9F0F-AF25F8F381FE}" srcId="{CDC31C40-33E2-3847-8B33-9D6ADB4B3CA5}" destId="{600FC00F-AE3E-CD4B-8FA8-27191F18C52E}" srcOrd="1" destOrd="0" parTransId="{1FE182FD-3862-6049-9E8B-48E50C4530D3}" sibTransId="{96FA5039-711F-F745-9732-1955454FFDE8}"/>
    <dgm:cxn modelId="{B4FAF871-CB96-2F48-B40B-2BB271E6F611}" type="presParOf" srcId="{8349AEB1-AF24-0043-B8F7-89534494ACD4}" destId="{783D168C-A2FE-3E4C-A3BA-ED5C0C0D0CD2}" srcOrd="0" destOrd="0" presId="urn:microsoft.com/office/officeart/2005/8/layout/venn1"/>
    <dgm:cxn modelId="{90D233D9-BB5E-7448-97E6-63C45BA35135}" type="presParOf" srcId="{8349AEB1-AF24-0043-B8F7-89534494ACD4}" destId="{44CF0FE6-7940-6F4D-8FC3-3CBEB88064FB}" srcOrd="1" destOrd="0" presId="urn:microsoft.com/office/officeart/2005/8/layout/venn1"/>
    <dgm:cxn modelId="{3E114FDE-36E8-D942-9557-1FFB10A7F3D4}" type="presParOf" srcId="{8349AEB1-AF24-0043-B8F7-89534494ACD4}" destId="{34D2F516-D27F-934A-8273-6A130FE3224D}" srcOrd="2" destOrd="0" presId="urn:microsoft.com/office/officeart/2005/8/layout/venn1"/>
    <dgm:cxn modelId="{A2382A21-3EDF-294D-A48C-164CAD8E5CE8}" type="presParOf" srcId="{8349AEB1-AF24-0043-B8F7-89534494ACD4}" destId="{9057FC0E-9053-9D4B-B5B1-559AAD368CA0}" srcOrd="3" destOrd="0" presId="urn:microsoft.com/office/officeart/2005/8/layout/venn1"/>
    <dgm:cxn modelId="{398C44E9-4332-C24C-9CF4-970A5FC5D8BC}" type="presParOf" srcId="{8349AEB1-AF24-0043-B8F7-89534494ACD4}" destId="{7EDAEE88-3D78-A242-A182-584E39A2C535}" srcOrd="4" destOrd="0" presId="urn:microsoft.com/office/officeart/2005/8/layout/venn1"/>
    <dgm:cxn modelId="{16E43F59-DFCD-034A-BB9E-BF970725E636}" type="presParOf" srcId="{8349AEB1-AF24-0043-B8F7-89534494ACD4}" destId="{51024BE4-F0A1-0D47-B103-9D9E9B016DC9}" srcOrd="5" destOrd="0" presId="urn:microsoft.com/office/officeart/2005/8/layout/ven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25D9CB-4F86-8445-B364-AFEE196C616A}" type="doc">
      <dgm:prSet loTypeId="urn:microsoft.com/office/officeart/2008/layout/HalfCircleOrganizationChart" loCatId="" qsTypeId="urn:microsoft.com/office/officeart/2005/8/quickstyle/simple1" qsCatId="simple" csTypeId="urn:microsoft.com/office/officeart/2005/8/colors/accent2_1" csCatId="accent2" phldr="1"/>
      <dgm:spPr/>
      <dgm:t>
        <a:bodyPr/>
        <a:lstStyle/>
        <a:p>
          <a:endParaRPr lang="en-US"/>
        </a:p>
      </dgm:t>
    </dgm:pt>
    <dgm:pt modelId="{6935F12B-D38F-094A-8D5C-5B26F9643625}">
      <dgm:prSet phldrT="[Text]" custT="1"/>
      <dgm:spPr/>
      <dgm:t>
        <a:bodyPr/>
        <a:lstStyle/>
        <a:p>
          <a:r>
            <a:rPr lang="en-US" sz="3200" dirty="0"/>
            <a:t>CSIP does not have a RTP protocol </a:t>
          </a:r>
        </a:p>
      </dgm:t>
    </dgm:pt>
    <dgm:pt modelId="{5F198566-F79E-7E4C-B3D1-98A4EEA88449}" type="parTrans" cxnId="{191FD49E-64C7-C44A-98E5-BFA3666BCADA}">
      <dgm:prSet/>
      <dgm:spPr/>
      <dgm:t>
        <a:bodyPr/>
        <a:lstStyle/>
        <a:p>
          <a:endParaRPr lang="en-US"/>
        </a:p>
      </dgm:t>
    </dgm:pt>
    <dgm:pt modelId="{15B0D810-80D0-8A4D-96D9-630E5BD82E7E}" type="sibTrans" cxnId="{191FD49E-64C7-C44A-98E5-BFA3666BCADA}">
      <dgm:prSet/>
      <dgm:spPr/>
      <dgm:t>
        <a:bodyPr/>
        <a:lstStyle/>
        <a:p>
          <a:endParaRPr lang="en-US"/>
        </a:p>
      </dgm:t>
    </dgm:pt>
    <dgm:pt modelId="{7C3A382A-A241-0941-8ED5-48CF9321C564}">
      <dgm:prSet phldrT="[Text]"/>
      <dgm:spPr/>
      <dgm:t>
        <a:bodyPr/>
        <a:lstStyle/>
        <a:p>
          <a:r>
            <a:rPr lang="en-US" dirty="0"/>
            <a:t>1. Disconnected Performance Data</a:t>
          </a:r>
        </a:p>
      </dgm:t>
    </dgm:pt>
    <dgm:pt modelId="{5B69D62E-8D14-0D4A-81C9-63B83D08E595}" type="parTrans" cxnId="{64C4357E-4B06-8F48-9145-BBF78345BF6B}">
      <dgm:prSet/>
      <dgm:spPr/>
      <dgm:t>
        <a:bodyPr/>
        <a:lstStyle/>
        <a:p>
          <a:endParaRPr lang="en-US"/>
        </a:p>
      </dgm:t>
    </dgm:pt>
    <dgm:pt modelId="{196E5C51-1DEA-934E-B8C6-209DE676F97E}" type="sibTrans" cxnId="{64C4357E-4B06-8F48-9145-BBF78345BF6B}">
      <dgm:prSet/>
      <dgm:spPr/>
      <dgm:t>
        <a:bodyPr/>
        <a:lstStyle/>
        <a:p>
          <a:endParaRPr lang="en-US"/>
        </a:p>
      </dgm:t>
    </dgm:pt>
    <dgm:pt modelId="{AF4E3339-89FC-DE41-A989-951684ED3B08}">
      <dgm:prSet phldrT="[Text]"/>
      <dgm:spPr/>
      <dgm:t>
        <a:bodyPr/>
        <a:lstStyle/>
        <a:p>
          <a:r>
            <a:rPr lang="en-US" dirty="0"/>
            <a:t>2. Inefficient Programming</a:t>
          </a:r>
        </a:p>
      </dgm:t>
    </dgm:pt>
    <dgm:pt modelId="{5759E8D4-1291-9946-B33E-B60F025FF5D9}" type="parTrans" cxnId="{1ED5E33A-B4DD-B941-8F19-014FC2E23C76}">
      <dgm:prSet/>
      <dgm:spPr/>
      <dgm:t>
        <a:bodyPr/>
        <a:lstStyle/>
        <a:p>
          <a:endParaRPr lang="en-US"/>
        </a:p>
      </dgm:t>
    </dgm:pt>
    <dgm:pt modelId="{9978B80D-91FA-8E40-AC10-48D5DAAA6274}" type="sibTrans" cxnId="{1ED5E33A-B4DD-B941-8F19-014FC2E23C76}">
      <dgm:prSet/>
      <dgm:spPr/>
      <dgm:t>
        <a:bodyPr/>
        <a:lstStyle/>
        <a:p>
          <a:endParaRPr lang="en-US"/>
        </a:p>
      </dgm:t>
    </dgm:pt>
    <dgm:pt modelId="{261B1C22-54F4-6347-B725-5EED615D7F23}">
      <dgm:prSet phldrT="[Text]"/>
      <dgm:spPr/>
      <dgm:t>
        <a:bodyPr/>
        <a:lstStyle/>
        <a:p>
          <a:r>
            <a:rPr lang="en-US" dirty="0"/>
            <a:t>3. Poor Communication and Collaboration</a:t>
          </a:r>
        </a:p>
      </dgm:t>
    </dgm:pt>
    <dgm:pt modelId="{22E8A833-C2C7-1843-A048-F4E12869B168}" type="parTrans" cxnId="{38165F73-E488-D045-B67D-1D2F6A57A6F2}">
      <dgm:prSet/>
      <dgm:spPr/>
      <dgm:t>
        <a:bodyPr/>
        <a:lstStyle/>
        <a:p>
          <a:endParaRPr lang="en-US"/>
        </a:p>
      </dgm:t>
    </dgm:pt>
    <dgm:pt modelId="{2ECDB626-724B-E54E-9432-8C38CCB5B396}" type="sibTrans" cxnId="{38165F73-E488-D045-B67D-1D2F6A57A6F2}">
      <dgm:prSet/>
      <dgm:spPr/>
      <dgm:t>
        <a:bodyPr/>
        <a:lstStyle/>
        <a:p>
          <a:endParaRPr lang="en-US"/>
        </a:p>
      </dgm:t>
    </dgm:pt>
    <dgm:pt modelId="{FAABAFCE-3504-3C48-93B7-F52065DEFCE0}">
      <dgm:prSet/>
      <dgm:spPr/>
      <dgm:t>
        <a:bodyPr/>
        <a:lstStyle/>
        <a:p>
          <a:r>
            <a:rPr lang="en-US" dirty="0"/>
            <a:t>4. Lost Innovation Opportunities</a:t>
          </a:r>
        </a:p>
      </dgm:t>
    </dgm:pt>
    <dgm:pt modelId="{2A992B27-AEA5-534F-A54A-863A1AE06019}" type="parTrans" cxnId="{CAE02FF7-2D86-C644-BD95-275651120574}">
      <dgm:prSet/>
      <dgm:spPr/>
      <dgm:t>
        <a:bodyPr/>
        <a:lstStyle/>
        <a:p>
          <a:endParaRPr lang="en-US"/>
        </a:p>
      </dgm:t>
    </dgm:pt>
    <dgm:pt modelId="{2A378D77-CB20-6046-8930-F17B669AD3AB}" type="sibTrans" cxnId="{CAE02FF7-2D86-C644-BD95-275651120574}">
      <dgm:prSet/>
      <dgm:spPr/>
      <dgm:t>
        <a:bodyPr/>
        <a:lstStyle/>
        <a:p>
          <a:endParaRPr lang="en-US"/>
        </a:p>
      </dgm:t>
    </dgm:pt>
    <dgm:pt modelId="{130DA10F-1AE9-AD42-B520-CE6F38B26021}" type="pres">
      <dgm:prSet presAssocID="{A625D9CB-4F86-8445-B364-AFEE196C616A}" presName="Name0" presStyleCnt="0">
        <dgm:presLayoutVars>
          <dgm:orgChart val="1"/>
          <dgm:chPref val="1"/>
          <dgm:dir/>
          <dgm:animOne val="branch"/>
          <dgm:animLvl val="lvl"/>
          <dgm:resizeHandles/>
        </dgm:presLayoutVars>
      </dgm:prSet>
      <dgm:spPr/>
    </dgm:pt>
    <dgm:pt modelId="{36554365-85F0-2541-AB2F-1BFCBB146E45}" type="pres">
      <dgm:prSet presAssocID="{6935F12B-D38F-094A-8D5C-5B26F9643625}" presName="hierRoot1" presStyleCnt="0">
        <dgm:presLayoutVars>
          <dgm:hierBranch val="init"/>
        </dgm:presLayoutVars>
      </dgm:prSet>
      <dgm:spPr/>
    </dgm:pt>
    <dgm:pt modelId="{A7AB8439-9ABB-BD4C-AEB5-E236BE3D5844}" type="pres">
      <dgm:prSet presAssocID="{6935F12B-D38F-094A-8D5C-5B26F9643625}" presName="rootComposite1" presStyleCnt="0"/>
      <dgm:spPr/>
    </dgm:pt>
    <dgm:pt modelId="{8FC99A7A-414C-824B-8925-908AC60C779A}" type="pres">
      <dgm:prSet presAssocID="{6935F12B-D38F-094A-8D5C-5B26F9643625}" presName="rootText1" presStyleLbl="alignAcc1" presStyleIdx="0" presStyleCnt="0" custScaleX="203874" custScaleY="227467">
        <dgm:presLayoutVars>
          <dgm:chPref val="3"/>
        </dgm:presLayoutVars>
      </dgm:prSet>
      <dgm:spPr/>
    </dgm:pt>
    <dgm:pt modelId="{42397D52-6448-B343-A4C5-09F904C9933A}" type="pres">
      <dgm:prSet presAssocID="{6935F12B-D38F-094A-8D5C-5B26F9643625}" presName="topArc1" presStyleLbl="parChTrans1D1" presStyleIdx="0" presStyleCnt="10"/>
      <dgm:spPr/>
    </dgm:pt>
    <dgm:pt modelId="{441A82F6-E6D6-0448-8D0B-A63B3B6918BF}" type="pres">
      <dgm:prSet presAssocID="{6935F12B-D38F-094A-8D5C-5B26F9643625}" presName="bottomArc1" presStyleLbl="parChTrans1D1" presStyleIdx="1" presStyleCnt="10"/>
      <dgm:spPr/>
    </dgm:pt>
    <dgm:pt modelId="{98B40A6F-2AE8-7D4C-9E48-75CF6FF623B2}" type="pres">
      <dgm:prSet presAssocID="{6935F12B-D38F-094A-8D5C-5B26F9643625}" presName="topConnNode1" presStyleLbl="node1" presStyleIdx="0" presStyleCnt="0"/>
      <dgm:spPr/>
    </dgm:pt>
    <dgm:pt modelId="{46B92979-2119-634C-867F-9994E4B807A1}" type="pres">
      <dgm:prSet presAssocID="{6935F12B-D38F-094A-8D5C-5B26F9643625}" presName="hierChild2" presStyleCnt="0"/>
      <dgm:spPr/>
    </dgm:pt>
    <dgm:pt modelId="{6F67079F-F72F-5340-9FF7-26B37D79A39C}" type="pres">
      <dgm:prSet presAssocID="{5B69D62E-8D14-0D4A-81C9-63B83D08E595}" presName="Name28" presStyleLbl="parChTrans1D2" presStyleIdx="0" presStyleCnt="4"/>
      <dgm:spPr/>
    </dgm:pt>
    <dgm:pt modelId="{39BE4E4F-1782-B34F-A81C-7B0C74D476A7}" type="pres">
      <dgm:prSet presAssocID="{7C3A382A-A241-0941-8ED5-48CF9321C564}" presName="hierRoot2" presStyleCnt="0">
        <dgm:presLayoutVars>
          <dgm:hierBranch val="init"/>
        </dgm:presLayoutVars>
      </dgm:prSet>
      <dgm:spPr/>
    </dgm:pt>
    <dgm:pt modelId="{1997EE5D-7CEF-5044-A6BB-54BAB67CE6B0}" type="pres">
      <dgm:prSet presAssocID="{7C3A382A-A241-0941-8ED5-48CF9321C564}" presName="rootComposite2" presStyleCnt="0"/>
      <dgm:spPr/>
    </dgm:pt>
    <dgm:pt modelId="{32593006-C3A1-A147-8343-B00CF6523CA6}" type="pres">
      <dgm:prSet presAssocID="{7C3A382A-A241-0941-8ED5-48CF9321C564}" presName="rootText2" presStyleLbl="alignAcc1" presStyleIdx="0" presStyleCnt="0">
        <dgm:presLayoutVars>
          <dgm:chPref val="3"/>
        </dgm:presLayoutVars>
      </dgm:prSet>
      <dgm:spPr/>
    </dgm:pt>
    <dgm:pt modelId="{D56721D1-6615-2043-8C08-AC448E0E3AE9}" type="pres">
      <dgm:prSet presAssocID="{7C3A382A-A241-0941-8ED5-48CF9321C564}" presName="topArc2" presStyleLbl="parChTrans1D1" presStyleIdx="2" presStyleCnt="10"/>
      <dgm:spPr/>
    </dgm:pt>
    <dgm:pt modelId="{03248519-61E6-BE42-A8CF-9C4B5A1544BE}" type="pres">
      <dgm:prSet presAssocID="{7C3A382A-A241-0941-8ED5-48CF9321C564}" presName="bottomArc2" presStyleLbl="parChTrans1D1" presStyleIdx="3" presStyleCnt="10"/>
      <dgm:spPr/>
    </dgm:pt>
    <dgm:pt modelId="{8477F0F2-B839-CB40-8CFA-532DF38FCEB4}" type="pres">
      <dgm:prSet presAssocID="{7C3A382A-A241-0941-8ED5-48CF9321C564}" presName="topConnNode2" presStyleLbl="node2" presStyleIdx="0" presStyleCnt="0"/>
      <dgm:spPr/>
    </dgm:pt>
    <dgm:pt modelId="{B73A83CB-ADED-984A-82BF-43D01310E1CC}" type="pres">
      <dgm:prSet presAssocID="{7C3A382A-A241-0941-8ED5-48CF9321C564}" presName="hierChild4" presStyleCnt="0"/>
      <dgm:spPr/>
    </dgm:pt>
    <dgm:pt modelId="{ABF3E2A1-B8FC-6F4C-B9CA-1631498FC109}" type="pres">
      <dgm:prSet presAssocID="{7C3A382A-A241-0941-8ED5-48CF9321C564}" presName="hierChild5" presStyleCnt="0"/>
      <dgm:spPr/>
    </dgm:pt>
    <dgm:pt modelId="{71E7BF29-2C92-894C-B4CE-3A254AC7DA7A}" type="pres">
      <dgm:prSet presAssocID="{5759E8D4-1291-9946-B33E-B60F025FF5D9}" presName="Name28" presStyleLbl="parChTrans1D2" presStyleIdx="1" presStyleCnt="4"/>
      <dgm:spPr/>
    </dgm:pt>
    <dgm:pt modelId="{496C320E-E6D7-0642-8B58-C8AF6C6421A0}" type="pres">
      <dgm:prSet presAssocID="{AF4E3339-89FC-DE41-A989-951684ED3B08}" presName="hierRoot2" presStyleCnt="0">
        <dgm:presLayoutVars>
          <dgm:hierBranch val="init"/>
        </dgm:presLayoutVars>
      </dgm:prSet>
      <dgm:spPr/>
    </dgm:pt>
    <dgm:pt modelId="{CC873F7D-B854-2246-9FD0-8690733F1B91}" type="pres">
      <dgm:prSet presAssocID="{AF4E3339-89FC-DE41-A989-951684ED3B08}" presName="rootComposite2" presStyleCnt="0"/>
      <dgm:spPr/>
    </dgm:pt>
    <dgm:pt modelId="{F911B048-91E4-A340-8E15-AB5F78A9EF92}" type="pres">
      <dgm:prSet presAssocID="{AF4E3339-89FC-DE41-A989-951684ED3B08}" presName="rootText2" presStyleLbl="alignAcc1" presStyleIdx="0" presStyleCnt="0">
        <dgm:presLayoutVars>
          <dgm:chPref val="3"/>
        </dgm:presLayoutVars>
      </dgm:prSet>
      <dgm:spPr/>
    </dgm:pt>
    <dgm:pt modelId="{FB21CD1F-C6F1-3246-892F-20254718F673}" type="pres">
      <dgm:prSet presAssocID="{AF4E3339-89FC-DE41-A989-951684ED3B08}" presName="topArc2" presStyleLbl="parChTrans1D1" presStyleIdx="4" presStyleCnt="10"/>
      <dgm:spPr/>
    </dgm:pt>
    <dgm:pt modelId="{16E4D9CD-5FA8-E44D-8B0C-9BF1F6D5D4B3}" type="pres">
      <dgm:prSet presAssocID="{AF4E3339-89FC-DE41-A989-951684ED3B08}" presName="bottomArc2" presStyleLbl="parChTrans1D1" presStyleIdx="5" presStyleCnt="10"/>
      <dgm:spPr/>
    </dgm:pt>
    <dgm:pt modelId="{AC5E5F08-6CCE-BC4C-86DC-A7A6309706B9}" type="pres">
      <dgm:prSet presAssocID="{AF4E3339-89FC-DE41-A989-951684ED3B08}" presName="topConnNode2" presStyleLbl="node2" presStyleIdx="0" presStyleCnt="0"/>
      <dgm:spPr/>
    </dgm:pt>
    <dgm:pt modelId="{16522FF5-345A-7C40-B708-DD7ACCCFE85E}" type="pres">
      <dgm:prSet presAssocID="{AF4E3339-89FC-DE41-A989-951684ED3B08}" presName="hierChild4" presStyleCnt="0"/>
      <dgm:spPr/>
    </dgm:pt>
    <dgm:pt modelId="{23E0299F-A505-694B-B1E9-3618A5375130}" type="pres">
      <dgm:prSet presAssocID="{AF4E3339-89FC-DE41-A989-951684ED3B08}" presName="hierChild5" presStyleCnt="0"/>
      <dgm:spPr/>
    </dgm:pt>
    <dgm:pt modelId="{511FE487-4272-4B47-99DD-AB1D7A221A80}" type="pres">
      <dgm:prSet presAssocID="{22E8A833-C2C7-1843-A048-F4E12869B168}" presName="Name28" presStyleLbl="parChTrans1D2" presStyleIdx="2" presStyleCnt="4"/>
      <dgm:spPr/>
    </dgm:pt>
    <dgm:pt modelId="{EF0E93D8-64F4-7441-A6A4-9CE1D7277659}" type="pres">
      <dgm:prSet presAssocID="{261B1C22-54F4-6347-B725-5EED615D7F23}" presName="hierRoot2" presStyleCnt="0">
        <dgm:presLayoutVars>
          <dgm:hierBranch val="init"/>
        </dgm:presLayoutVars>
      </dgm:prSet>
      <dgm:spPr/>
    </dgm:pt>
    <dgm:pt modelId="{3675BBD7-77AC-A445-A2B5-BD9D76C94A03}" type="pres">
      <dgm:prSet presAssocID="{261B1C22-54F4-6347-B725-5EED615D7F23}" presName="rootComposite2" presStyleCnt="0"/>
      <dgm:spPr/>
    </dgm:pt>
    <dgm:pt modelId="{3EC56F68-EA0C-7F4A-A860-BD184FB3D266}" type="pres">
      <dgm:prSet presAssocID="{261B1C22-54F4-6347-B725-5EED615D7F23}" presName="rootText2" presStyleLbl="alignAcc1" presStyleIdx="0" presStyleCnt="0" custScaleX="108048">
        <dgm:presLayoutVars>
          <dgm:chPref val="3"/>
        </dgm:presLayoutVars>
      </dgm:prSet>
      <dgm:spPr/>
    </dgm:pt>
    <dgm:pt modelId="{D34F9546-13AD-6043-97E9-0B5FCE63A186}" type="pres">
      <dgm:prSet presAssocID="{261B1C22-54F4-6347-B725-5EED615D7F23}" presName="topArc2" presStyleLbl="parChTrans1D1" presStyleIdx="6" presStyleCnt="10"/>
      <dgm:spPr/>
    </dgm:pt>
    <dgm:pt modelId="{6E5AA02E-1C15-AE44-894B-A07BB2D73088}" type="pres">
      <dgm:prSet presAssocID="{261B1C22-54F4-6347-B725-5EED615D7F23}" presName="bottomArc2" presStyleLbl="parChTrans1D1" presStyleIdx="7" presStyleCnt="10"/>
      <dgm:spPr/>
    </dgm:pt>
    <dgm:pt modelId="{09C6450D-F39D-9747-8100-C4E0CCF4A9B3}" type="pres">
      <dgm:prSet presAssocID="{261B1C22-54F4-6347-B725-5EED615D7F23}" presName="topConnNode2" presStyleLbl="node2" presStyleIdx="0" presStyleCnt="0"/>
      <dgm:spPr/>
    </dgm:pt>
    <dgm:pt modelId="{BBC714A8-8F09-8044-A084-88CC0244D65E}" type="pres">
      <dgm:prSet presAssocID="{261B1C22-54F4-6347-B725-5EED615D7F23}" presName="hierChild4" presStyleCnt="0"/>
      <dgm:spPr/>
    </dgm:pt>
    <dgm:pt modelId="{431410C9-4F80-4C44-AE64-0BCD23F74466}" type="pres">
      <dgm:prSet presAssocID="{261B1C22-54F4-6347-B725-5EED615D7F23}" presName="hierChild5" presStyleCnt="0"/>
      <dgm:spPr/>
    </dgm:pt>
    <dgm:pt modelId="{1E37BF73-B79F-CC45-BAAE-CCC44E53411E}" type="pres">
      <dgm:prSet presAssocID="{2A992B27-AEA5-534F-A54A-863A1AE06019}" presName="Name28" presStyleLbl="parChTrans1D2" presStyleIdx="3" presStyleCnt="4"/>
      <dgm:spPr/>
    </dgm:pt>
    <dgm:pt modelId="{B4F4AC9A-D11D-B04B-A88E-D6DF0C6808AF}" type="pres">
      <dgm:prSet presAssocID="{FAABAFCE-3504-3C48-93B7-F52065DEFCE0}" presName="hierRoot2" presStyleCnt="0">
        <dgm:presLayoutVars>
          <dgm:hierBranch val="init"/>
        </dgm:presLayoutVars>
      </dgm:prSet>
      <dgm:spPr/>
    </dgm:pt>
    <dgm:pt modelId="{B75EB908-EF0C-CD46-ACE4-0260D462CCC4}" type="pres">
      <dgm:prSet presAssocID="{FAABAFCE-3504-3C48-93B7-F52065DEFCE0}" presName="rootComposite2" presStyleCnt="0"/>
      <dgm:spPr/>
    </dgm:pt>
    <dgm:pt modelId="{B4C8BF21-1CF1-5943-9C2C-7EDD3B946F33}" type="pres">
      <dgm:prSet presAssocID="{FAABAFCE-3504-3C48-93B7-F52065DEFCE0}" presName="rootText2" presStyleLbl="alignAcc1" presStyleIdx="0" presStyleCnt="0">
        <dgm:presLayoutVars>
          <dgm:chPref val="3"/>
        </dgm:presLayoutVars>
      </dgm:prSet>
      <dgm:spPr/>
    </dgm:pt>
    <dgm:pt modelId="{E68B8FE4-DFD0-4F47-B962-737D3DD9F2CE}" type="pres">
      <dgm:prSet presAssocID="{FAABAFCE-3504-3C48-93B7-F52065DEFCE0}" presName="topArc2" presStyleLbl="parChTrans1D1" presStyleIdx="8" presStyleCnt="10"/>
      <dgm:spPr/>
    </dgm:pt>
    <dgm:pt modelId="{9D76DFF7-1BB9-1E4F-9E52-34B785000C3E}" type="pres">
      <dgm:prSet presAssocID="{FAABAFCE-3504-3C48-93B7-F52065DEFCE0}" presName="bottomArc2" presStyleLbl="parChTrans1D1" presStyleIdx="9" presStyleCnt="10"/>
      <dgm:spPr/>
    </dgm:pt>
    <dgm:pt modelId="{78070D06-1370-A940-A643-CDC001C63762}" type="pres">
      <dgm:prSet presAssocID="{FAABAFCE-3504-3C48-93B7-F52065DEFCE0}" presName="topConnNode2" presStyleLbl="node2" presStyleIdx="0" presStyleCnt="0"/>
      <dgm:spPr/>
    </dgm:pt>
    <dgm:pt modelId="{822B8844-1A31-B247-B4DA-96AA335D6EE5}" type="pres">
      <dgm:prSet presAssocID="{FAABAFCE-3504-3C48-93B7-F52065DEFCE0}" presName="hierChild4" presStyleCnt="0"/>
      <dgm:spPr/>
    </dgm:pt>
    <dgm:pt modelId="{A6972A71-54EA-CC4D-8D57-76252606CF44}" type="pres">
      <dgm:prSet presAssocID="{FAABAFCE-3504-3C48-93B7-F52065DEFCE0}" presName="hierChild5" presStyleCnt="0"/>
      <dgm:spPr/>
    </dgm:pt>
    <dgm:pt modelId="{1FA248B3-AE2F-1441-9FCC-6FC4A16B4C26}" type="pres">
      <dgm:prSet presAssocID="{6935F12B-D38F-094A-8D5C-5B26F9643625}" presName="hierChild3" presStyleCnt="0"/>
      <dgm:spPr/>
    </dgm:pt>
  </dgm:ptLst>
  <dgm:cxnLst>
    <dgm:cxn modelId="{EE57F90A-7316-F14F-9D1D-22AC7033D0AD}" type="presOf" srcId="{2A992B27-AEA5-534F-A54A-863A1AE06019}" destId="{1E37BF73-B79F-CC45-BAAE-CCC44E53411E}" srcOrd="0" destOrd="0" presId="urn:microsoft.com/office/officeart/2008/layout/HalfCircleOrganizationChart"/>
    <dgm:cxn modelId="{786CAE0C-B78F-E745-B65C-0D3499DEE5B4}" type="presOf" srcId="{A625D9CB-4F86-8445-B364-AFEE196C616A}" destId="{130DA10F-1AE9-AD42-B520-CE6F38B26021}" srcOrd="0" destOrd="0" presId="urn:microsoft.com/office/officeart/2008/layout/HalfCircleOrganizationChart"/>
    <dgm:cxn modelId="{DDC9A030-4633-EC46-B57F-27DC135E8412}" type="presOf" srcId="{6935F12B-D38F-094A-8D5C-5B26F9643625}" destId="{8FC99A7A-414C-824B-8925-908AC60C779A}" srcOrd="0" destOrd="0" presId="urn:microsoft.com/office/officeart/2008/layout/HalfCircleOrganizationChart"/>
    <dgm:cxn modelId="{0CDB7537-D36C-0F49-A2D1-B04AB263C2DA}" type="presOf" srcId="{AF4E3339-89FC-DE41-A989-951684ED3B08}" destId="{AC5E5F08-6CCE-BC4C-86DC-A7A6309706B9}" srcOrd="1" destOrd="0" presId="urn:microsoft.com/office/officeart/2008/layout/HalfCircleOrganizationChart"/>
    <dgm:cxn modelId="{1ED5E33A-B4DD-B941-8F19-014FC2E23C76}" srcId="{6935F12B-D38F-094A-8D5C-5B26F9643625}" destId="{AF4E3339-89FC-DE41-A989-951684ED3B08}" srcOrd="1" destOrd="0" parTransId="{5759E8D4-1291-9946-B33E-B60F025FF5D9}" sibTransId="{9978B80D-91FA-8E40-AC10-48D5DAAA6274}"/>
    <dgm:cxn modelId="{9E64C85B-0D01-E843-A904-D738A1C81C08}" type="presOf" srcId="{AF4E3339-89FC-DE41-A989-951684ED3B08}" destId="{F911B048-91E4-A340-8E15-AB5F78A9EF92}" srcOrd="0" destOrd="0" presId="urn:microsoft.com/office/officeart/2008/layout/HalfCircleOrganizationChart"/>
    <dgm:cxn modelId="{BFE7BC66-3E59-8A4C-92DB-2A46F0B63BC1}" type="presOf" srcId="{7C3A382A-A241-0941-8ED5-48CF9321C564}" destId="{8477F0F2-B839-CB40-8CFA-532DF38FCEB4}" srcOrd="1" destOrd="0" presId="urn:microsoft.com/office/officeart/2008/layout/HalfCircleOrganizationChart"/>
    <dgm:cxn modelId="{D9AD7D6F-81C7-AB41-BEA4-B5EEF1525E1D}" type="presOf" srcId="{261B1C22-54F4-6347-B725-5EED615D7F23}" destId="{09C6450D-F39D-9747-8100-C4E0CCF4A9B3}" srcOrd="1" destOrd="0" presId="urn:microsoft.com/office/officeart/2008/layout/HalfCircleOrganizationChart"/>
    <dgm:cxn modelId="{38165F73-E488-D045-B67D-1D2F6A57A6F2}" srcId="{6935F12B-D38F-094A-8D5C-5B26F9643625}" destId="{261B1C22-54F4-6347-B725-5EED615D7F23}" srcOrd="2" destOrd="0" parTransId="{22E8A833-C2C7-1843-A048-F4E12869B168}" sibTransId="{2ECDB626-724B-E54E-9432-8C38CCB5B396}"/>
    <dgm:cxn modelId="{9B662679-2FFE-C544-8F0C-EB73A0FD1291}" type="presOf" srcId="{22E8A833-C2C7-1843-A048-F4E12869B168}" destId="{511FE487-4272-4B47-99DD-AB1D7A221A80}" srcOrd="0" destOrd="0" presId="urn:microsoft.com/office/officeart/2008/layout/HalfCircleOrganizationChart"/>
    <dgm:cxn modelId="{64C4357E-4B06-8F48-9145-BBF78345BF6B}" srcId="{6935F12B-D38F-094A-8D5C-5B26F9643625}" destId="{7C3A382A-A241-0941-8ED5-48CF9321C564}" srcOrd="0" destOrd="0" parTransId="{5B69D62E-8D14-0D4A-81C9-63B83D08E595}" sibTransId="{196E5C51-1DEA-934E-B8C6-209DE676F97E}"/>
    <dgm:cxn modelId="{A781138A-B770-E64E-B185-30A5C55CB69C}" type="presOf" srcId="{7C3A382A-A241-0941-8ED5-48CF9321C564}" destId="{32593006-C3A1-A147-8343-B00CF6523CA6}" srcOrd="0" destOrd="0" presId="urn:microsoft.com/office/officeart/2008/layout/HalfCircleOrganizationChart"/>
    <dgm:cxn modelId="{F5C01098-C94B-F94E-9C0C-56243192697A}" type="presOf" srcId="{5759E8D4-1291-9946-B33E-B60F025FF5D9}" destId="{71E7BF29-2C92-894C-B4CE-3A254AC7DA7A}" srcOrd="0" destOrd="0" presId="urn:microsoft.com/office/officeart/2008/layout/HalfCircleOrganizationChart"/>
    <dgm:cxn modelId="{99BC979C-4FF4-3249-8036-91DC8B56A9A7}" type="presOf" srcId="{6935F12B-D38F-094A-8D5C-5B26F9643625}" destId="{98B40A6F-2AE8-7D4C-9E48-75CF6FF623B2}" srcOrd="1" destOrd="0" presId="urn:microsoft.com/office/officeart/2008/layout/HalfCircleOrganizationChart"/>
    <dgm:cxn modelId="{191FD49E-64C7-C44A-98E5-BFA3666BCADA}" srcId="{A625D9CB-4F86-8445-B364-AFEE196C616A}" destId="{6935F12B-D38F-094A-8D5C-5B26F9643625}" srcOrd="0" destOrd="0" parTransId="{5F198566-F79E-7E4C-B3D1-98A4EEA88449}" sibTransId="{15B0D810-80D0-8A4D-96D9-630E5BD82E7E}"/>
    <dgm:cxn modelId="{B79B08D3-D30C-6045-9295-5D1977473EB2}" type="presOf" srcId="{5B69D62E-8D14-0D4A-81C9-63B83D08E595}" destId="{6F67079F-F72F-5340-9FF7-26B37D79A39C}" srcOrd="0" destOrd="0" presId="urn:microsoft.com/office/officeart/2008/layout/HalfCircleOrganizationChart"/>
    <dgm:cxn modelId="{1E9948E3-75F8-0344-A83F-75205E4EB3BD}" type="presOf" srcId="{FAABAFCE-3504-3C48-93B7-F52065DEFCE0}" destId="{78070D06-1370-A940-A643-CDC001C63762}" srcOrd="1" destOrd="0" presId="urn:microsoft.com/office/officeart/2008/layout/HalfCircleOrganizationChart"/>
    <dgm:cxn modelId="{767CAEF1-570A-6F49-91DA-7A00D8E21D18}" type="presOf" srcId="{FAABAFCE-3504-3C48-93B7-F52065DEFCE0}" destId="{B4C8BF21-1CF1-5943-9C2C-7EDD3B946F33}" srcOrd="0" destOrd="0" presId="urn:microsoft.com/office/officeart/2008/layout/HalfCircleOrganizationChart"/>
    <dgm:cxn modelId="{CAE02FF7-2D86-C644-BD95-275651120574}" srcId="{6935F12B-D38F-094A-8D5C-5B26F9643625}" destId="{FAABAFCE-3504-3C48-93B7-F52065DEFCE0}" srcOrd="3" destOrd="0" parTransId="{2A992B27-AEA5-534F-A54A-863A1AE06019}" sibTransId="{2A378D77-CB20-6046-8930-F17B669AD3AB}"/>
    <dgm:cxn modelId="{08EDEFFC-9263-E742-A921-158E7DE9B732}" type="presOf" srcId="{261B1C22-54F4-6347-B725-5EED615D7F23}" destId="{3EC56F68-EA0C-7F4A-A860-BD184FB3D266}" srcOrd="0" destOrd="0" presId="urn:microsoft.com/office/officeart/2008/layout/HalfCircleOrganizationChart"/>
    <dgm:cxn modelId="{94530290-1861-9C4E-9B91-D6A7CE5E58A8}" type="presParOf" srcId="{130DA10F-1AE9-AD42-B520-CE6F38B26021}" destId="{36554365-85F0-2541-AB2F-1BFCBB146E45}" srcOrd="0" destOrd="0" presId="urn:microsoft.com/office/officeart/2008/layout/HalfCircleOrganizationChart"/>
    <dgm:cxn modelId="{1620C0EE-A319-3045-8331-0154642B5B4C}" type="presParOf" srcId="{36554365-85F0-2541-AB2F-1BFCBB146E45}" destId="{A7AB8439-9ABB-BD4C-AEB5-E236BE3D5844}" srcOrd="0" destOrd="0" presId="urn:microsoft.com/office/officeart/2008/layout/HalfCircleOrganizationChart"/>
    <dgm:cxn modelId="{7EE8DAD6-BB86-DE4A-8041-1409BDF9EC71}" type="presParOf" srcId="{A7AB8439-9ABB-BD4C-AEB5-E236BE3D5844}" destId="{8FC99A7A-414C-824B-8925-908AC60C779A}" srcOrd="0" destOrd="0" presId="urn:microsoft.com/office/officeart/2008/layout/HalfCircleOrganizationChart"/>
    <dgm:cxn modelId="{99B373BB-C125-4942-9BC9-B2E2CC81656B}" type="presParOf" srcId="{A7AB8439-9ABB-BD4C-AEB5-E236BE3D5844}" destId="{42397D52-6448-B343-A4C5-09F904C9933A}" srcOrd="1" destOrd="0" presId="urn:microsoft.com/office/officeart/2008/layout/HalfCircleOrganizationChart"/>
    <dgm:cxn modelId="{E0079FB5-1A82-3D4E-84C2-B472E760B346}" type="presParOf" srcId="{A7AB8439-9ABB-BD4C-AEB5-E236BE3D5844}" destId="{441A82F6-E6D6-0448-8D0B-A63B3B6918BF}" srcOrd="2" destOrd="0" presId="urn:microsoft.com/office/officeart/2008/layout/HalfCircleOrganizationChart"/>
    <dgm:cxn modelId="{43207BCD-3E37-AC4C-9596-0FC8446EC197}" type="presParOf" srcId="{A7AB8439-9ABB-BD4C-AEB5-E236BE3D5844}" destId="{98B40A6F-2AE8-7D4C-9E48-75CF6FF623B2}" srcOrd="3" destOrd="0" presId="urn:microsoft.com/office/officeart/2008/layout/HalfCircleOrganizationChart"/>
    <dgm:cxn modelId="{FF84405C-AA56-6F4E-926B-9FB68BB591F9}" type="presParOf" srcId="{36554365-85F0-2541-AB2F-1BFCBB146E45}" destId="{46B92979-2119-634C-867F-9994E4B807A1}" srcOrd="1" destOrd="0" presId="urn:microsoft.com/office/officeart/2008/layout/HalfCircleOrganizationChart"/>
    <dgm:cxn modelId="{38E6A7AD-A144-F547-B095-AB6F65A20904}" type="presParOf" srcId="{46B92979-2119-634C-867F-9994E4B807A1}" destId="{6F67079F-F72F-5340-9FF7-26B37D79A39C}" srcOrd="0" destOrd="0" presId="urn:microsoft.com/office/officeart/2008/layout/HalfCircleOrganizationChart"/>
    <dgm:cxn modelId="{01C8B07E-F8C9-CE4A-B3D1-F4E5F99FBF73}" type="presParOf" srcId="{46B92979-2119-634C-867F-9994E4B807A1}" destId="{39BE4E4F-1782-B34F-A81C-7B0C74D476A7}" srcOrd="1" destOrd="0" presId="urn:microsoft.com/office/officeart/2008/layout/HalfCircleOrganizationChart"/>
    <dgm:cxn modelId="{CBD10048-2652-CF49-B925-DFE4B1350908}" type="presParOf" srcId="{39BE4E4F-1782-B34F-A81C-7B0C74D476A7}" destId="{1997EE5D-7CEF-5044-A6BB-54BAB67CE6B0}" srcOrd="0" destOrd="0" presId="urn:microsoft.com/office/officeart/2008/layout/HalfCircleOrganizationChart"/>
    <dgm:cxn modelId="{018EBA79-0F01-8D46-8123-CA12CDCFB6E3}" type="presParOf" srcId="{1997EE5D-7CEF-5044-A6BB-54BAB67CE6B0}" destId="{32593006-C3A1-A147-8343-B00CF6523CA6}" srcOrd="0" destOrd="0" presId="urn:microsoft.com/office/officeart/2008/layout/HalfCircleOrganizationChart"/>
    <dgm:cxn modelId="{28DB5C8C-6C89-6E44-88B3-3BBBD8B617E5}" type="presParOf" srcId="{1997EE5D-7CEF-5044-A6BB-54BAB67CE6B0}" destId="{D56721D1-6615-2043-8C08-AC448E0E3AE9}" srcOrd="1" destOrd="0" presId="urn:microsoft.com/office/officeart/2008/layout/HalfCircleOrganizationChart"/>
    <dgm:cxn modelId="{78EC674E-7221-C546-A0F7-BDC878C07B14}" type="presParOf" srcId="{1997EE5D-7CEF-5044-A6BB-54BAB67CE6B0}" destId="{03248519-61E6-BE42-A8CF-9C4B5A1544BE}" srcOrd="2" destOrd="0" presId="urn:microsoft.com/office/officeart/2008/layout/HalfCircleOrganizationChart"/>
    <dgm:cxn modelId="{0CA0310F-7154-684B-AF71-E8EA4BD0211A}" type="presParOf" srcId="{1997EE5D-7CEF-5044-A6BB-54BAB67CE6B0}" destId="{8477F0F2-B839-CB40-8CFA-532DF38FCEB4}" srcOrd="3" destOrd="0" presId="urn:microsoft.com/office/officeart/2008/layout/HalfCircleOrganizationChart"/>
    <dgm:cxn modelId="{84A0646A-E928-F745-B753-2238E9B114C5}" type="presParOf" srcId="{39BE4E4F-1782-B34F-A81C-7B0C74D476A7}" destId="{B73A83CB-ADED-984A-82BF-43D01310E1CC}" srcOrd="1" destOrd="0" presId="urn:microsoft.com/office/officeart/2008/layout/HalfCircleOrganizationChart"/>
    <dgm:cxn modelId="{DA3C8A60-09B3-BC4E-94BC-55D1618DAF08}" type="presParOf" srcId="{39BE4E4F-1782-B34F-A81C-7B0C74D476A7}" destId="{ABF3E2A1-B8FC-6F4C-B9CA-1631498FC109}" srcOrd="2" destOrd="0" presId="urn:microsoft.com/office/officeart/2008/layout/HalfCircleOrganizationChart"/>
    <dgm:cxn modelId="{5004221A-536A-9B4C-904A-B6E1128BC2D7}" type="presParOf" srcId="{46B92979-2119-634C-867F-9994E4B807A1}" destId="{71E7BF29-2C92-894C-B4CE-3A254AC7DA7A}" srcOrd="2" destOrd="0" presId="urn:microsoft.com/office/officeart/2008/layout/HalfCircleOrganizationChart"/>
    <dgm:cxn modelId="{86885996-5B5D-DA48-9C6B-8097BC1FE8CC}" type="presParOf" srcId="{46B92979-2119-634C-867F-9994E4B807A1}" destId="{496C320E-E6D7-0642-8B58-C8AF6C6421A0}" srcOrd="3" destOrd="0" presId="urn:microsoft.com/office/officeart/2008/layout/HalfCircleOrganizationChart"/>
    <dgm:cxn modelId="{5902DB50-1256-5C4D-A096-317C80511655}" type="presParOf" srcId="{496C320E-E6D7-0642-8B58-C8AF6C6421A0}" destId="{CC873F7D-B854-2246-9FD0-8690733F1B91}" srcOrd="0" destOrd="0" presId="urn:microsoft.com/office/officeart/2008/layout/HalfCircleOrganizationChart"/>
    <dgm:cxn modelId="{589B2D71-E747-0845-91E1-CF5B05186FC0}" type="presParOf" srcId="{CC873F7D-B854-2246-9FD0-8690733F1B91}" destId="{F911B048-91E4-A340-8E15-AB5F78A9EF92}" srcOrd="0" destOrd="0" presId="urn:microsoft.com/office/officeart/2008/layout/HalfCircleOrganizationChart"/>
    <dgm:cxn modelId="{8DBCB432-2D0B-7347-BF87-E5791A4EFAA0}" type="presParOf" srcId="{CC873F7D-B854-2246-9FD0-8690733F1B91}" destId="{FB21CD1F-C6F1-3246-892F-20254718F673}" srcOrd="1" destOrd="0" presId="urn:microsoft.com/office/officeart/2008/layout/HalfCircleOrganizationChart"/>
    <dgm:cxn modelId="{48F55F44-9092-0449-B246-150EACADF99D}" type="presParOf" srcId="{CC873F7D-B854-2246-9FD0-8690733F1B91}" destId="{16E4D9CD-5FA8-E44D-8B0C-9BF1F6D5D4B3}" srcOrd="2" destOrd="0" presId="urn:microsoft.com/office/officeart/2008/layout/HalfCircleOrganizationChart"/>
    <dgm:cxn modelId="{794EF36E-D483-2B4D-B0E8-96EFDD9FF799}" type="presParOf" srcId="{CC873F7D-B854-2246-9FD0-8690733F1B91}" destId="{AC5E5F08-6CCE-BC4C-86DC-A7A6309706B9}" srcOrd="3" destOrd="0" presId="urn:microsoft.com/office/officeart/2008/layout/HalfCircleOrganizationChart"/>
    <dgm:cxn modelId="{038AC4BC-8B25-C44D-8709-B54753467610}" type="presParOf" srcId="{496C320E-E6D7-0642-8B58-C8AF6C6421A0}" destId="{16522FF5-345A-7C40-B708-DD7ACCCFE85E}" srcOrd="1" destOrd="0" presId="urn:microsoft.com/office/officeart/2008/layout/HalfCircleOrganizationChart"/>
    <dgm:cxn modelId="{66BCCD1F-1217-7A46-8FE5-457CFD37FB59}" type="presParOf" srcId="{496C320E-E6D7-0642-8B58-C8AF6C6421A0}" destId="{23E0299F-A505-694B-B1E9-3618A5375130}" srcOrd="2" destOrd="0" presId="urn:microsoft.com/office/officeart/2008/layout/HalfCircleOrganizationChart"/>
    <dgm:cxn modelId="{86280B36-264D-3247-8935-AEFDBD4B4ED8}" type="presParOf" srcId="{46B92979-2119-634C-867F-9994E4B807A1}" destId="{511FE487-4272-4B47-99DD-AB1D7A221A80}" srcOrd="4" destOrd="0" presId="urn:microsoft.com/office/officeart/2008/layout/HalfCircleOrganizationChart"/>
    <dgm:cxn modelId="{176A43C8-1DF5-7040-AE7F-4A97EA0CE777}" type="presParOf" srcId="{46B92979-2119-634C-867F-9994E4B807A1}" destId="{EF0E93D8-64F4-7441-A6A4-9CE1D7277659}" srcOrd="5" destOrd="0" presId="urn:microsoft.com/office/officeart/2008/layout/HalfCircleOrganizationChart"/>
    <dgm:cxn modelId="{23832FA7-09BD-1545-BFE7-4A51684E131F}" type="presParOf" srcId="{EF0E93D8-64F4-7441-A6A4-9CE1D7277659}" destId="{3675BBD7-77AC-A445-A2B5-BD9D76C94A03}" srcOrd="0" destOrd="0" presId="urn:microsoft.com/office/officeart/2008/layout/HalfCircleOrganizationChart"/>
    <dgm:cxn modelId="{ADA2E815-35D5-7540-8223-B6EB346E560F}" type="presParOf" srcId="{3675BBD7-77AC-A445-A2B5-BD9D76C94A03}" destId="{3EC56F68-EA0C-7F4A-A860-BD184FB3D266}" srcOrd="0" destOrd="0" presId="urn:microsoft.com/office/officeart/2008/layout/HalfCircleOrganizationChart"/>
    <dgm:cxn modelId="{7E058978-D9ED-1A4F-B461-CD9B528C55C1}" type="presParOf" srcId="{3675BBD7-77AC-A445-A2B5-BD9D76C94A03}" destId="{D34F9546-13AD-6043-97E9-0B5FCE63A186}" srcOrd="1" destOrd="0" presId="urn:microsoft.com/office/officeart/2008/layout/HalfCircleOrganizationChart"/>
    <dgm:cxn modelId="{00D64707-AC7E-AF43-A97C-1667EF85D081}" type="presParOf" srcId="{3675BBD7-77AC-A445-A2B5-BD9D76C94A03}" destId="{6E5AA02E-1C15-AE44-894B-A07BB2D73088}" srcOrd="2" destOrd="0" presId="urn:microsoft.com/office/officeart/2008/layout/HalfCircleOrganizationChart"/>
    <dgm:cxn modelId="{278658AE-F43F-8044-8E36-E2932D88150A}" type="presParOf" srcId="{3675BBD7-77AC-A445-A2B5-BD9D76C94A03}" destId="{09C6450D-F39D-9747-8100-C4E0CCF4A9B3}" srcOrd="3" destOrd="0" presId="urn:microsoft.com/office/officeart/2008/layout/HalfCircleOrganizationChart"/>
    <dgm:cxn modelId="{EF06A8C9-BDDE-5B49-958E-F321C46359C7}" type="presParOf" srcId="{EF0E93D8-64F4-7441-A6A4-9CE1D7277659}" destId="{BBC714A8-8F09-8044-A084-88CC0244D65E}" srcOrd="1" destOrd="0" presId="urn:microsoft.com/office/officeart/2008/layout/HalfCircleOrganizationChart"/>
    <dgm:cxn modelId="{F1D609C4-0BF8-054E-B015-DE7E4FE4C6B9}" type="presParOf" srcId="{EF0E93D8-64F4-7441-A6A4-9CE1D7277659}" destId="{431410C9-4F80-4C44-AE64-0BCD23F74466}" srcOrd="2" destOrd="0" presId="urn:microsoft.com/office/officeart/2008/layout/HalfCircleOrganizationChart"/>
    <dgm:cxn modelId="{373D1FCF-2C38-1E49-ADB6-6F6DB69F6571}" type="presParOf" srcId="{46B92979-2119-634C-867F-9994E4B807A1}" destId="{1E37BF73-B79F-CC45-BAAE-CCC44E53411E}" srcOrd="6" destOrd="0" presId="urn:microsoft.com/office/officeart/2008/layout/HalfCircleOrganizationChart"/>
    <dgm:cxn modelId="{4B01F307-20F6-4940-82A5-C2671769F3E3}" type="presParOf" srcId="{46B92979-2119-634C-867F-9994E4B807A1}" destId="{B4F4AC9A-D11D-B04B-A88E-D6DF0C6808AF}" srcOrd="7" destOrd="0" presId="urn:microsoft.com/office/officeart/2008/layout/HalfCircleOrganizationChart"/>
    <dgm:cxn modelId="{A924FF6D-A1D8-6F4A-A688-D1360B7732CD}" type="presParOf" srcId="{B4F4AC9A-D11D-B04B-A88E-D6DF0C6808AF}" destId="{B75EB908-EF0C-CD46-ACE4-0260D462CCC4}" srcOrd="0" destOrd="0" presId="urn:microsoft.com/office/officeart/2008/layout/HalfCircleOrganizationChart"/>
    <dgm:cxn modelId="{EAEF8881-3E05-C144-9C6F-28C7B6D4B513}" type="presParOf" srcId="{B75EB908-EF0C-CD46-ACE4-0260D462CCC4}" destId="{B4C8BF21-1CF1-5943-9C2C-7EDD3B946F33}" srcOrd="0" destOrd="0" presId="urn:microsoft.com/office/officeart/2008/layout/HalfCircleOrganizationChart"/>
    <dgm:cxn modelId="{CA96AA71-C511-F944-B902-A2F67C10D4E5}" type="presParOf" srcId="{B75EB908-EF0C-CD46-ACE4-0260D462CCC4}" destId="{E68B8FE4-DFD0-4F47-B962-737D3DD9F2CE}" srcOrd="1" destOrd="0" presId="urn:microsoft.com/office/officeart/2008/layout/HalfCircleOrganizationChart"/>
    <dgm:cxn modelId="{1504918A-CD0B-F244-8ED3-6D456D5C9CD4}" type="presParOf" srcId="{B75EB908-EF0C-CD46-ACE4-0260D462CCC4}" destId="{9D76DFF7-1BB9-1E4F-9E52-34B785000C3E}" srcOrd="2" destOrd="0" presId="urn:microsoft.com/office/officeart/2008/layout/HalfCircleOrganizationChart"/>
    <dgm:cxn modelId="{BEB62F32-E034-1F41-9018-17EFFA0EB5F2}" type="presParOf" srcId="{B75EB908-EF0C-CD46-ACE4-0260D462CCC4}" destId="{78070D06-1370-A940-A643-CDC001C63762}" srcOrd="3" destOrd="0" presId="urn:microsoft.com/office/officeart/2008/layout/HalfCircleOrganizationChart"/>
    <dgm:cxn modelId="{88CAB485-00DC-C540-98C3-3DF35B89495F}" type="presParOf" srcId="{B4F4AC9A-D11D-B04B-A88E-D6DF0C6808AF}" destId="{822B8844-1A31-B247-B4DA-96AA335D6EE5}" srcOrd="1" destOrd="0" presId="urn:microsoft.com/office/officeart/2008/layout/HalfCircleOrganizationChart"/>
    <dgm:cxn modelId="{04D776D9-53E7-534B-9EEE-E7554EEA6973}" type="presParOf" srcId="{B4F4AC9A-D11D-B04B-A88E-D6DF0C6808AF}" destId="{A6972A71-54EA-CC4D-8D57-76252606CF44}" srcOrd="2" destOrd="0" presId="urn:microsoft.com/office/officeart/2008/layout/HalfCircleOrganizationChart"/>
    <dgm:cxn modelId="{5BE61530-1930-6647-9FD0-63C1896F5193}" type="presParOf" srcId="{36554365-85F0-2541-AB2F-1BFCBB146E45}" destId="{1FA248B3-AE2F-1441-9FCC-6FC4A16B4C26}" srcOrd="2" destOrd="0" presId="urn:microsoft.com/office/officeart/2008/layout/HalfCircle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25D9CB-4F86-8445-B364-AFEE196C616A}" type="doc">
      <dgm:prSet loTypeId="urn:microsoft.com/office/officeart/2008/layout/HalfCircleOrganizationChart" loCatId="" qsTypeId="urn:microsoft.com/office/officeart/2005/8/quickstyle/simple1" qsCatId="simple" csTypeId="urn:microsoft.com/office/officeart/2005/8/colors/accent2_1" csCatId="accent2" phldr="1"/>
      <dgm:spPr/>
      <dgm:t>
        <a:bodyPr/>
        <a:lstStyle/>
        <a:p>
          <a:endParaRPr lang="en-US"/>
        </a:p>
      </dgm:t>
    </dgm:pt>
    <dgm:pt modelId="{6935F12B-D38F-094A-8D5C-5B26F9643625}">
      <dgm:prSet phldrT="[Text]" custT="1"/>
      <dgm:spPr/>
      <dgm:t>
        <a:bodyPr/>
        <a:lstStyle/>
        <a:p>
          <a:r>
            <a:rPr lang="en-US" sz="3200" dirty="0"/>
            <a:t>Able-bodied NSO Partner Athletes</a:t>
          </a:r>
        </a:p>
      </dgm:t>
    </dgm:pt>
    <dgm:pt modelId="{5F198566-F79E-7E4C-B3D1-98A4EEA88449}" type="parTrans" cxnId="{191FD49E-64C7-C44A-98E5-BFA3666BCADA}">
      <dgm:prSet/>
      <dgm:spPr/>
      <dgm:t>
        <a:bodyPr/>
        <a:lstStyle/>
        <a:p>
          <a:endParaRPr lang="en-US"/>
        </a:p>
      </dgm:t>
    </dgm:pt>
    <dgm:pt modelId="{15B0D810-80D0-8A4D-96D9-630E5BD82E7E}" type="sibTrans" cxnId="{191FD49E-64C7-C44A-98E5-BFA3666BCADA}">
      <dgm:prSet/>
      <dgm:spPr/>
      <dgm:t>
        <a:bodyPr/>
        <a:lstStyle/>
        <a:p>
          <a:endParaRPr lang="en-US"/>
        </a:p>
      </dgm:t>
    </dgm:pt>
    <dgm:pt modelId="{7C3A382A-A241-0941-8ED5-48CF9321C564}">
      <dgm:prSet phldrT="[Text]"/>
      <dgm:spPr/>
      <dgm:t>
        <a:bodyPr/>
        <a:lstStyle/>
        <a:p>
          <a:r>
            <a:rPr lang="en-US" dirty="0"/>
            <a:t>Para-Athletes</a:t>
          </a:r>
        </a:p>
      </dgm:t>
    </dgm:pt>
    <dgm:pt modelId="{5B69D62E-8D14-0D4A-81C9-63B83D08E595}" type="parTrans" cxnId="{64C4357E-4B06-8F48-9145-BBF78345BF6B}">
      <dgm:prSet/>
      <dgm:spPr/>
      <dgm:t>
        <a:bodyPr/>
        <a:lstStyle/>
        <a:p>
          <a:endParaRPr lang="en-US"/>
        </a:p>
      </dgm:t>
    </dgm:pt>
    <dgm:pt modelId="{196E5C51-1DEA-934E-B8C6-209DE676F97E}" type="sibTrans" cxnId="{64C4357E-4B06-8F48-9145-BBF78345BF6B}">
      <dgm:prSet/>
      <dgm:spPr/>
      <dgm:t>
        <a:bodyPr/>
        <a:lstStyle/>
        <a:p>
          <a:endParaRPr lang="en-US"/>
        </a:p>
      </dgm:t>
    </dgm:pt>
    <dgm:pt modelId="{AF4E3339-89FC-DE41-A989-951684ED3B08}">
      <dgm:prSet phldrT="[Text]"/>
      <dgm:spPr/>
      <dgm:t>
        <a:bodyPr/>
        <a:lstStyle/>
        <a:p>
          <a:r>
            <a:rPr lang="en-US" dirty="0"/>
            <a:t>Next Gen</a:t>
          </a:r>
        </a:p>
      </dgm:t>
    </dgm:pt>
    <dgm:pt modelId="{5759E8D4-1291-9946-B33E-B60F025FF5D9}" type="parTrans" cxnId="{1ED5E33A-B4DD-B941-8F19-014FC2E23C76}">
      <dgm:prSet/>
      <dgm:spPr/>
      <dgm:t>
        <a:bodyPr/>
        <a:lstStyle/>
        <a:p>
          <a:endParaRPr lang="en-US"/>
        </a:p>
      </dgm:t>
    </dgm:pt>
    <dgm:pt modelId="{9978B80D-91FA-8E40-AC10-48D5DAAA6274}" type="sibTrans" cxnId="{1ED5E33A-B4DD-B941-8F19-014FC2E23C76}">
      <dgm:prSet/>
      <dgm:spPr/>
      <dgm:t>
        <a:bodyPr/>
        <a:lstStyle/>
        <a:p>
          <a:endParaRPr lang="en-US"/>
        </a:p>
      </dgm:t>
    </dgm:pt>
    <dgm:pt modelId="{261B1C22-54F4-6347-B725-5EED615D7F23}">
      <dgm:prSet phldrT="[Text]"/>
      <dgm:spPr/>
      <dgm:t>
        <a:bodyPr/>
        <a:lstStyle/>
        <a:p>
          <a:r>
            <a:rPr lang="en-US" dirty="0"/>
            <a:t>PSO</a:t>
          </a:r>
        </a:p>
      </dgm:t>
    </dgm:pt>
    <dgm:pt modelId="{22E8A833-C2C7-1843-A048-F4E12869B168}" type="parTrans" cxnId="{38165F73-E488-D045-B67D-1D2F6A57A6F2}">
      <dgm:prSet/>
      <dgm:spPr/>
      <dgm:t>
        <a:bodyPr/>
        <a:lstStyle/>
        <a:p>
          <a:endParaRPr lang="en-US"/>
        </a:p>
      </dgm:t>
    </dgm:pt>
    <dgm:pt modelId="{2ECDB626-724B-E54E-9432-8C38CCB5B396}" type="sibTrans" cxnId="{38165F73-E488-D045-B67D-1D2F6A57A6F2}">
      <dgm:prSet/>
      <dgm:spPr/>
      <dgm:t>
        <a:bodyPr/>
        <a:lstStyle/>
        <a:p>
          <a:endParaRPr lang="en-US"/>
        </a:p>
      </dgm:t>
    </dgm:pt>
    <dgm:pt modelId="{7EC4B001-94AB-E145-958C-60D3EBF4A298}">
      <dgm:prSet/>
      <dgm:spPr/>
      <dgm:t>
        <a:bodyPr/>
        <a:lstStyle/>
        <a:p>
          <a:r>
            <a:rPr lang="en-US" b="1" dirty="0"/>
            <a:t>Local PN</a:t>
          </a:r>
        </a:p>
      </dgm:t>
    </dgm:pt>
    <dgm:pt modelId="{0C336DCC-5435-B641-8790-43A7D1CDE33C}" type="parTrans" cxnId="{4F08DC70-22C4-5B49-9BD7-252E2F4F4908}">
      <dgm:prSet/>
      <dgm:spPr/>
      <dgm:t>
        <a:bodyPr/>
        <a:lstStyle/>
        <a:p>
          <a:endParaRPr lang="en-US"/>
        </a:p>
      </dgm:t>
    </dgm:pt>
    <dgm:pt modelId="{9483EA52-C8AD-314C-98A8-E7938DC50F83}" type="sibTrans" cxnId="{4F08DC70-22C4-5B49-9BD7-252E2F4F4908}">
      <dgm:prSet/>
      <dgm:spPr/>
      <dgm:t>
        <a:bodyPr/>
        <a:lstStyle/>
        <a:p>
          <a:endParaRPr lang="en-US"/>
        </a:p>
      </dgm:t>
    </dgm:pt>
    <dgm:pt modelId="{26AD61DC-A7B2-C848-97AE-1250583D5A61}">
      <dgm:prSet/>
      <dgm:spPr/>
      <dgm:t>
        <a:bodyPr/>
        <a:lstStyle/>
        <a:p>
          <a:r>
            <a:rPr lang="en-US" b="1" dirty="0"/>
            <a:t>Non-Partner NSO</a:t>
          </a:r>
        </a:p>
      </dgm:t>
    </dgm:pt>
    <dgm:pt modelId="{8ECAEC54-E832-DE48-8877-0BB6AD2EE4A8}" type="parTrans" cxnId="{D265C0B7-3511-E047-BBFF-FCF0A4C6630A}">
      <dgm:prSet/>
      <dgm:spPr/>
      <dgm:t>
        <a:bodyPr/>
        <a:lstStyle/>
        <a:p>
          <a:endParaRPr lang="en-US"/>
        </a:p>
      </dgm:t>
    </dgm:pt>
    <dgm:pt modelId="{CAC8F471-1045-B940-9463-B3660B2CCDB8}" type="sibTrans" cxnId="{D265C0B7-3511-E047-BBFF-FCF0A4C6630A}">
      <dgm:prSet/>
      <dgm:spPr/>
      <dgm:t>
        <a:bodyPr/>
        <a:lstStyle/>
        <a:p>
          <a:endParaRPr lang="en-US"/>
        </a:p>
      </dgm:t>
    </dgm:pt>
    <dgm:pt modelId="{29286914-BE71-7844-BAB7-2615B92DC804}">
      <dgm:prSet/>
      <dgm:spPr/>
      <dgm:t>
        <a:bodyPr/>
        <a:lstStyle/>
        <a:p>
          <a:r>
            <a:rPr lang="en-US" b="1" dirty="0"/>
            <a:t>Remote PN</a:t>
          </a:r>
        </a:p>
      </dgm:t>
    </dgm:pt>
    <dgm:pt modelId="{4C81C78F-BB43-274D-B398-1971C05E2EC8}" type="parTrans" cxnId="{004529AA-AAAB-594D-8FD2-1229C6F6FEC7}">
      <dgm:prSet/>
      <dgm:spPr/>
      <dgm:t>
        <a:bodyPr/>
        <a:lstStyle/>
        <a:p>
          <a:endParaRPr lang="en-US"/>
        </a:p>
      </dgm:t>
    </dgm:pt>
    <dgm:pt modelId="{69A3E15E-D0CD-9545-BD98-1224999418A6}" type="sibTrans" cxnId="{004529AA-AAAB-594D-8FD2-1229C6F6FEC7}">
      <dgm:prSet/>
      <dgm:spPr/>
      <dgm:t>
        <a:bodyPr/>
        <a:lstStyle/>
        <a:p>
          <a:endParaRPr lang="en-US"/>
        </a:p>
      </dgm:t>
    </dgm:pt>
    <dgm:pt modelId="{130DA10F-1AE9-AD42-B520-CE6F38B26021}" type="pres">
      <dgm:prSet presAssocID="{A625D9CB-4F86-8445-B364-AFEE196C616A}" presName="Name0" presStyleCnt="0">
        <dgm:presLayoutVars>
          <dgm:orgChart val="1"/>
          <dgm:chPref val="1"/>
          <dgm:dir/>
          <dgm:animOne val="branch"/>
          <dgm:animLvl val="lvl"/>
          <dgm:resizeHandles/>
        </dgm:presLayoutVars>
      </dgm:prSet>
      <dgm:spPr/>
    </dgm:pt>
    <dgm:pt modelId="{36554365-85F0-2541-AB2F-1BFCBB146E45}" type="pres">
      <dgm:prSet presAssocID="{6935F12B-D38F-094A-8D5C-5B26F9643625}" presName="hierRoot1" presStyleCnt="0">
        <dgm:presLayoutVars>
          <dgm:hierBranch val="init"/>
        </dgm:presLayoutVars>
      </dgm:prSet>
      <dgm:spPr/>
    </dgm:pt>
    <dgm:pt modelId="{A7AB8439-9ABB-BD4C-AEB5-E236BE3D5844}" type="pres">
      <dgm:prSet presAssocID="{6935F12B-D38F-094A-8D5C-5B26F9643625}" presName="rootComposite1" presStyleCnt="0"/>
      <dgm:spPr/>
    </dgm:pt>
    <dgm:pt modelId="{8FC99A7A-414C-824B-8925-908AC60C779A}" type="pres">
      <dgm:prSet presAssocID="{6935F12B-D38F-094A-8D5C-5B26F9643625}" presName="rootText1" presStyleLbl="alignAcc1" presStyleIdx="0" presStyleCnt="0" custScaleX="203874" custScaleY="227467">
        <dgm:presLayoutVars>
          <dgm:chPref val="3"/>
        </dgm:presLayoutVars>
      </dgm:prSet>
      <dgm:spPr/>
    </dgm:pt>
    <dgm:pt modelId="{42397D52-6448-B343-A4C5-09F904C9933A}" type="pres">
      <dgm:prSet presAssocID="{6935F12B-D38F-094A-8D5C-5B26F9643625}" presName="topArc1" presStyleLbl="parChTrans1D1" presStyleIdx="0" presStyleCnt="14"/>
      <dgm:spPr/>
    </dgm:pt>
    <dgm:pt modelId="{441A82F6-E6D6-0448-8D0B-A63B3B6918BF}" type="pres">
      <dgm:prSet presAssocID="{6935F12B-D38F-094A-8D5C-5B26F9643625}" presName="bottomArc1" presStyleLbl="parChTrans1D1" presStyleIdx="1" presStyleCnt="14"/>
      <dgm:spPr/>
    </dgm:pt>
    <dgm:pt modelId="{98B40A6F-2AE8-7D4C-9E48-75CF6FF623B2}" type="pres">
      <dgm:prSet presAssocID="{6935F12B-D38F-094A-8D5C-5B26F9643625}" presName="topConnNode1" presStyleLbl="node1" presStyleIdx="0" presStyleCnt="0"/>
      <dgm:spPr/>
    </dgm:pt>
    <dgm:pt modelId="{46B92979-2119-634C-867F-9994E4B807A1}" type="pres">
      <dgm:prSet presAssocID="{6935F12B-D38F-094A-8D5C-5B26F9643625}" presName="hierChild2" presStyleCnt="0"/>
      <dgm:spPr/>
    </dgm:pt>
    <dgm:pt modelId="{6F67079F-F72F-5340-9FF7-26B37D79A39C}" type="pres">
      <dgm:prSet presAssocID="{5B69D62E-8D14-0D4A-81C9-63B83D08E595}" presName="Name28" presStyleLbl="parChTrans1D2" presStyleIdx="0" presStyleCnt="6"/>
      <dgm:spPr/>
    </dgm:pt>
    <dgm:pt modelId="{39BE4E4F-1782-B34F-A81C-7B0C74D476A7}" type="pres">
      <dgm:prSet presAssocID="{7C3A382A-A241-0941-8ED5-48CF9321C564}" presName="hierRoot2" presStyleCnt="0">
        <dgm:presLayoutVars>
          <dgm:hierBranch val="init"/>
        </dgm:presLayoutVars>
      </dgm:prSet>
      <dgm:spPr/>
    </dgm:pt>
    <dgm:pt modelId="{1997EE5D-7CEF-5044-A6BB-54BAB67CE6B0}" type="pres">
      <dgm:prSet presAssocID="{7C3A382A-A241-0941-8ED5-48CF9321C564}" presName="rootComposite2" presStyleCnt="0"/>
      <dgm:spPr/>
    </dgm:pt>
    <dgm:pt modelId="{32593006-C3A1-A147-8343-B00CF6523CA6}" type="pres">
      <dgm:prSet presAssocID="{7C3A382A-A241-0941-8ED5-48CF9321C564}" presName="rootText2" presStyleLbl="alignAcc1" presStyleIdx="0" presStyleCnt="0">
        <dgm:presLayoutVars>
          <dgm:chPref val="3"/>
        </dgm:presLayoutVars>
      </dgm:prSet>
      <dgm:spPr/>
    </dgm:pt>
    <dgm:pt modelId="{D56721D1-6615-2043-8C08-AC448E0E3AE9}" type="pres">
      <dgm:prSet presAssocID="{7C3A382A-A241-0941-8ED5-48CF9321C564}" presName="topArc2" presStyleLbl="parChTrans1D1" presStyleIdx="2" presStyleCnt="14"/>
      <dgm:spPr/>
    </dgm:pt>
    <dgm:pt modelId="{03248519-61E6-BE42-A8CF-9C4B5A1544BE}" type="pres">
      <dgm:prSet presAssocID="{7C3A382A-A241-0941-8ED5-48CF9321C564}" presName="bottomArc2" presStyleLbl="parChTrans1D1" presStyleIdx="3" presStyleCnt="14"/>
      <dgm:spPr/>
    </dgm:pt>
    <dgm:pt modelId="{8477F0F2-B839-CB40-8CFA-532DF38FCEB4}" type="pres">
      <dgm:prSet presAssocID="{7C3A382A-A241-0941-8ED5-48CF9321C564}" presName="topConnNode2" presStyleLbl="node2" presStyleIdx="0" presStyleCnt="0"/>
      <dgm:spPr/>
    </dgm:pt>
    <dgm:pt modelId="{B73A83CB-ADED-984A-82BF-43D01310E1CC}" type="pres">
      <dgm:prSet presAssocID="{7C3A382A-A241-0941-8ED5-48CF9321C564}" presName="hierChild4" presStyleCnt="0"/>
      <dgm:spPr/>
    </dgm:pt>
    <dgm:pt modelId="{ABF3E2A1-B8FC-6F4C-B9CA-1631498FC109}" type="pres">
      <dgm:prSet presAssocID="{7C3A382A-A241-0941-8ED5-48CF9321C564}" presName="hierChild5" presStyleCnt="0"/>
      <dgm:spPr/>
    </dgm:pt>
    <dgm:pt modelId="{71E7BF29-2C92-894C-B4CE-3A254AC7DA7A}" type="pres">
      <dgm:prSet presAssocID="{5759E8D4-1291-9946-B33E-B60F025FF5D9}" presName="Name28" presStyleLbl="parChTrans1D2" presStyleIdx="1" presStyleCnt="6"/>
      <dgm:spPr/>
    </dgm:pt>
    <dgm:pt modelId="{496C320E-E6D7-0642-8B58-C8AF6C6421A0}" type="pres">
      <dgm:prSet presAssocID="{AF4E3339-89FC-DE41-A989-951684ED3B08}" presName="hierRoot2" presStyleCnt="0">
        <dgm:presLayoutVars>
          <dgm:hierBranch val="init"/>
        </dgm:presLayoutVars>
      </dgm:prSet>
      <dgm:spPr/>
    </dgm:pt>
    <dgm:pt modelId="{CC873F7D-B854-2246-9FD0-8690733F1B91}" type="pres">
      <dgm:prSet presAssocID="{AF4E3339-89FC-DE41-A989-951684ED3B08}" presName="rootComposite2" presStyleCnt="0"/>
      <dgm:spPr/>
    </dgm:pt>
    <dgm:pt modelId="{F911B048-91E4-A340-8E15-AB5F78A9EF92}" type="pres">
      <dgm:prSet presAssocID="{AF4E3339-89FC-DE41-A989-951684ED3B08}" presName="rootText2" presStyleLbl="alignAcc1" presStyleIdx="0" presStyleCnt="0">
        <dgm:presLayoutVars>
          <dgm:chPref val="3"/>
        </dgm:presLayoutVars>
      </dgm:prSet>
      <dgm:spPr/>
    </dgm:pt>
    <dgm:pt modelId="{FB21CD1F-C6F1-3246-892F-20254718F673}" type="pres">
      <dgm:prSet presAssocID="{AF4E3339-89FC-DE41-A989-951684ED3B08}" presName="topArc2" presStyleLbl="parChTrans1D1" presStyleIdx="4" presStyleCnt="14"/>
      <dgm:spPr/>
    </dgm:pt>
    <dgm:pt modelId="{16E4D9CD-5FA8-E44D-8B0C-9BF1F6D5D4B3}" type="pres">
      <dgm:prSet presAssocID="{AF4E3339-89FC-DE41-A989-951684ED3B08}" presName="bottomArc2" presStyleLbl="parChTrans1D1" presStyleIdx="5" presStyleCnt="14"/>
      <dgm:spPr/>
    </dgm:pt>
    <dgm:pt modelId="{AC5E5F08-6CCE-BC4C-86DC-A7A6309706B9}" type="pres">
      <dgm:prSet presAssocID="{AF4E3339-89FC-DE41-A989-951684ED3B08}" presName="topConnNode2" presStyleLbl="node2" presStyleIdx="0" presStyleCnt="0"/>
      <dgm:spPr/>
    </dgm:pt>
    <dgm:pt modelId="{16522FF5-345A-7C40-B708-DD7ACCCFE85E}" type="pres">
      <dgm:prSet presAssocID="{AF4E3339-89FC-DE41-A989-951684ED3B08}" presName="hierChild4" presStyleCnt="0"/>
      <dgm:spPr/>
    </dgm:pt>
    <dgm:pt modelId="{23E0299F-A505-694B-B1E9-3618A5375130}" type="pres">
      <dgm:prSet presAssocID="{AF4E3339-89FC-DE41-A989-951684ED3B08}" presName="hierChild5" presStyleCnt="0"/>
      <dgm:spPr/>
    </dgm:pt>
    <dgm:pt modelId="{511FE487-4272-4B47-99DD-AB1D7A221A80}" type="pres">
      <dgm:prSet presAssocID="{22E8A833-C2C7-1843-A048-F4E12869B168}" presName="Name28" presStyleLbl="parChTrans1D2" presStyleIdx="2" presStyleCnt="6"/>
      <dgm:spPr/>
    </dgm:pt>
    <dgm:pt modelId="{EF0E93D8-64F4-7441-A6A4-9CE1D7277659}" type="pres">
      <dgm:prSet presAssocID="{261B1C22-54F4-6347-B725-5EED615D7F23}" presName="hierRoot2" presStyleCnt="0">
        <dgm:presLayoutVars>
          <dgm:hierBranch val="init"/>
        </dgm:presLayoutVars>
      </dgm:prSet>
      <dgm:spPr/>
    </dgm:pt>
    <dgm:pt modelId="{3675BBD7-77AC-A445-A2B5-BD9D76C94A03}" type="pres">
      <dgm:prSet presAssocID="{261B1C22-54F4-6347-B725-5EED615D7F23}" presName="rootComposite2" presStyleCnt="0"/>
      <dgm:spPr/>
    </dgm:pt>
    <dgm:pt modelId="{3EC56F68-EA0C-7F4A-A860-BD184FB3D266}" type="pres">
      <dgm:prSet presAssocID="{261B1C22-54F4-6347-B725-5EED615D7F23}" presName="rootText2" presStyleLbl="alignAcc1" presStyleIdx="0" presStyleCnt="0">
        <dgm:presLayoutVars>
          <dgm:chPref val="3"/>
        </dgm:presLayoutVars>
      </dgm:prSet>
      <dgm:spPr/>
    </dgm:pt>
    <dgm:pt modelId="{D34F9546-13AD-6043-97E9-0B5FCE63A186}" type="pres">
      <dgm:prSet presAssocID="{261B1C22-54F4-6347-B725-5EED615D7F23}" presName="topArc2" presStyleLbl="parChTrans1D1" presStyleIdx="6" presStyleCnt="14"/>
      <dgm:spPr/>
    </dgm:pt>
    <dgm:pt modelId="{6E5AA02E-1C15-AE44-894B-A07BB2D73088}" type="pres">
      <dgm:prSet presAssocID="{261B1C22-54F4-6347-B725-5EED615D7F23}" presName="bottomArc2" presStyleLbl="parChTrans1D1" presStyleIdx="7" presStyleCnt="14"/>
      <dgm:spPr/>
    </dgm:pt>
    <dgm:pt modelId="{09C6450D-F39D-9747-8100-C4E0CCF4A9B3}" type="pres">
      <dgm:prSet presAssocID="{261B1C22-54F4-6347-B725-5EED615D7F23}" presName="topConnNode2" presStyleLbl="node2" presStyleIdx="0" presStyleCnt="0"/>
      <dgm:spPr/>
    </dgm:pt>
    <dgm:pt modelId="{BBC714A8-8F09-8044-A084-88CC0244D65E}" type="pres">
      <dgm:prSet presAssocID="{261B1C22-54F4-6347-B725-5EED615D7F23}" presName="hierChild4" presStyleCnt="0"/>
      <dgm:spPr/>
    </dgm:pt>
    <dgm:pt modelId="{431410C9-4F80-4C44-AE64-0BCD23F74466}" type="pres">
      <dgm:prSet presAssocID="{261B1C22-54F4-6347-B725-5EED615D7F23}" presName="hierChild5" presStyleCnt="0"/>
      <dgm:spPr/>
    </dgm:pt>
    <dgm:pt modelId="{C70C9118-8125-7249-955F-8381C06A17C3}" type="pres">
      <dgm:prSet presAssocID="{8ECAEC54-E832-DE48-8877-0BB6AD2EE4A8}" presName="Name28" presStyleLbl="parChTrans1D2" presStyleIdx="3" presStyleCnt="6"/>
      <dgm:spPr/>
    </dgm:pt>
    <dgm:pt modelId="{1573A21B-5B97-1540-B50D-4AD2F6E7543D}" type="pres">
      <dgm:prSet presAssocID="{26AD61DC-A7B2-C848-97AE-1250583D5A61}" presName="hierRoot2" presStyleCnt="0">
        <dgm:presLayoutVars>
          <dgm:hierBranch val="init"/>
        </dgm:presLayoutVars>
      </dgm:prSet>
      <dgm:spPr/>
    </dgm:pt>
    <dgm:pt modelId="{28C975E2-DC76-8B45-AAD6-671615A58DFA}" type="pres">
      <dgm:prSet presAssocID="{26AD61DC-A7B2-C848-97AE-1250583D5A61}" presName="rootComposite2" presStyleCnt="0"/>
      <dgm:spPr/>
    </dgm:pt>
    <dgm:pt modelId="{C4A5AD3E-BE7D-E44B-9EA8-6EF1CE0A235E}" type="pres">
      <dgm:prSet presAssocID="{26AD61DC-A7B2-C848-97AE-1250583D5A61}" presName="rootText2" presStyleLbl="alignAcc1" presStyleIdx="0" presStyleCnt="0">
        <dgm:presLayoutVars>
          <dgm:chPref val="3"/>
        </dgm:presLayoutVars>
      </dgm:prSet>
      <dgm:spPr/>
    </dgm:pt>
    <dgm:pt modelId="{77F8F5B2-B2EA-8843-8EFE-DB75E2D4A37A}" type="pres">
      <dgm:prSet presAssocID="{26AD61DC-A7B2-C848-97AE-1250583D5A61}" presName="topArc2" presStyleLbl="parChTrans1D1" presStyleIdx="8" presStyleCnt="14"/>
      <dgm:spPr/>
    </dgm:pt>
    <dgm:pt modelId="{57B7DC74-4C6D-6A4D-8DEC-0E0F7FA5C72A}" type="pres">
      <dgm:prSet presAssocID="{26AD61DC-A7B2-C848-97AE-1250583D5A61}" presName="bottomArc2" presStyleLbl="parChTrans1D1" presStyleIdx="9" presStyleCnt="14"/>
      <dgm:spPr/>
    </dgm:pt>
    <dgm:pt modelId="{9C041398-5508-E045-9E45-7AD8285E28C5}" type="pres">
      <dgm:prSet presAssocID="{26AD61DC-A7B2-C848-97AE-1250583D5A61}" presName="topConnNode2" presStyleLbl="node2" presStyleIdx="0" presStyleCnt="0"/>
      <dgm:spPr/>
    </dgm:pt>
    <dgm:pt modelId="{D0E60B81-A823-F04E-A64E-9CC504C35F6A}" type="pres">
      <dgm:prSet presAssocID="{26AD61DC-A7B2-C848-97AE-1250583D5A61}" presName="hierChild4" presStyleCnt="0"/>
      <dgm:spPr/>
    </dgm:pt>
    <dgm:pt modelId="{742CF710-3755-C441-B507-81103C826D55}" type="pres">
      <dgm:prSet presAssocID="{26AD61DC-A7B2-C848-97AE-1250583D5A61}" presName="hierChild5" presStyleCnt="0"/>
      <dgm:spPr/>
    </dgm:pt>
    <dgm:pt modelId="{51DCB7DD-6FD6-D04C-8693-174F6681C7DF}" type="pres">
      <dgm:prSet presAssocID="{0C336DCC-5435-B641-8790-43A7D1CDE33C}" presName="Name28" presStyleLbl="parChTrans1D2" presStyleIdx="4" presStyleCnt="6"/>
      <dgm:spPr/>
    </dgm:pt>
    <dgm:pt modelId="{935F7345-A120-7540-A527-CA5596AB92AD}" type="pres">
      <dgm:prSet presAssocID="{7EC4B001-94AB-E145-958C-60D3EBF4A298}" presName="hierRoot2" presStyleCnt="0">
        <dgm:presLayoutVars>
          <dgm:hierBranch val="init"/>
        </dgm:presLayoutVars>
      </dgm:prSet>
      <dgm:spPr/>
    </dgm:pt>
    <dgm:pt modelId="{D8D12995-612D-474D-8285-B3C8B1DCCB05}" type="pres">
      <dgm:prSet presAssocID="{7EC4B001-94AB-E145-958C-60D3EBF4A298}" presName="rootComposite2" presStyleCnt="0"/>
      <dgm:spPr/>
    </dgm:pt>
    <dgm:pt modelId="{AEA11098-AB74-DD44-9BC8-C12FE7E19932}" type="pres">
      <dgm:prSet presAssocID="{7EC4B001-94AB-E145-958C-60D3EBF4A298}" presName="rootText2" presStyleLbl="alignAcc1" presStyleIdx="0" presStyleCnt="0">
        <dgm:presLayoutVars>
          <dgm:chPref val="3"/>
        </dgm:presLayoutVars>
      </dgm:prSet>
      <dgm:spPr/>
    </dgm:pt>
    <dgm:pt modelId="{6C037CF5-C344-E047-8AEC-9002DB6454E8}" type="pres">
      <dgm:prSet presAssocID="{7EC4B001-94AB-E145-958C-60D3EBF4A298}" presName="topArc2" presStyleLbl="parChTrans1D1" presStyleIdx="10" presStyleCnt="14"/>
      <dgm:spPr/>
    </dgm:pt>
    <dgm:pt modelId="{0FE746CF-4893-B14F-9FFA-2976ED272CFF}" type="pres">
      <dgm:prSet presAssocID="{7EC4B001-94AB-E145-958C-60D3EBF4A298}" presName="bottomArc2" presStyleLbl="parChTrans1D1" presStyleIdx="11" presStyleCnt="14"/>
      <dgm:spPr/>
    </dgm:pt>
    <dgm:pt modelId="{71FB0AB1-B4E6-874D-8680-0E017551FF7C}" type="pres">
      <dgm:prSet presAssocID="{7EC4B001-94AB-E145-958C-60D3EBF4A298}" presName="topConnNode2" presStyleLbl="node2" presStyleIdx="0" presStyleCnt="0"/>
      <dgm:spPr/>
    </dgm:pt>
    <dgm:pt modelId="{F6688E56-8238-1940-9AF2-80F136FD27FF}" type="pres">
      <dgm:prSet presAssocID="{7EC4B001-94AB-E145-958C-60D3EBF4A298}" presName="hierChild4" presStyleCnt="0"/>
      <dgm:spPr/>
    </dgm:pt>
    <dgm:pt modelId="{96CB29F8-651D-E84A-9D76-9067DCB6EC40}" type="pres">
      <dgm:prSet presAssocID="{7EC4B001-94AB-E145-958C-60D3EBF4A298}" presName="hierChild5" presStyleCnt="0"/>
      <dgm:spPr/>
    </dgm:pt>
    <dgm:pt modelId="{746B8CD3-B473-9D4A-8FAB-A6490995B61A}" type="pres">
      <dgm:prSet presAssocID="{4C81C78F-BB43-274D-B398-1971C05E2EC8}" presName="Name28" presStyleLbl="parChTrans1D2" presStyleIdx="5" presStyleCnt="6"/>
      <dgm:spPr/>
    </dgm:pt>
    <dgm:pt modelId="{A6CA821C-7DC0-404D-9D00-55DCA3AF4B0D}" type="pres">
      <dgm:prSet presAssocID="{29286914-BE71-7844-BAB7-2615B92DC804}" presName="hierRoot2" presStyleCnt="0">
        <dgm:presLayoutVars>
          <dgm:hierBranch val="init"/>
        </dgm:presLayoutVars>
      </dgm:prSet>
      <dgm:spPr/>
    </dgm:pt>
    <dgm:pt modelId="{1840AC9D-47B7-9042-8E72-6D1D8BE284F9}" type="pres">
      <dgm:prSet presAssocID="{29286914-BE71-7844-BAB7-2615B92DC804}" presName="rootComposite2" presStyleCnt="0"/>
      <dgm:spPr/>
    </dgm:pt>
    <dgm:pt modelId="{47FFB85A-10F4-5645-8C8A-DA5FB261C757}" type="pres">
      <dgm:prSet presAssocID="{29286914-BE71-7844-BAB7-2615B92DC804}" presName="rootText2" presStyleLbl="alignAcc1" presStyleIdx="0" presStyleCnt="0">
        <dgm:presLayoutVars>
          <dgm:chPref val="3"/>
        </dgm:presLayoutVars>
      </dgm:prSet>
      <dgm:spPr/>
    </dgm:pt>
    <dgm:pt modelId="{543ACCC3-B17C-5C41-A11B-20EDE22AF4E4}" type="pres">
      <dgm:prSet presAssocID="{29286914-BE71-7844-BAB7-2615B92DC804}" presName="topArc2" presStyleLbl="parChTrans1D1" presStyleIdx="12" presStyleCnt="14"/>
      <dgm:spPr/>
    </dgm:pt>
    <dgm:pt modelId="{76823D61-91F8-E24E-A6BF-F97FFBA5BEE8}" type="pres">
      <dgm:prSet presAssocID="{29286914-BE71-7844-BAB7-2615B92DC804}" presName="bottomArc2" presStyleLbl="parChTrans1D1" presStyleIdx="13" presStyleCnt="14"/>
      <dgm:spPr/>
    </dgm:pt>
    <dgm:pt modelId="{BED5B620-F0D8-0D4E-A128-8F3C2C3009D6}" type="pres">
      <dgm:prSet presAssocID="{29286914-BE71-7844-BAB7-2615B92DC804}" presName="topConnNode2" presStyleLbl="node2" presStyleIdx="0" presStyleCnt="0"/>
      <dgm:spPr/>
    </dgm:pt>
    <dgm:pt modelId="{168F4B6F-2973-F74C-92B8-A592C973439D}" type="pres">
      <dgm:prSet presAssocID="{29286914-BE71-7844-BAB7-2615B92DC804}" presName="hierChild4" presStyleCnt="0"/>
      <dgm:spPr/>
    </dgm:pt>
    <dgm:pt modelId="{B58E83DF-456C-D44C-93F3-8B8689D95818}" type="pres">
      <dgm:prSet presAssocID="{29286914-BE71-7844-BAB7-2615B92DC804}" presName="hierChild5" presStyleCnt="0"/>
      <dgm:spPr/>
    </dgm:pt>
    <dgm:pt modelId="{1FA248B3-AE2F-1441-9FCC-6FC4A16B4C26}" type="pres">
      <dgm:prSet presAssocID="{6935F12B-D38F-094A-8D5C-5B26F9643625}" presName="hierChild3" presStyleCnt="0"/>
      <dgm:spPr/>
    </dgm:pt>
  </dgm:ptLst>
  <dgm:cxnLst>
    <dgm:cxn modelId="{9B0F5F05-EEAC-8844-A8CE-ADBF2FA67D26}" type="presOf" srcId="{26AD61DC-A7B2-C848-97AE-1250583D5A61}" destId="{C4A5AD3E-BE7D-E44B-9EA8-6EF1CE0A235E}" srcOrd="0" destOrd="0" presId="urn:microsoft.com/office/officeart/2008/layout/HalfCircleOrganizationChart"/>
    <dgm:cxn modelId="{276C0C07-9B46-1C45-98AB-41D2D492B6F1}" type="presOf" srcId="{7C3A382A-A241-0941-8ED5-48CF9321C564}" destId="{8477F0F2-B839-CB40-8CFA-532DF38FCEB4}" srcOrd="1" destOrd="0" presId="urn:microsoft.com/office/officeart/2008/layout/HalfCircleOrganizationChart"/>
    <dgm:cxn modelId="{786CAE0C-B78F-E745-B65C-0D3499DEE5B4}" type="presOf" srcId="{A625D9CB-4F86-8445-B364-AFEE196C616A}" destId="{130DA10F-1AE9-AD42-B520-CE6F38B26021}" srcOrd="0" destOrd="0" presId="urn:microsoft.com/office/officeart/2008/layout/HalfCircleOrganizationChart"/>
    <dgm:cxn modelId="{30027510-25A7-2F46-8795-67BC72CB5220}" type="presOf" srcId="{5759E8D4-1291-9946-B33E-B60F025FF5D9}" destId="{71E7BF29-2C92-894C-B4CE-3A254AC7DA7A}" srcOrd="0" destOrd="0" presId="urn:microsoft.com/office/officeart/2008/layout/HalfCircleOrganizationChart"/>
    <dgm:cxn modelId="{F7503235-140B-A64E-9465-69EF4F1832C9}" type="presOf" srcId="{26AD61DC-A7B2-C848-97AE-1250583D5A61}" destId="{9C041398-5508-E045-9E45-7AD8285E28C5}" srcOrd="1" destOrd="0" presId="urn:microsoft.com/office/officeart/2008/layout/HalfCircleOrganizationChart"/>
    <dgm:cxn modelId="{9AA17737-EC8B-D74D-8233-0CED7AAACDE5}" type="presOf" srcId="{261B1C22-54F4-6347-B725-5EED615D7F23}" destId="{3EC56F68-EA0C-7F4A-A860-BD184FB3D266}" srcOrd="0" destOrd="0" presId="urn:microsoft.com/office/officeart/2008/layout/HalfCircleOrganizationChart"/>
    <dgm:cxn modelId="{1ED5E33A-B4DD-B941-8F19-014FC2E23C76}" srcId="{6935F12B-D38F-094A-8D5C-5B26F9643625}" destId="{AF4E3339-89FC-DE41-A989-951684ED3B08}" srcOrd="1" destOrd="0" parTransId="{5759E8D4-1291-9946-B33E-B60F025FF5D9}" sibTransId="{9978B80D-91FA-8E40-AC10-48D5DAAA6274}"/>
    <dgm:cxn modelId="{B23A1D4F-432B-6D4D-8237-0ABFA047C9DC}" type="presOf" srcId="{6935F12B-D38F-094A-8D5C-5B26F9643625}" destId="{8FC99A7A-414C-824B-8925-908AC60C779A}" srcOrd="0" destOrd="0" presId="urn:microsoft.com/office/officeart/2008/layout/HalfCircleOrganizationChart"/>
    <dgm:cxn modelId="{CABFFA55-6856-3749-99FD-5B2E7FD1241A}" type="presOf" srcId="{4C81C78F-BB43-274D-B398-1971C05E2EC8}" destId="{746B8CD3-B473-9D4A-8FAB-A6490995B61A}" srcOrd="0" destOrd="0" presId="urn:microsoft.com/office/officeart/2008/layout/HalfCircleOrganizationChart"/>
    <dgm:cxn modelId="{1CFB0362-15CB-B44C-8643-5A2D121E97B3}" type="presOf" srcId="{0C336DCC-5435-B641-8790-43A7D1CDE33C}" destId="{51DCB7DD-6FD6-D04C-8693-174F6681C7DF}" srcOrd="0" destOrd="0" presId="urn:microsoft.com/office/officeart/2008/layout/HalfCircleOrganizationChart"/>
    <dgm:cxn modelId="{27702964-46DE-7444-92FE-80152816A275}" type="presOf" srcId="{29286914-BE71-7844-BAB7-2615B92DC804}" destId="{47FFB85A-10F4-5645-8C8A-DA5FB261C757}" srcOrd="0" destOrd="0" presId="urn:microsoft.com/office/officeart/2008/layout/HalfCircleOrganizationChart"/>
    <dgm:cxn modelId="{27D89566-B361-6A45-B90E-220E84EB257D}" type="presOf" srcId="{29286914-BE71-7844-BAB7-2615B92DC804}" destId="{BED5B620-F0D8-0D4E-A128-8F3C2C3009D6}" srcOrd="1" destOrd="0" presId="urn:microsoft.com/office/officeart/2008/layout/HalfCircleOrganizationChart"/>
    <dgm:cxn modelId="{1129CD67-016B-E044-B567-98083E1ECF12}" type="presOf" srcId="{7EC4B001-94AB-E145-958C-60D3EBF4A298}" destId="{71FB0AB1-B4E6-874D-8680-0E017551FF7C}" srcOrd="1" destOrd="0" presId="urn:microsoft.com/office/officeart/2008/layout/HalfCircleOrganizationChart"/>
    <dgm:cxn modelId="{F5820D6D-9AAF-FA42-A77D-52E1C71F1A56}" type="presOf" srcId="{7EC4B001-94AB-E145-958C-60D3EBF4A298}" destId="{AEA11098-AB74-DD44-9BC8-C12FE7E19932}" srcOrd="0" destOrd="0" presId="urn:microsoft.com/office/officeart/2008/layout/HalfCircleOrganizationChart"/>
    <dgm:cxn modelId="{4F08DC70-22C4-5B49-9BD7-252E2F4F4908}" srcId="{6935F12B-D38F-094A-8D5C-5B26F9643625}" destId="{7EC4B001-94AB-E145-958C-60D3EBF4A298}" srcOrd="4" destOrd="0" parTransId="{0C336DCC-5435-B641-8790-43A7D1CDE33C}" sibTransId="{9483EA52-C8AD-314C-98A8-E7938DC50F83}"/>
    <dgm:cxn modelId="{38165F73-E488-D045-B67D-1D2F6A57A6F2}" srcId="{6935F12B-D38F-094A-8D5C-5B26F9643625}" destId="{261B1C22-54F4-6347-B725-5EED615D7F23}" srcOrd="2" destOrd="0" parTransId="{22E8A833-C2C7-1843-A048-F4E12869B168}" sibTransId="{2ECDB626-724B-E54E-9432-8C38CCB5B396}"/>
    <dgm:cxn modelId="{859AB278-1D62-F94A-BFDA-27A37E64A8C3}" type="presOf" srcId="{8ECAEC54-E832-DE48-8877-0BB6AD2EE4A8}" destId="{C70C9118-8125-7249-955F-8381C06A17C3}" srcOrd="0" destOrd="0" presId="urn:microsoft.com/office/officeart/2008/layout/HalfCircleOrganizationChart"/>
    <dgm:cxn modelId="{64C4357E-4B06-8F48-9145-BBF78345BF6B}" srcId="{6935F12B-D38F-094A-8D5C-5B26F9643625}" destId="{7C3A382A-A241-0941-8ED5-48CF9321C564}" srcOrd="0" destOrd="0" parTransId="{5B69D62E-8D14-0D4A-81C9-63B83D08E595}" sibTransId="{196E5C51-1DEA-934E-B8C6-209DE676F97E}"/>
    <dgm:cxn modelId="{191FD49E-64C7-C44A-98E5-BFA3666BCADA}" srcId="{A625D9CB-4F86-8445-B364-AFEE196C616A}" destId="{6935F12B-D38F-094A-8D5C-5B26F9643625}" srcOrd="0" destOrd="0" parTransId="{5F198566-F79E-7E4C-B3D1-98A4EEA88449}" sibTransId="{15B0D810-80D0-8A4D-96D9-630E5BD82E7E}"/>
    <dgm:cxn modelId="{27FC5AA5-B8D8-2E46-B367-E9E0D76EA74B}" type="presOf" srcId="{AF4E3339-89FC-DE41-A989-951684ED3B08}" destId="{AC5E5F08-6CCE-BC4C-86DC-A7A6309706B9}" srcOrd="1" destOrd="0" presId="urn:microsoft.com/office/officeart/2008/layout/HalfCircleOrganizationChart"/>
    <dgm:cxn modelId="{D968A1A6-58FF-A045-81C8-8659D64AA2F5}" type="presOf" srcId="{AF4E3339-89FC-DE41-A989-951684ED3B08}" destId="{F911B048-91E4-A340-8E15-AB5F78A9EF92}" srcOrd="0" destOrd="0" presId="urn:microsoft.com/office/officeart/2008/layout/HalfCircleOrganizationChart"/>
    <dgm:cxn modelId="{004529AA-AAAB-594D-8FD2-1229C6F6FEC7}" srcId="{6935F12B-D38F-094A-8D5C-5B26F9643625}" destId="{29286914-BE71-7844-BAB7-2615B92DC804}" srcOrd="5" destOrd="0" parTransId="{4C81C78F-BB43-274D-B398-1971C05E2EC8}" sibTransId="{69A3E15E-D0CD-9545-BD98-1224999418A6}"/>
    <dgm:cxn modelId="{D881E7B4-88B7-9B4A-AE02-29513091CA83}" type="presOf" srcId="{261B1C22-54F4-6347-B725-5EED615D7F23}" destId="{09C6450D-F39D-9747-8100-C4E0CCF4A9B3}" srcOrd="1" destOrd="0" presId="urn:microsoft.com/office/officeart/2008/layout/HalfCircleOrganizationChart"/>
    <dgm:cxn modelId="{D265C0B7-3511-E047-BBFF-FCF0A4C6630A}" srcId="{6935F12B-D38F-094A-8D5C-5B26F9643625}" destId="{26AD61DC-A7B2-C848-97AE-1250583D5A61}" srcOrd="3" destOrd="0" parTransId="{8ECAEC54-E832-DE48-8877-0BB6AD2EE4A8}" sibTransId="{CAC8F471-1045-B940-9463-B3660B2CCDB8}"/>
    <dgm:cxn modelId="{B980E2CF-6700-BA42-B632-F82E0650EF44}" type="presOf" srcId="{6935F12B-D38F-094A-8D5C-5B26F9643625}" destId="{98B40A6F-2AE8-7D4C-9E48-75CF6FF623B2}" srcOrd="1" destOrd="0" presId="urn:microsoft.com/office/officeart/2008/layout/HalfCircleOrganizationChart"/>
    <dgm:cxn modelId="{381DDED7-DEA3-C140-ABC2-42DE9439634F}" type="presOf" srcId="{7C3A382A-A241-0941-8ED5-48CF9321C564}" destId="{32593006-C3A1-A147-8343-B00CF6523CA6}" srcOrd="0" destOrd="0" presId="urn:microsoft.com/office/officeart/2008/layout/HalfCircleOrganizationChart"/>
    <dgm:cxn modelId="{24ACC1E4-70C2-7440-98D6-F5138278D7AA}" type="presOf" srcId="{5B69D62E-8D14-0D4A-81C9-63B83D08E595}" destId="{6F67079F-F72F-5340-9FF7-26B37D79A39C}" srcOrd="0" destOrd="0" presId="urn:microsoft.com/office/officeart/2008/layout/HalfCircleOrganizationChart"/>
    <dgm:cxn modelId="{100D01FA-FC64-E24C-BC6B-741428168AE2}" type="presOf" srcId="{22E8A833-C2C7-1843-A048-F4E12869B168}" destId="{511FE487-4272-4B47-99DD-AB1D7A221A80}" srcOrd="0" destOrd="0" presId="urn:microsoft.com/office/officeart/2008/layout/HalfCircleOrganizationChart"/>
    <dgm:cxn modelId="{F75AAC6B-21E0-064B-B318-E52051ABB085}" type="presParOf" srcId="{130DA10F-1AE9-AD42-B520-CE6F38B26021}" destId="{36554365-85F0-2541-AB2F-1BFCBB146E45}" srcOrd="0" destOrd="0" presId="urn:microsoft.com/office/officeart/2008/layout/HalfCircleOrganizationChart"/>
    <dgm:cxn modelId="{C9C5E656-9DBB-EC48-8601-820F45DCD866}" type="presParOf" srcId="{36554365-85F0-2541-AB2F-1BFCBB146E45}" destId="{A7AB8439-9ABB-BD4C-AEB5-E236BE3D5844}" srcOrd="0" destOrd="0" presId="urn:microsoft.com/office/officeart/2008/layout/HalfCircleOrganizationChart"/>
    <dgm:cxn modelId="{254FD68A-9829-D048-BBAF-28D7F427283B}" type="presParOf" srcId="{A7AB8439-9ABB-BD4C-AEB5-E236BE3D5844}" destId="{8FC99A7A-414C-824B-8925-908AC60C779A}" srcOrd="0" destOrd="0" presId="urn:microsoft.com/office/officeart/2008/layout/HalfCircleOrganizationChart"/>
    <dgm:cxn modelId="{0ACBAB38-9C0E-DC4B-8669-50DACC862238}" type="presParOf" srcId="{A7AB8439-9ABB-BD4C-AEB5-E236BE3D5844}" destId="{42397D52-6448-B343-A4C5-09F904C9933A}" srcOrd="1" destOrd="0" presId="urn:microsoft.com/office/officeart/2008/layout/HalfCircleOrganizationChart"/>
    <dgm:cxn modelId="{313E7D33-D500-3944-BB2C-C8609B16D19D}" type="presParOf" srcId="{A7AB8439-9ABB-BD4C-AEB5-E236BE3D5844}" destId="{441A82F6-E6D6-0448-8D0B-A63B3B6918BF}" srcOrd="2" destOrd="0" presId="urn:microsoft.com/office/officeart/2008/layout/HalfCircleOrganizationChart"/>
    <dgm:cxn modelId="{707E985B-5908-994D-8D28-895C5F3E474C}" type="presParOf" srcId="{A7AB8439-9ABB-BD4C-AEB5-E236BE3D5844}" destId="{98B40A6F-2AE8-7D4C-9E48-75CF6FF623B2}" srcOrd="3" destOrd="0" presId="urn:microsoft.com/office/officeart/2008/layout/HalfCircleOrganizationChart"/>
    <dgm:cxn modelId="{DB05B2CE-8090-DD45-ABBA-846B21673249}" type="presParOf" srcId="{36554365-85F0-2541-AB2F-1BFCBB146E45}" destId="{46B92979-2119-634C-867F-9994E4B807A1}" srcOrd="1" destOrd="0" presId="urn:microsoft.com/office/officeart/2008/layout/HalfCircleOrganizationChart"/>
    <dgm:cxn modelId="{5B947556-81F0-0043-BCE9-7C49AAB87287}" type="presParOf" srcId="{46B92979-2119-634C-867F-9994E4B807A1}" destId="{6F67079F-F72F-5340-9FF7-26B37D79A39C}" srcOrd="0" destOrd="0" presId="urn:microsoft.com/office/officeart/2008/layout/HalfCircleOrganizationChart"/>
    <dgm:cxn modelId="{5F004096-D450-B240-8C02-52944E5FF636}" type="presParOf" srcId="{46B92979-2119-634C-867F-9994E4B807A1}" destId="{39BE4E4F-1782-B34F-A81C-7B0C74D476A7}" srcOrd="1" destOrd="0" presId="urn:microsoft.com/office/officeart/2008/layout/HalfCircleOrganizationChart"/>
    <dgm:cxn modelId="{92A823DF-C201-1B46-95C5-08A8BBAF6AD2}" type="presParOf" srcId="{39BE4E4F-1782-B34F-A81C-7B0C74D476A7}" destId="{1997EE5D-7CEF-5044-A6BB-54BAB67CE6B0}" srcOrd="0" destOrd="0" presId="urn:microsoft.com/office/officeart/2008/layout/HalfCircleOrganizationChart"/>
    <dgm:cxn modelId="{73C1D19A-701F-9F42-92E8-2BE67C16444D}" type="presParOf" srcId="{1997EE5D-7CEF-5044-A6BB-54BAB67CE6B0}" destId="{32593006-C3A1-A147-8343-B00CF6523CA6}" srcOrd="0" destOrd="0" presId="urn:microsoft.com/office/officeart/2008/layout/HalfCircleOrganizationChart"/>
    <dgm:cxn modelId="{4B558785-D8CC-3342-AEB7-0365D5CA52FE}" type="presParOf" srcId="{1997EE5D-7CEF-5044-A6BB-54BAB67CE6B0}" destId="{D56721D1-6615-2043-8C08-AC448E0E3AE9}" srcOrd="1" destOrd="0" presId="urn:microsoft.com/office/officeart/2008/layout/HalfCircleOrganizationChart"/>
    <dgm:cxn modelId="{27E27C92-D2A2-F246-ACAB-BA10482C16D9}" type="presParOf" srcId="{1997EE5D-7CEF-5044-A6BB-54BAB67CE6B0}" destId="{03248519-61E6-BE42-A8CF-9C4B5A1544BE}" srcOrd="2" destOrd="0" presId="urn:microsoft.com/office/officeart/2008/layout/HalfCircleOrganizationChart"/>
    <dgm:cxn modelId="{B90E12CB-3C10-CA4A-B48B-7627E50C8992}" type="presParOf" srcId="{1997EE5D-7CEF-5044-A6BB-54BAB67CE6B0}" destId="{8477F0F2-B839-CB40-8CFA-532DF38FCEB4}" srcOrd="3" destOrd="0" presId="urn:microsoft.com/office/officeart/2008/layout/HalfCircleOrganizationChart"/>
    <dgm:cxn modelId="{11D01A3D-7F72-794C-8DD1-868BBA153A13}" type="presParOf" srcId="{39BE4E4F-1782-B34F-A81C-7B0C74D476A7}" destId="{B73A83CB-ADED-984A-82BF-43D01310E1CC}" srcOrd="1" destOrd="0" presId="urn:microsoft.com/office/officeart/2008/layout/HalfCircleOrganizationChart"/>
    <dgm:cxn modelId="{B835107A-BB2D-CB4E-A226-45BB9840435B}" type="presParOf" srcId="{39BE4E4F-1782-B34F-A81C-7B0C74D476A7}" destId="{ABF3E2A1-B8FC-6F4C-B9CA-1631498FC109}" srcOrd="2" destOrd="0" presId="urn:microsoft.com/office/officeart/2008/layout/HalfCircleOrganizationChart"/>
    <dgm:cxn modelId="{F657A8CB-6769-4E4E-81C3-E291BA060945}" type="presParOf" srcId="{46B92979-2119-634C-867F-9994E4B807A1}" destId="{71E7BF29-2C92-894C-B4CE-3A254AC7DA7A}" srcOrd="2" destOrd="0" presId="urn:microsoft.com/office/officeart/2008/layout/HalfCircleOrganizationChart"/>
    <dgm:cxn modelId="{79BDEC25-F240-6E44-A907-2F2393AA9110}" type="presParOf" srcId="{46B92979-2119-634C-867F-9994E4B807A1}" destId="{496C320E-E6D7-0642-8B58-C8AF6C6421A0}" srcOrd="3" destOrd="0" presId="urn:microsoft.com/office/officeart/2008/layout/HalfCircleOrganizationChart"/>
    <dgm:cxn modelId="{8660D5DB-D98C-0043-A84F-37EF0570783E}" type="presParOf" srcId="{496C320E-E6D7-0642-8B58-C8AF6C6421A0}" destId="{CC873F7D-B854-2246-9FD0-8690733F1B91}" srcOrd="0" destOrd="0" presId="urn:microsoft.com/office/officeart/2008/layout/HalfCircleOrganizationChart"/>
    <dgm:cxn modelId="{0B041CAD-D962-224D-BB7B-BF994FD27447}" type="presParOf" srcId="{CC873F7D-B854-2246-9FD0-8690733F1B91}" destId="{F911B048-91E4-A340-8E15-AB5F78A9EF92}" srcOrd="0" destOrd="0" presId="urn:microsoft.com/office/officeart/2008/layout/HalfCircleOrganizationChart"/>
    <dgm:cxn modelId="{75C06D6C-9507-D740-9C71-717FBD65E036}" type="presParOf" srcId="{CC873F7D-B854-2246-9FD0-8690733F1B91}" destId="{FB21CD1F-C6F1-3246-892F-20254718F673}" srcOrd="1" destOrd="0" presId="urn:microsoft.com/office/officeart/2008/layout/HalfCircleOrganizationChart"/>
    <dgm:cxn modelId="{8E47CC1E-C331-244E-8134-193496D56BE4}" type="presParOf" srcId="{CC873F7D-B854-2246-9FD0-8690733F1B91}" destId="{16E4D9CD-5FA8-E44D-8B0C-9BF1F6D5D4B3}" srcOrd="2" destOrd="0" presId="urn:microsoft.com/office/officeart/2008/layout/HalfCircleOrganizationChart"/>
    <dgm:cxn modelId="{FCB98733-ED4B-554B-94F4-35D271EA3679}" type="presParOf" srcId="{CC873F7D-B854-2246-9FD0-8690733F1B91}" destId="{AC5E5F08-6CCE-BC4C-86DC-A7A6309706B9}" srcOrd="3" destOrd="0" presId="urn:microsoft.com/office/officeart/2008/layout/HalfCircleOrganizationChart"/>
    <dgm:cxn modelId="{83E6C54C-845F-8F47-A65E-383AE14B500F}" type="presParOf" srcId="{496C320E-E6D7-0642-8B58-C8AF6C6421A0}" destId="{16522FF5-345A-7C40-B708-DD7ACCCFE85E}" srcOrd="1" destOrd="0" presId="urn:microsoft.com/office/officeart/2008/layout/HalfCircleOrganizationChart"/>
    <dgm:cxn modelId="{2A93918F-CA7F-6044-8E31-38B563C3FB2B}" type="presParOf" srcId="{496C320E-E6D7-0642-8B58-C8AF6C6421A0}" destId="{23E0299F-A505-694B-B1E9-3618A5375130}" srcOrd="2" destOrd="0" presId="urn:microsoft.com/office/officeart/2008/layout/HalfCircleOrganizationChart"/>
    <dgm:cxn modelId="{C8EE11BB-359C-2646-8320-A33BE5C8C70B}" type="presParOf" srcId="{46B92979-2119-634C-867F-9994E4B807A1}" destId="{511FE487-4272-4B47-99DD-AB1D7A221A80}" srcOrd="4" destOrd="0" presId="urn:microsoft.com/office/officeart/2008/layout/HalfCircleOrganizationChart"/>
    <dgm:cxn modelId="{50BB3EF5-5D31-244E-819D-692B9219E320}" type="presParOf" srcId="{46B92979-2119-634C-867F-9994E4B807A1}" destId="{EF0E93D8-64F4-7441-A6A4-9CE1D7277659}" srcOrd="5" destOrd="0" presId="urn:microsoft.com/office/officeart/2008/layout/HalfCircleOrganizationChart"/>
    <dgm:cxn modelId="{09C99225-1767-D04E-AEF0-983E4726D3F6}" type="presParOf" srcId="{EF0E93D8-64F4-7441-A6A4-9CE1D7277659}" destId="{3675BBD7-77AC-A445-A2B5-BD9D76C94A03}" srcOrd="0" destOrd="0" presId="urn:microsoft.com/office/officeart/2008/layout/HalfCircleOrganizationChart"/>
    <dgm:cxn modelId="{C5F2FE74-C070-664B-BC28-ED0003DA7998}" type="presParOf" srcId="{3675BBD7-77AC-A445-A2B5-BD9D76C94A03}" destId="{3EC56F68-EA0C-7F4A-A860-BD184FB3D266}" srcOrd="0" destOrd="0" presId="urn:microsoft.com/office/officeart/2008/layout/HalfCircleOrganizationChart"/>
    <dgm:cxn modelId="{3A20B707-40FB-704A-BA42-2C8FD017ADBA}" type="presParOf" srcId="{3675BBD7-77AC-A445-A2B5-BD9D76C94A03}" destId="{D34F9546-13AD-6043-97E9-0B5FCE63A186}" srcOrd="1" destOrd="0" presId="urn:microsoft.com/office/officeart/2008/layout/HalfCircleOrganizationChart"/>
    <dgm:cxn modelId="{1AE8AB0F-AEE5-8145-B203-6289B2791827}" type="presParOf" srcId="{3675BBD7-77AC-A445-A2B5-BD9D76C94A03}" destId="{6E5AA02E-1C15-AE44-894B-A07BB2D73088}" srcOrd="2" destOrd="0" presId="urn:microsoft.com/office/officeart/2008/layout/HalfCircleOrganizationChart"/>
    <dgm:cxn modelId="{E4A0E47E-9CC5-EE4A-9312-935189893A24}" type="presParOf" srcId="{3675BBD7-77AC-A445-A2B5-BD9D76C94A03}" destId="{09C6450D-F39D-9747-8100-C4E0CCF4A9B3}" srcOrd="3" destOrd="0" presId="urn:microsoft.com/office/officeart/2008/layout/HalfCircleOrganizationChart"/>
    <dgm:cxn modelId="{F83473D0-0E0F-8949-80E4-A5CB2119DA58}" type="presParOf" srcId="{EF0E93D8-64F4-7441-A6A4-9CE1D7277659}" destId="{BBC714A8-8F09-8044-A084-88CC0244D65E}" srcOrd="1" destOrd="0" presId="urn:microsoft.com/office/officeart/2008/layout/HalfCircleOrganizationChart"/>
    <dgm:cxn modelId="{193E9259-7CCD-C144-9241-B97AA46B774F}" type="presParOf" srcId="{EF0E93D8-64F4-7441-A6A4-9CE1D7277659}" destId="{431410C9-4F80-4C44-AE64-0BCD23F74466}" srcOrd="2" destOrd="0" presId="urn:microsoft.com/office/officeart/2008/layout/HalfCircleOrganizationChart"/>
    <dgm:cxn modelId="{535E8D27-2413-C241-AAFB-F01FC689F3A6}" type="presParOf" srcId="{46B92979-2119-634C-867F-9994E4B807A1}" destId="{C70C9118-8125-7249-955F-8381C06A17C3}" srcOrd="6" destOrd="0" presId="urn:microsoft.com/office/officeart/2008/layout/HalfCircleOrganizationChart"/>
    <dgm:cxn modelId="{921679AD-505E-8042-BB38-C1B3ED8C3A3D}" type="presParOf" srcId="{46B92979-2119-634C-867F-9994E4B807A1}" destId="{1573A21B-5B97-1540-B50D-4AD2F6E7543D}" srcOrd="7" destOrd="0" presId="urn:microsoft.com/office/officeart/2008/layout/HalfCircleOrganizationChart"/>
    <dgm:cxn modelId="{AB030C8C-4CA9-834E-86DA-A95FE3262F42}" type="presParOf" srcId="{1573A21B-5B97-1540-B50D-4AD2F6E7543D}" destId="{28C975E2-DC76-8B45-AAD6-671615A58DFA}" srcOrd="0" destOrd="0" presId="urn:microsoft.com/office/officeart/2008/layout/HalfCircleOrganizationChart"/>
    <dgm:cxn modelId="{0E7619D6-8212-0845-991A-CE360A040ED7}" type="presParOf" srcId="{28C975E2-DC76-8B45-AAD6-671615A58DFA}" destId="{C4A5AD3E-BE7D-E44B-9EA8-6EF1CE0A235E}" srcOrd="0" destOrd="0" presId="urn:microsoft.com/office/officeart/2008/layout/HalfCircleOrganizationChart"/>
    <dgm:cxn modelId="{EBACC569-B056-9741-94BD-57808D3C4842}" type="presParOf" srcId="{28C975E2-DC76-8B45-AAD6-671615A58DFA}" destId="{77F8F5B2-B2EA-8843-8EFE-DB75E2D4A37A}" srcOrd="1" destOrd="0" presId="urn:microsoft.com/office/officeart/2008/layout/HalfCircleOrganizationChart"/>
    <dgm:cxn modelId="{DA19FFDE-01F5-2C48-81B2-6DDBBD8262B7}" type="presParOf" srcId="{28C975E2-DC76-8B45-AAD6-671615A58DFA}" destId="{57B7DC74-4C6D-6A4D-8DEC-0E0F7FA5C72A}" srcOrd="2" destOrd="0" presId="urn:microsoft.com/office/officeart/2008/layout/HalfCircleOrganizationChart"/>
    <dgm:cxn modelId="{FF126C64-1466-8E4C-973A-020E98CE6D41}" type="presParOf" srcId="{28C975E2-DC76-8B45-AAD6-671615A58DFA}" destId="{9C041398-5508-E045-9E45-7AD8285E28C5}" srcOrd="3" destOrd="0" presId="urn:microsoft.com/office/officeart/2008/layout/HalfCircleOrganizationChart"/>
    <dgm:cxn modelId="{F0660B01-A4D1-E847-B91A-AB80975DBCA1}" type="presParOf" srcId="{1573A21B-5B97-1540-B50D-4AD2F6E7543D}" destId="{D0E60B81-A823-F04E-A64E-9CC504C35F6A}" srcOrd="1" destOrd="0" presId="urn:microsoft.com/office/officeart/2008/layout/HalfCircleOrganizationChart"/>
    <dgm:cxn modelId="{56E9A373-916A-2647-8339-29678E372ED1}" type="presParOf" srcId="{1573A21B-5B97-1540-B50D-4AD2F6E7543D}" destId="{742CF710-3755-C441-B507-81103C826D55}" srcOrd="2" destOrd="0" presId="urn:microsoft.com/office/officeart/2008/layout/HalfCircleOrganizationChart"/>
    <dgm:cxn modelId="{6FCBFC1C-AC1D-0B4F-AF30-48C0A37765AA}" type="presParOf" srcId="{46B92979-2119-634C-867F-9994E4B807A1}" destId="{51DCB7DD-6FD6-D04C-8693-174F6681C7DF}" srcOrd="8" destOrd="0" presId="urn:microsoft.com/office/officeart/2008/layout/HalfCircleOrganizationChart"/>
    <dgm:cxn modelId="{4BFB69D4-778A-274D-992A-E605C524C731}" type="presParOf" srcId="{46B92979-2119-634C-867F-9994E4B807A1}" destId="{935F7345-A120-7540-A527-CA5596AB92AD}" srcOrd="9" destOrd="0" presId="urn:microsoft.com/office/officeart/2008/layout/HalfCircleOrganizationChart"/>
    <dgm:cxn modelId="{DA9FC864-EB50-534E-8DD0-A6389E620B9B}" type="presParOf" srcId="{935F7345-A120-7540-A527-CA5596AB92AD}" destId="{D8D12995-612D-474D-8285-B3C8B1DCCB05}" srcOrd="0" destOrd="0" presId="urn:microsoft.com/office/officeart/2008/layout/HalfCircleOrganizationChart"/>
    <dgm:cxn modelId="{FFC018F5-D71B-C34E-B2A6-7522872CB10F}" type="presParOf" srcId="{D8D12995-612D-474D-8285-B3C8B1DCCB05}" destId="{AEA11098-AB74-DD44-9BC8-C12FE7E19932}" srcOrd="0" destOrd="0" presId="urn:microsoft.com/office/officeart/2008/layout/HalfCircleOrganizationChart"/>
    <dgm:cxn modelId="{923CEC2F-6A65-A449-8EBE-D1B7DBEBC688}" type="presParOf" srcId="{D8D12995-612D-474D-8285-B3C8B1DCCB05}" destId="{6C037CF5-C344-E047-8AEC-9002DB6454E8}" srcOrd="1" destOrd="0" presId="urn:microsoft.com/office/officeart/2008/layout/HalfCircleOrganizationChart"/>
    <dgm:cxn modelId="{36DDBBDB-5F92-824F-94C5-C46DA4A3F9C4}" type="presParOf" srcId="{D8D12995-612D-474D-8285-B3C8B1DCCB05}" destId="{0FE746CF-4893-B14F-9FFA-2976ED272CFF}" srcOrd="2" destOrd="0" presId="urn:microsoft.com/office/officeart/2008/layout/HalfCircleOrganizationChart"/>
    <dgm:cxn modelId="{F4F9A3D9-28E1-D540-B9FA-630AAD322FE1}" type="presParOf" srcId="{D8D12995-612D-474D-8285-B3C8B1DCCB05}" destId="{71FB0AB1-B4E6-874D-8680-0E017551FF7C}" srcOrd="3" destOrd="0" presId="urn:microsoft.com/office/officeart/2008/layout/HalfCircleOrganizationChart"/>
    <dgm:cxn modelId="{A661172B-56A8-1E42-9A6A-4214B0897986}" type="presParOf" srcId="{935F7345-A120-7540-A527-CA5596AB92AD}" destId="{F6688E56-8238-1940-9AF2-80F136FD27FF}" srcOrd="1" destOrd="0" presId="urn:microsoft.com/office/officeart/2008/layout/HalfCircleOrganizationChart"/>
    <dgm:cxn modelId="{EDE2E628-3D43-1341-B8FB-753C1E3EEBC0}" type="presParOf" srcId="{935F7345-A120-7540-A527-CA5596AB92AD}" destId="{96CB29F8-651D-E84A-9D76-9067DCB6EC40}" srcOrd="2" destOrd="0" presId="urn:microsoft.com/office/officeart/2008/layout/HalfCircleOrganizationChart"/>
    <dgm:cxn modelId="{5339B6F3-F17B-CD4A-AFD0-93CD36C14F5C}" type="presParOf" srcId="{46B92979-2119-634C-867F-9994E4B807A1}" destId="{746B8CD3-B473-9D4A-8FAB-A6490995B61A}" srcOrd="10" destOrd="0" presId="urn:microsoft.com/office/officeart/2008/layout/HalfCircleOrganizationChart"/>
    <dgm:cxn modelId="{F578C604-AA7D-974C-96AA-53C23D7B4F0C}" type="presParOf" srcId="{46B92979-2119-634C-867F-9994E4B807A1}" destId="{A6CA821C-7DC0-404D-9D00-55DCA3AF4B0D}" srcOrd="11" destOrd="0" presId="urn:microsoft.com/office/officeart/2008/layout/HalfCircleOrganizationChart"/>
    <dgm:cxn modelId="{EB17A20F-571F-8843-9F9B-FF32C6A31FA4}" type="presParOf" srcId="{A6CA821C-7DC0-404D-9D00-55DCA3AF4B0D}" destId="{1840AC9D-47B7-9042-8E72-6D1D8BE284F9}" srcOrd="0" destOrd="0" presId="urn:microsoft.com/office/officeart/2008/layout/HalfCircleOrganizationChart"/>
    <dgm:cxn modelId="{97344695-90BE-A040-9EB3-BF8B0C18EF77}" type="presParOf" srcId="{1840AC9D-47B7-9042-8E72-6D1D8BE284F9}" destId="{47FFB85A-10F4-5645-8C8A-DA5FB261C757}" srcOrd="0" destOrd="0" presId="urn:microsoft.com/office/officeart/2008/layout/HalfCircleOrganizationChart"/>
    <dgm:cxn modelId="{352C167B-62D7-FF46-9325-5CAE3CDF6F99}" type="presParOf" srcId="{1840AC9D-47B7-9042-8E72-6D1D8BE284F9}" destId="{543ACCC3-B17C-5C41-A11B-20EDE22AF4E4}" srcOrd="1" destOrd="0" presId="urn:microsoft.com/office/officeart/2008/layout/HalfCircleOrganizationChart"/>
    <dgm:cxn modelId="{AEE94FA1-7595-394A-B58D-6F54CD79E7EC}" type="presParOf" srcId="{1840AC9D-47B7-9042-8E72-6D1D8BE284F9}" destId="{76823D61-91F8-E24E-A6BF-F97FFBA5BEE8}" srcOrd="2" destOrd="0" presId="urn:microsoft.com/office/officeart/2008/layout/HalfCircleOrganizationChart"/>
    <dgm:cxn modelId="{FFFB5F78-5FC3-6040-87D1-CF185A28DE82}" type="presParOf" srcId="{1840AC9D-47B7-9042-8E72-6D1D8BE284F9}" destId="{BED5B620-F0D8-0D4E-A128-8F3C2C3009D6}" srcOrd="3" destOrd="0" presId="urn:microsoft.com/office/officeart/2008/layout/HalfCircleOrganizationChart"/>
    <dgm:cxn modelId="{85354EA4-04CF-974E-8BB7-9FC720CBC765}" type="presParOf" srcId="{A6CA821C-7DC0-404D-9D00-55DCA3AF4B0D}" destId="{168F4B6F-2973-F74C-92B8-A592C973439D}" srcOrd="1" destOrd="0" presId="urn:microsoft.com/office/officeart/2008/layout/HalfCircleOrganizationChart"/>
    <dgm:cxn modelId="{6FA03908-163D-574C-BFA6-91FD5DA027C4}" type="presParOf" srcId="{A6CA821C-7DC0-404D-9D00-55DCA3AF4B0D}" destId="{B58E83DF-456C-D44C-93F3-8B8689D95818}" srcOrd="2" destOrd="0" presId="urn:microsoft.com/office/officeart/2008/layout/HalfCircleOrganizationChart"/>
    <dgm:cxn modelId="{D7777127-715C-D248-B982-397780A6DFEA}" type="presParOf" srcId="{36554365-85F0-2541-AB2F-1BFCBB146E45}" destId="{1FA248B3-AE2F-1441-9FCC-6FC4A16B4C26}" srcOrd="2" destOrd="0" presId="urn:microsoft.com/office/officeart/2008/layout/HalfCircle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072181-76ED-2F4E-A822-5A9EDFFF978D}" type="doc">
      <dgm:prSet loTypeId="urn:microsoft.com/office/officeart/2005/8/layout/balance1" loCatId="" qsTypeId="urn:microsoft.com/office/officeart/2005/8/quickstyle/simple1" qsCatId="simple" csTypeId="urn:microsoft.com/office/officeart/2005/8/colors/accent1_2" csCatId="accent1" phldr="1"/>
      <dgm:spPr/>
      <dgm:t>
        <a:bodyPr/>
        <a:lstStyle/>
        <a:p>
          <a:endParaRPr lang="en-US"/>
        </a:p>
      </dgm:t>
    </dgm:pt>
    <dgm:pt modelId="{22A24AFD-D4ED-6941-ADA7-24E86D24904D}">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a:t>Bronze</a:t>
          </a:r>
        </a:p>
      </dgm:t>
    </dgm:pt>
    <dgm:pt modelId="{2012A85F-37A1-BF45-9955-D60035F9014B}" type="parTrans" cxnId="{1E1BDC4E-5A71-764D-A354-96B86596A2DB}">
      <dgm:prSet/>
      <dgm:spPr/>
      <dgm:t>
        <a:bodyPr/>
        <a:lstStyle/>
        <a:p>
          <a:endParaRPr lang="en-US"/>
        </a:p>
      </dgm:t>
    </dgm:pt>
    <dgm:pt modelId="{7595E7FE-651F-D244-9AF4-43CE739A79C2}" type="sibTrans" cxnId="{1E1BDC4E-5A71-764D-A354-96B86596A2DB}">
      <dgm:prSet/>
      <dgm:spPr/>
      <dgm:t>
        <a:bodyPr/>
        <a:lstStyle/>
        <a:p>
          <a:endParaRPr lang="en-US"/>
        </a:p>
      </dgm:t>
    </dgm:pt>
    <dgm:pt modelId="{4253AB0B-029C-CB4F-871F-48066FAFE39B}">
      <dgm:prSet phldrT="[Text]">
        <dgm:style>
          <a:lnRef idx="1">
            <a:schemeClr val="accent2"/>
          </a:lnRef>
          <a:fillRef idx="2">
            <a:schemeClr val="accent2"/>
          </a:fillRef>
          <a:effectRef idx="1">
            <a:schemeClr val="accent2"/>
          </a:effectRef>
          <a:fontRef idx="minor">
            <a:schemeClr val="dk1"/>
          </a:fontRef>
        </dgm:style>
      </dgm:prSet>
      <dgm:spPr/>
      <dgm:t>
        <a:bodyPr/>
        <a:lstStyle/>
        <a:p>
          <a:r>
            <a:rPr lang="en-US" dirty="0"/>
            <a:t>Full Access to Protocol</a:t>
          </a:r>
        </a:p>
      </dgm:t>
    </dgm:pt>
    <dgm:pt modelId="{83BD036D-4D1C-6F47-94A4-BBD9459525D2}" type="parTrans" cxnId="{5DF15456-2F0E-CC46-9C10-21D1E42136D3}">
      <dgm:prSet/>
      <dgm:spPr/>
      <dgm:t>
        <a:bodyPr/>
        <a:lstStyle/>
        <a:p>
          <a:endParaRPr lang="en-US"/>
        </a:p>
      </dgm:t>
    </dgm:pt>
    <dgm:pt modelId="{B894D212-5134-C14F-B090-D456D5F35BC3}" type="sibTrans" cxnId="{5DF15456-2F0E-CC46-9C10-21D1E42136D3}">
      <dgm:prSet/>
      <dgm:spPr/>
      <dgm:t>
        <a:bodyPr/>
        <a:lstStyle/>
        <a:p>
          <a:endParaRPr lang="en-US"/>
        </a:p>
      </dgm:t>
    </dgm:pt>
    <dgm:pt modelId="{01EC0F2B-098B-284F-BCCF-0C1AEB7CC043}">
      <dgm:prSet phldrT="[Text]">
        <dgm:style>
          <a:lnRef idx="1">
            <a:schemeClr val="accent2"/>
          </a:lnRef>
          <a:fillRef idx="2">
            <a:schemeClr val="accent2"/>
          </a:fillRef>
          <a:effectRef idx="1">
            <a:schemeClr val="accent2"/>
          </a:effectRef>
          <a:fontRef idx="minor">
            <a:schemeClr val="dk1"/>
          </a:fontRef>
        </dgm:style>
      </dgm:prSet>
      <dgm:spPr/>
      <dgm:t>
        <a:bodyPr/>
        <a:lstStyle/>
        <a:p>
          <a:r>
            <a:rPr lang="en-US" dirty="0"/>
            <a:t>1 Coached session/month</a:t>
          </a:r>
        </a:p>
      </dgm:t>
    </dgm:pt>
    <dgm:pt modelId="{7056878A-7FEC-464F-A531-41E104223AD9}" type="parTrans" cxnId="{BE5CAE0B-DBEF-B749-AAE4-FE727A0AE656}">
      <dgm:prSet/>
      <dgm:spPr/>
      <dgm:t>
        <a:bodyPr/>
        <a:lstStyle/>
        <a:p>
          <a:endParaRPr lang="en-US"/>
        </a:p>
      </dgm:t>
    </dgm:pt>
    <dgm:pt modelId="{ABEB3F8D-6D47-EE44-8E54-DE919B130167}" type="sibTrans" cxnId="{BE5CAE0B-DBEF-B749-AAE4-FE727A0AE656}">
      <dgm:prSet/>
      <dgm:spPr/>
      <dgm:t>
        <a:bodyPr/>
        <a:lstStyle/>
        <a:p>
          <a:endParaRPr lang="en-US"/>
        </a:p>
      </dgm:t>
    </dgm:pt>
    <dgm:pt modelId="{9173B84E-E277-B145-A66F-13CD45234385}">
      <dgm:prSet phldrT="[Text]">
        <dgm:style>
          <a:lnRef idx="2">
            <a:schemeClr val="accent4"/>
          </a:lnRef>
          <a:fillRef idx="1">
            <a:schemeClr val="lt1"/>
          </a:fillRef>
          <a:effectRef idx="0">
            <a:schemeClr val="accent4"/>
          </a:effectRef>
          <a:fontRef idx="minor">
            <a:schemeClr val="dk1"/>
          </a:fontRef>
        </dgm:style>
      </dgm:prSet>
      <dgm:spPr/>
      <dgm:t>
        <a:bodyPr/>
        <a:lstStyle/>
        <a:p>
          <a:r>
            <a:rPr lang="en-US" dirty="0"/>
            <a:t>Gold</a:t>
          </a:r>
        </a:p>
      </dgm:t>
    </dgm:pt>
    <dgm:pt modelId="{FC50F5CA-EF70-9C4C-A582-4FD55404F222}" type="parTrans" cxnId="{45F405E1-2AF5-6645-B89D-0CA111BE910C}">
      <dgm:prSet/>
      <dgm:spPr/>
      <dgm:t>
        <a:bodyPr/>
        <a:lstStyle/>
        <a:p>
          <a:endParaRPr lang="en-US"/>
        </a:p>
      </dgm:t>
    </dgm:pt>
    <dgm:pt modelId="{F47CA3CB-BC8A-4946-8B1E-38F65E941F64}" type="sibTrans" cxnId="{45F405E1-2AF5-6645-B89D-0CA111BE910C}">
      <dgm:prSet/>
      <dgm:spPr/>
      <dgm:t>
        <a:bodyPr/>
        <a:lstStyle/>
        <a:p>
          <a:endParaRPr lang="en-US"/>
        </a:p>
      </dgm:t>
    </dgm:pt>
    <dgm:pt modelId="{53502409-4418-3C48-AE27-1335316D954A}">
      <dgm:prSet phldrT="[Text]">
        <dgm:style>
          <a:lnRef idx="1">
            <a:schemeClr val="accent4"/>
          </a:lnRef>
          <a:fillRef idx="2">
            <a:schemeClr val="accent4"/>
          </a:fillRef>
          <a:effectRef idx="1">
            <a:schemeClr val="accent4"/>
          </a:effectRef>
          <a:fontRef idx="minor">
            <a:schemeClr val="dk1"/>
          </a:fontRef>
        </dgm:style>
      </dgm:prSet>
      <dgm:spPr/>
      <dgm:t>
        <a:bodyPr/>
        <a:lstStyle/>
        <a:p>
          <a:r>
            <a:rPr lang="en-US" dirty="0"/>
            <a:t>Testing as Needed</a:t>
          </a:r>
        </a:p>
      </dgm:t>
    </dgm:pt>
    <dgm:pt modelId="{DE5D64DB-6D56-A64A-89BC-2E01FF1C859B}" type="parTrans" cxnId="{9D1916A4-3FC6-7C49-B9A4-0CB10D978C8F}">
      <dgm:prSet/>
      <dgm:spPr/>
      <dgm:t>
        <a:bodyPr/>
        <a:lstStyle/>
        <a:p>
          <a:endParaRPr lang="en-US"/>
        </a:p>
      </dgm:t>
    </dgm:pt>
    <dgm:pt modelId="{D0F17E4F-4C54-B14E-9BD1-F4E496433638}" type="sibTrans" cxnId="{9D1916A4-3FC6-7C49-B9A4-0CB10D978C8F}">
      <dgm:prSet/>
      <dgm:spPr/>
      <dgm:t>
        <a:bodyPr/>
        <a:lstStyle/>
        <a:p>
          <a:endParaRPr lang="en-US"/>
        </a:p>
      </dgm:t>
    </dgm:pt>
    <dgm:pt modelId="{56CE8AD4-D409-8545-8FAE-F56A77EBCC72}">
      <dgm:prSet phldrT="[Text]">
        <dgm:style>
          <a:lnRef idx="1">
            <a:schemeClr val="accent4"/>
          </a:lnRef>
          <a:fillRef idx="2">
            <a:schemeClr val="accent4"/>
          </a:fillRef>
          <a:effectRef idx="1">
            <a:schemeClr val="accent4"/>
          </a:effectRef>
          <a:fontRef idx="minor">
            <a:schemeClr val="dk1"/>
          </a:fontRef>
        </dgm:style>
      </dgm:prSet>
      <dgm:spPr/>
      <dgm:t>
        <a:bodyPr/>
        <a:lstStyle/>
        <a:p>
          <a:r>
            <a:rPr lang="en-US" dirty="0"/>
            <a:t>Full Gym &amp; Coaching Access</a:t>
          </a:r>
        </a:p>
      </dgm:t>
    </dgm:pt>
    <dgm:pt modelId="{045A4E60-CA71-7844-9BF9-A7E0A0E714DF}" type="parTrans" cxnId="{3AD094E8-25EB-7246-9989-9B1944857CD2}">
      <dgm:prSet/>
      <dgm:spPr/>
      <dgm:t>
        <a:bodyPr/>
        <a:lstStyle/>
        <a:p>
          <a:endParaRPr lang="en-US"/>
        </a:p>
      </dgm:t>
    </dgm:pt>
    <dgm:pt modelId="{8C7DE156-33F0-F848-AC8D-EBD079666B08}" type="sibTrans" cxnId="{3AD094E8-25EB-7246-9989-9B1944857CD2}">
      <dgm:prSet/>
      <dgm:spPr/>
      <dgm:t>
        <a:bodyPr/>
        <a:lstStyle/>
        <a:p>
          <a:endParaRPr lang="en-US"/>
        </a:p>
      </dgm:t>
    </dgm:pt>
    <dgm:pt modelId="{7341EE6E-1B67-8147-9FA3-FEF3BF5D773E}">
      <dgm:prSet phldrT="[Text]">
        <dgm:style>
          <a:lnRef idx="1">
            <a:schemeClr val="accent4"/>
          </a:lnRef>
          <a:fillRef idx="2">
            <a:schemeClr val="accent4"/>
          </a:fillRef>
          <a:effectRef idx="1">
            <a:schemeClr val="accent4"/>
          </a:effectRef>
          <a:fontRef idx="minor">
            <a:schemeClr val="dk1"/>
          </a:fontRef>
        </dgm:style>
      </dgm:prSet>
      <dgm:spPr/>
      <dgm:t>
        <a:bodyPr/>
        <a:lstStyle/>
        <a:p>
          <a:r>
            <a:rPr lang="en-US" dirty="0"/>
            <a:t>Full Access to Protocol</a:t>
          </a:r>
        </a:p>
      </dgm:t>
    </dgm:pt>
    <dgm:pt modelId="{02B6C90C-224D-B848-A349-0AB30F58B07D}" type="parTrans" cxnId="{F5636155-8BB7-2741-8F46-701C2A707B44}">
      <dgm:prSet/>
      <dgm:spPr/>
      <dgm:t>
        <a:bodyPr/>
        <a:lstStyle/>
        <a:p>
          <a:endParaRPr lang="en-US"/>
        </a:p>
      </dgm:t>
    </dgm:pt>
    <dgm:pt modelId="{C438EABC-C0E7-9747-9A95-29A7CC9B8693}" type="sibTrans" cxnId="{F5636155-8BB7-2741-8F46-701C2A707B44}">
      <dgm:prSet/>
      <dgm:spPr/>
      <dgm:t>
        <a:bodyPr/>
        <a:lstStyle/>
        <a:p>
          <a:endParaRPr lang="en-US"/>
        </a:p>
      </dgm:t>
    </dgm:pt>
    <dgm:pt modelId="{803AAADB-2E38-3B4E-9474-E284E42070FE}">
      <dgm:prSet>
        <dgm:style>
          <a:lnRef idx="1">
            <a:schemeClr val="accent2"/>
          </a:lnRef>
          <a:fillRef idx="2">
            <a:schemeClr val="accent2"/>
          </a:fillRef>
          <a:effectRef idx="1">
            <a:schemeClr val="accent2"/>
          </a:effectRef>
          <a:fontRef idx="minor">
            <a:schemeClr val="dk1"/>
          </a:fontRef>
        </dgm:style>
      </dgm:prSet>
      <dgm:spPr/>
      <dgm:t>
        <a:bodyPr/>
        <a:lstStyle/>
        <a:p>
          <a:r>
            <a:rPr lang="en-US" dirty="0"/>
            <a:t>1 Testing session/month</a:t>
          </a:r>
        </a:p>
      </dgm:t>
    </dgm:pt>
    <dgm:pt modelId="{DA29B15C-0DDE-FE47-B449-B7A41798E024}" type="parTrans" cxnId="{B79F8836-2683-7344-A60C-7FEA80077CEA}">
      <dgm:prSet/>
      <dgm:spPr/>
      <dgm:t>
        <a:bodyPr/>
        <a:lstStyle/>
        <a:p>
          <a:endParaRPr lang="en-US"/>
        </a:p>
      </dgm:t>
    </dgm:pt>
    <dgm:pt modelId="{65CC726D-E5EF-F14D-BE29-7EDC30C95E0F}" type="sibTrans" cxnId="{B79F8836-2683-7344-A60C-7FEA80077CEA}">
      <dgm:prSet/>
      <dgm:spPr/>
      <dgm:t>
        <a:bodyPr/>
        <a:lstStyle/>
        <a:p>
          <a:endParaRPr lang="en-US"/>
        </a:p>
      </dgm:t>
    </dgm:pt>
    <dgm:pt modelId="{0209B467-C943-0240-90CC-706E9174D931}">
      <dgm:prSet>
        <dgm:style>
          <a:lnRef idx="1">
            <a:schemeClr val="accent4"/>
          </a:lnRef>
          <a:fillRef idx="2">
            <a:schemeClr val="accent4"/>
          </a:fillRef>
          <a:effectRef idx="1">
            <a:schemeClr val="accent4"/>
          </a:effectRef>
          <a:fontRef idx="minor">
            <a:schemeClr val="dk1"/>
          </a:fontRef>
        </dgm:style>
      </dgm:prSet>
      <dgm:spPr/>
      <dgm:t>
        <a:bodyPr/>
        <a:lstStyle/>
        <a:p>
          <a:r>
            <a:rPr lang="en-US" dirty="0"/>
            <a:t>Individualized Programming</a:t>
          </a:r>
        </a:p>
      </dgm:t>
    </dgm:pt>
    <dgm:pt modelId="{8B63D5D8-6165-254A-81F7-908A03869E30}" type="parTrans" cxnId="{0244C11D-09A3-2446-A1ED-BEE6FA11D641}">
      <dgm:prSet/>
      <dgm:spPr/>
      <dgm:t>
        <a:bodyPr/>
        <a:lstStyle/>
        <a:p>
          <a:endParaRPr lang="en-US"/>
        </a:p>
      </dgm:t>
    </dgm:pt>
    <dgm:pt modelId="{71F3DFAF-3D03-5744-BCF1-D87C191FA220}" type="sibTrans" cxnId="{0244C11D-09A3-2446-A1ED-BEE6FA11D641}">
      <dgm:prSet/>
      <dgm:spPr/>
      <dgm:t>
        <a:bodyPr/>
        <a:lstStyle/>
        <a:p>
          <a:endParaRPr lang="en-US"/>
        </a:p>
      </dgm:t>
    </dgm:pt>
    <dgm:pt modelId="{F1D6077B-0CB8-8C4F-883B-CC5FB3736833}" type="pres">
      <dgm:prSet presAssocID="{C4072181-76ED-2F4E-A822-5A9EDFFF978D}" presName="outerComposite" presStyleCnt="0">
        <dgm:presLayoutVars>
          <dgm:chMax val="2"/>
          <dgm:animLvl val="lvl"/>
          <dgm:resizeHandles val="exact"/>
        </dgm:presLayoutVars>
      </dgm:prSet>
      <dgm:spPr/>
    </dgm:pt>
    <dgm:pt modelId="{DB10A807-C629-204B-BCFE-CA701481684E}" type="pres">
      <dgm:prSet presAssocID="{C4072181-76ED-2F4E-A822-5A9EDFFF978D}" presName="dummyMaxCanvas" presStyleCnt="0"/>
      <dgm:spPr/>
    </dgm:pt>
    <dgm:pt modelId="{0B0D2DC7-1B24-A242-AA96-DF896DB2E2CC}" type="pres">
      <dgm:prSet presAssocID="{C4072181-76ED-2F4E-A822-5A9EDFFF978D}" presName="parentComposite" presStyleCnt="0"/>
      <dgm:spPr/>
    </dgm:pt>
    <dgm:pt modelId="{E4D87250-2A1B-8D43-9A0B-DB3D05685AB1}" type="pres">
      <dgm:prSet presAssocID="{C4072181-76ED-2F4E-A822-5A9EDFFF978D}" presName="parent1" presStyleLbl="alignAccFollowNode1" presStyleIdx="0" presStyleCnt="4">
        <dgm:presLayoutVars>
          <dgm:chMax val="4"/>
        </dgm:presLayoutVars>
      </dgm:prSet>
      <dgm:spPr/>
    </dgm:pt>
    <dgm:pt modelId="{3AD14F0A-BD53-8945-BAFA-33D45E915F6A}" type="pres">
      <dgm:prSet presAssocID="{C4072181-76ED-2F4E-A822-5A9EDFFF978D}" presName="parent2" presStyleLbl="alignAccFollowNode1" presStyleIdx="1" presStyleCnt="4">
        <dgm:presLayoutVars>
          <dgm:chMax val="4"/>
        </dgm:presLayoutVars>
      </dgm:prSet>
      <dgm:spPr/>
    </dgm:pt>
    <dgm:pt modelId="{D2D23328-7832-E54F-A67D-702C71924C08}" type="pres">
      <dgm:prSet presAssocID="{C4072181-76ED-2F4E-A822-5A9EDFFF978D}" presName="childrenComposite" presStyleCnt="0"/>
      <dgm:spPr/>
    </dgm:pt>
    <dgm:pt modelId="{4E82469D-0590-0945-A531-DF892CCA2633}" type="pres">
      <dgm:prSet presAssocID="{C4072181-76ED-2F4E-A822-5A9EDFFF978D}" presName="dummyMaxCanvas_ChildArea" presStyleCnt="0"/>
      <dgm:spPr/>
    </dgm:pt>
    <dgm:pt modelId="{DE053B93-3D9A-3549-9C28-E4955991DE43}" type="pres">
      <dgm:prSet presAssocID="{C4072181-76ED-2F4E-A822-5A9EDFFF978D}" presName="fulcrum" presStyleLbl="alignAccFollowNode1" presStyleIdx="2" presStyleCnt="4">
        <dgm:style>
          <a:lnRef idx="1">
            <a:schemeClr val="accent3"/>
          </a:lnRef>
          <a:fillRef idx="2">
            <a:schemeClr val="accent3"/>
          </a:fillRef>
          <a:effectRef idx="1">
            <a:schemeClr val="accent3"/>
          </a:effectRef>
          <a:fontRef idx="minor">
            <a:schemeClr val="dk1"/>
          </a:fontRef>
        </dgm:style>
      </dgm:prSet>
      <dgm:spPr/>
    </dgm:pt>
    <dgm:pt modelId="{A88447ED-5C29-874A-B50F-E9ADAF9353C8}" type="pres">
      <dgm:prSet presAssocID="{C4072181-76ED-2F4E-A822-5A9EDFFF978D}" presName="balance_34" presStyleLbl="alignAccFollowNode1" presStyleIdx="3" presStyleCnt="4">
        <dgm:presLayoutVars>
          <dgm:bulletEnabled val="1"/>
        </dgm:presLayoutVars>
        <dgm:style>
          <a:lnRef idx="1">
            <a:schemeClr val="accent3"/>
          </a:lnRef>
          <a:fillRef idx="2">
            <a:schemeClr val="accent3"/>
          </a:fillRef>
          <a:effectRef idx="1">
            <a:schemeClr val="accent3"/>
          </a:effectRef>
          <a:fontRef idx="minor">
            <a:schemeClr val="dk1"/>
          </a:fontRef>
        </dgm:style>
      </dgm:prSet>
      <dgm:spPr/>
    </dgm:pt>
    <dgm:pt modelId="{760C2604-C26D-8B4E-81E6-19B933134E7F}" type="pres">
      <dgm:prSet presAssocID="{C4072181-76ED-2F4E-A822-5A9EDFFF978D}" presName="right_34_1" presStyleLbl="node1" presStyleIdx="0" presStyleCnt="7">
        <dgm:presLayoutVars>
          <dgm:bulletEnabled val="1"/>
        </dgm:presLayoutVars>
      </dgm:prSet>
      <dgm:spPr/>
    </dgm:pt>
    <dgm:pt modelId="{2A9E6579-DA9B-B74A-8553-6A1235AB143C}" type="pres">
      <dgm:prSet presAssocID="{C4072181-76ED-2F4E-A822-5A9EDFFF978D}" presName="right_34_2" presStyleLbl="node1" presStyleIdx="1" presStyleCnt="7">
        <dgm:presLayoutVars>
          <dgm:bulletEnabled val="1"/>
        </dgm:presLayoutVars>
      </dgm:prSet>
      <dgm:spPr/>
    </dgm:pt>
    <dgm:pt modelId="{9306425E-13A5-C44D-85C3-BE42963DEB52}" type="pres">
      <dgm:prSet presAssocID="{C4072181-76ED-2F4E-A822-5A9EDFFF978D}" presName="right_34_3" presStyleLbl="node1" presStyleIdx="2" presStyleCnt="7">
        <dgm:presLayoutVars>
          <dgm:bulletEnabled val="1"/>
        </dgm:presLayoutVars>
      </dgm:prSet>
      <dgm:spPr/>
    </dgm:pt>
    <dgm:pt modelId="{D4D5E5A2-CB60-FC43-AA2A-12D70C268A6B}" type="pres">
      <dgm:prSet presAssocID="{C4072181-76ED-2F4E-A822-5A9EDFFF978D}" presName="right_34_4" presStyleLbl="node1" presStyleIdx="3" presStyleCnt="7">
        <dgm:presLayoutVars>
          <dgm:bulletEnabled val="1"/>
        </dgm:presLayoutVars>
      </dgm:prSet>
      <dgm:spPr/>
    </dgm:pt>
    <dgm:pt modelId="{E65A9F38-3492-E74F-901D-C6417F51EDA8}" type="pres">
      <dgm:prSet presAssocID="{C4072181-76ED-2F4E-A822-5A9EDFFF978D}" presName="left_34_1" presStyleLbl="node1" presStyleIdx="4" presStyleCnt="7">
        <dgm:presLayoutVars>
          <dgm:bulletEnabled val="1"/>
        </dgm:presLayoutVars>
      </dgm:prSet>
      <dgm:spPr/>
    </dgm:pt>
    <dgm:pt modelId="{D91F77BE-E98D-A440-A945-C9C11E42FCCB}" type="pres">
      <dgm:prSet presAssocID="{C4072181-76ED-2F4E-A822-5A9EDFFF978D}" presName="left_34_2" presStyleLbl="node1" presStyleIdx="5" presStyleCnt="7">
        <dgm:presLayoutVars>
          <dgm:bulletEnabled val="1"/>
        </dgm:presLayoutVars>
      </dgm:prSet>
      <dgm:spPr/>
    </dgm:pt>
    <dgm:pt modelId="{0D025559-56FD-224C-9DDE-E75EAE1C38C4}" type="pres">
      <dgm:prSet presAssocID="{C4072181-76ED-2F4E-A822-5A9EDFFF978D}" presName="left_34_3" presStyleLbl="node1" presStyleIdx="6" presStyleCnt="7">
        <dgm:presLayoutVars>
          <dgm:bulletEnabled val="1"/>
        </dgm:presLayoutVars>
      </dgm:prSet>
      <dgm:spPr/>
    </dgm:pt>
  </dgm:ptLst>
  <dgm:cxnLst>
    <dgm:cxn modelId="{BE5CAE0B-DBEF-B749-AAE4-FE727A0AE656}" srcId="{22A24AFD-D4ED-6941-ADA7-24E86D24904D}" destId="{01EC0F2B-098B-284F-BCCF-0C1AEB7CC043}" srcOrd="1" destOrd="0" parTransId="{7056878A-7FEC-464F-A531-41E104223AD9}" sibTransId="{ABEB3F8D-6D47-EE44-8E54-DE919B130167}"/>
    <dgm:cxn modelId="{E0335A0D-F0EF-CC48-8917-AD91102B983D}" type="presOf" srcId="{01EC0F2B-098B-284F-BCCF-0C1AEB7CC043}" destId="{D91F77BE-E98D-A440-A945-C9C11E42FCCB}" srcOrd="0" destOrd="0" presId="urn:microsoft.com/office/officeart/2005/8/layout/balance1"/>
    <dgm:cxn modelId="{2F21CE15-CD93-8944-977A-CCF712FDEE0B}" type="presOf" srcId="{9173B84E-E277-B145-A66F-13CD45234385}" destId="{3AD14F0A-BD53-8945-BAFA-33D45E915F6A}" srcOrd="0" destOrd="0" presId="urn:microsoft.com/office/officeart/2005/8/layout/balance1"/>
    <dgm:cxn modelId="{0244C11D-09A3-2446-A1ED-BEE6FA11D641}" srcId="{9173B84E-E277-B145-A66F-13CD45234385}" destId="{0209B467-C943-0240-90CC-706E9174D931}" srcOrd="2" destOrd="0" parTransId="{8B63D5D8-6165-254A-81F7-908A03869E30}" sibTransId="{71F3DFAF-3D03-5744-BCF1-D87C191FA220}"/>
    <dgm:cxn modelId="{B79F8836-2683-7344-A60C-7FEA80077CEA}" srcId="{22A24AFD-D4ED-6941-ADA7-24E86D24904D}" destId="{803AAADB-2E38-3B4E-9474-E284E42070FE}" srcOrd="0" destOrd="0" parTransId="{DA29B15C-0DDE-FE47-B449-B7A41798E024}" sibTransId="{65CC726D-E5EF-F14D-BE29-7EDC30C95E0F}"/>
    <dgm:cxn modelId="{6B66EF3E-8D8C-3E4E-9771-5D77494488C7}" type="presOf" srcId="{803AAADB-2E38-3B4E-9474-E284E42070FE}" destId="{E65A9F38-3492-E74F-901D-C6417F51EDA8}" srcOrd="0" destOrd="0" presId="urn:microsoft.com/office/officeart/2005/8/layout/balance1"/>
    <dgm:cxn modelId="{08A55145-467C-4747-A93F-37C526DB969F}" type="presOf" srcId="{7341EE6E-1B67-8147-9FA3-FEF3BF5D773E}" destId="{D4D5E5A2-CB60-FC43-AA2A-12D70C268A6B}" srcOrd="0" destOrd="0" presId="urn:microsoft.com/office/officeart/2005/8/layout/balance1"/>
    <dgm:cxn modelId="{1E1BDC4E-5A71-764D-A354-96B86596A2DB}" srcId="{C4072181-76ED-2F4E-A822-5A9EDFFF978D}" destId="{22A24AFD-D4ED-6941-ADA7-24E86D24904D}" srcOrd="0" destOrd="0" parTransId="{2012A85F-37A1-BF45-9955-D60035F9014B}" sibTransId="{7595E7FE-651F-D244-9AF4-43CE739A79C2}"/>
    <dgm:cxn modelId="{F5636155-8BB7-2741-8F46-701C2A707B44}" srcId="{9173B84E-E277-B145-A66F-13CD45234385}" destId="{7341EE6E-1B67-8147-9FA3-FEF3BF5D773E}" srcOrd="3" destOrd="0" parTransId="{02B6C90C-224D-B848-A349-0AB30F58B07D}" sibTransId="{C438EABC-C0E7-9747-9A95-29A7CC9B8693}"/>
    <dgm:cxn modelId="{5DF15456-2F0E-CC46-9C10-21D1E42136D3}" srcId="{22A24AFD-D4ED-6941-ADA7-24E86D24904D}" destId="{4253AB0B-029C-CB4F-871F-48066FAFE39B}" srcOrd="2" destOrd="0" parTransId="{83BD036D-4D1C-6F47-94A4-BBD9459525D2}" sibTransId="{B894D212-5134-C14F-B090-D456D5F35BC3}"/>
    <dgm:cxn modelId="{F0342260-0FD2-EE43-9262-634122511439}" type="presOf" srcId="{53502409-4418-3C48-AE27-1335316D954A}" destId="{760C2604-C26D-8B4E-81E6-19B933134E7F}" srcOrd="0" destOrd="0" presId="urn:microsoft.com/office/officeart/2005/8/layout/balance1"/>
    <dgm:cxn modelId="{B5AD886A-17DE-2F48-BB2D-8144628BE8C2}" type="presOf" srcId="{4253AB0B-029C-CB4F-871F-48066FAFE39B}" destId="{0D025559-56FD-224C-9DDE-E75EAE1C38C4}" srcOrd="0" destOrd="0" presId="urn:microsoft.com/office/officeart/2005/8/layout/balance1"/>
    <dgm:cxn modelId="{84064687-8ADF-7943-A2AA-60217C8E8544}" type="presOf" srcId="{0209B467-C943-0240-90CC-706E9174D931}" destId="{9306425E-13A5-C44D-85C3-BE42963DEB52}" srcOrd="0" destOrd="0" presId="urn:microsoft.com/office/officeart/2005/8/layout/balance1"/>
    <dgm:cxn modelId="{81355D94-5763-E84A-BF2A-C69E1651F20A}" type="presOf" srcId="{22A24AFD-D4ED-6941-ADA7-24E86D24904D}" destId="{E4D87250-2A1B-8D43-9A0B-DB3D05685AB1}" srcOrd="0" destOrd="0" presId="urn:microsoft.com/office/officeart/2005/8/layout/balance1"/>
    <dgm:cxn modelId="{9D1916A4-3FC6-7C49-B9A4-0CB10D978C8F}" srcId="{9173B84E-E277-B145-A66F-13CD45234385}" destId="{53502409-4418-3C48-AE27-1335316D954A}" srcOrd="0" destOrd="0" parTransId="{DE5D64DB-6D56-A64A-89BC-2E01FF1C859B}" sibTransId="{D0F17E4F-4C54-B14E-9BD1-F4E496433638}"/>
    <dgm:cxn modelId="{36632FC6-D99B-FA48-A75B-5F40A403FD84}" type="presOf" srcId="{C4072181-76ED-2F4E-A822-5A9EDFFF978D}" destId="{F1D6077B-0CB8-8C4F-883B-CC5FB3736833}" srcOrd="0" destOrd="0" presId="urn:microsoft.com/office/officeart/2005/8/layout/balance1"/>
    <dgm:cxn modelId="{45F405E1-2AF5-6645-B89D-0CA111BE910C}" srcId="{C4072181-76ED-2F4E-A822-5A9EDFFF978D}" destId="{9173B84E-E277-B145-A66F-13CD45234385}" srcOrd="1" destOrd="0" parTransId="{FC50F5CA-EF70-9C4C-A582-4FD55404F222}" sibTransId="{F47CA3CB-BC8A-4946-8B1E-38F65E941F64}"/>
    <dgm:cxn modelId="{3AD094E8-25EB-7246-9989-9B1944857CD2}" srcId="{9173B84E-E277-B145-A66F-13CD45234385}" destId="{56CE8AD4-D409-8545-8FAE-F56A77EBCC72}" srcOrd="1" destOrd="0" parTransId="{045A4E60-CA71-7844-9BF9-A7E0A0E714DF}" sibTransId="{8C7DE156-33F0-F848-AC8D-EBD079666B08}"/>
    <dgm:cxn modelId="{8D2B36FC-A4EF-3440-A68E-8F96D44E46B7}" type="presOf" srcId="{56CE8AD4-D409-8545-8FAE-F56A77EBCC72}" destId="{2A9E6579-DA9B-B74A-8553-6A1235AB143C}" srcOrd="0" destOrd="0" presId="urn:microsoft.com/office/officeart/2005/8/layout/balance1"/>
    <dgm:cxn modelId="{C5818864-B693-1648-8E40-55D5A351B70C}" type="presParOf" srcId="{F1D6077B-0CB8-8C4F-883B-CC5FB3736833}" destId="{DB10A807-C629-204B-BCFE-CA701481684E}" srcOrd="0" destOrd="0" presId="urn:microsoft.com/office/officeart/2005/8/layout/balance1"/>
    <dgm:cxn modelId="{26D093E0-B951-9443-B1B6-1D22083947D0}" type="presParOf" srcId="{F1D6077B-0CB8-8C4F-883B-CC5FB3736833}" destId="{0B0D2DC7-1B24-A242-AA96-DF896DB2E2CC}" srcOrd="1" destOrd="0" presId="urn:microsoft.com/office/officeart/2005/8/layout/balance1"/>
    <dgm:cxn modelId="{1C96FB40-62D1-294D-B796-2F521C3B56CF}" type="presParOf" srcId="{0B0D2DC7-1B24-A242-AA96-DF896DB2E2CC}" destId="{E4D87250-2A1B-8D43-9A0B-DB3D05685AB1}" srcOrd="0" destOrd="0" presId="urn:microsoft.com/office/officeart/2005/8/layout/balance1"/>
    <dgm:cxn modelId="{82B9D14F-ADA8-0B42-A4DC-2EA0884A0FB6}" type="presParOf" srcId="{0B0D2DC7-1B24-A242-AA96-DF896DB2E2CC}" destId="{3AD14F0A-BD53-8945-BAFA-33D45E915F6A}" srcOrd="1" destOrd="0" presId="urn:microsoft.com/office/officeart/2005/8/layout/balance1"/>
    <dgm:cxn modelId="{9C188024-576B-D64A-91C1-9736C2634D7B}" type="presParOf" srcId="{F1D6077B-0CB8-8C4F-883B-CC5FB3736833}" destId="{D2D23328-7832-E54F-A67D-702C71924C08}" srcOrd="2" destOrd="0" presId="urn:microsoft.com/office/officeart/2005/8/layout/balance1"/>
    <dgm:cxn modelId="{0459F964-3BD4-F64B-B77D-F6C032F64BBB}" type="presParOf" srcId="{D2D23328-7832-E54F-A67D-702C71924C08}" destId="{4E82469D-0590-0945-A531-DF892CCA2633}" srcOrd="0" destOrd="0" presId="urn:microsoft.com/office/officeart/2005/8/layout/balance1"/>
    <dgm:cxn modelId="{40EE5485-5E90-1C41-8CAE-327CDC8EEC48}" type="presParOf" srcId="{D2D23328-7832-E54F-A67D-702C71924C08}" destId="{DE053B93-3D9A-3549-9C28-E4955991DE43}" srcOrd="1" destOrd="0" presId="urn:microsoft.com/office/officeart/2005/8/layout/balance1"/>
    <dgm:cxn modelId="{627F7271-6580-3C40-AA71-FE5310A9EE0A}" type="presParOf" srcId="{D2D23328-7832-E54F-A67D-702C71924C08}" destId="{A88447ED-5C29-874A-B50F-E9ADAF9353C8}" srcOrd="2" destOrd="0" presId="urn:microsoft.com/office/officeart/2005/8/layout/balance1"/>
    <dgm:cxn modelId="{D93DE77B-28F3-E349-AAB7-88AE225AC2BD}" type="presParOf" srcId="{D2D23328-7832-E54F-A67D-702C71924C08}" destId="{760C2604-C26D-8B4E-81E6-19B933134E7F}" srcOrd="3" destOrd="0" presId="urn:microsoft.com/office/officeart/2005/8/layout/balance1"/>
    <dgm:cxn modelId="{4F7392C1-8C5B-0B40-A12A-6137143EA111}" type="presParOf" srcId="{D2D23328-7832-E54F-A67D-702C71924C08}" destId="{2A9E6579-DA9B-B74A-8553-6A1235AB143C}" srcOrd="4" destOrd="0" presId="urn:microsoft.com/office/officeart/2005/8/layout/balance1"/>
    <dgm:cxn modelId="{A110F243-EB4F-564C-8573-3C0BAFFC3D02}" type="presParOf" srcId="{D2D23328-7832-E54F-A67D-702C71924C08}" destId="{9306425E-13A5-C44D-85C3-BE42963DEB52}" srcOrd="5" destOrd="0" presId="urn:microsoft.com/office/officeart/2005/8/layout/balance1"/>
    <dgm:cxn modelId="{55D103CD-A315-A04A-902C-E7F59AAE9CBB}" type="presParOf" srcId="{D2D23328-7832-E54F-A67D-702C71924C08}" destId="{D4D5E5A2-CB60-FC43-AA2A-12D70C268A6B}" srcOrd="6" destOrd="0" presId="urn:microsoft.com/office/officeart/2005/8/layout/balance1"/>
    <dgm:cxn modelId="{D19E9513-BE12-8D4F-9EEF-C42D4CBE340D}" type="presParOf" srcId="{D2D23328-7832-E54F-A67D-702C71924C08}" destId="{E65A9F38-3492-E74F-901D-C6417F51EDA8}" srcOrd="7" destOrd="0" presId="urn:microsoft.com/office/officeart/2005/8/layout/balance1"/>
    <dgm:cxn modelId="{13083BA7-A70F-9B49-8BDF-D5FF8FBAEE4B}" type="presParOf" srcId="{D2D23328-7832-E54F-A67D-702C71924C08}" destId="{D91F77BE-E98D-A440-A945-C9C11E42FCCB}" srcOrd="8" destOrd="0" presId="urn:microsoft.com/office/officeart/2005/8/layout/balance1"/>
    <dgm:cxn modelId="{34BE9895-346D-C040-A77E-0C9E0E819144}" type="presParOf" srcId="{D2D23328-7832-E54F-A67D-702C71924C08}" destId="{0D025559-56FD-224C-9DDE-E75EAE1C38C4}" srcOrd="9"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DDC935-CA96-554F-9EA3-6389C4D8FB75}" type="doc">
      <dgm:prSet loTypeId="urn:microsoft.com/office/officeart/2005/8/layout/arrow2" loCatId="" qsTypeId="urn:microsoft.com/office/officeart/2005/8/quickstyle/simple1" qsCatId="simple" csTypeId="urn:microsoft.com/office/officeart/2005/8/colors/colorful2" csCatId="colorful" phldr="1"/>
      <dgm:spPr/>
      <dgm:t>
        <a:bodyPr/>
        <a:lstStyle/>
        <a:p>
          <a:endParaRPr lang="en-US"/>
        </a:p>
      </dgm:t>
    </dgm:pt>
    <dgm:pt modelId="{18EDDBBE-BE52-2E4E-9317-37867FE5BD94}">
      <dgm:prSet phldrT="[Text]"/>
      <dgm:spPr/>
      <dgm:t>
        <a:bodyPr/>
        <a:lstStyle/>
        <a:p>
          <a:pPr>
            <a:buNone/>
          </a:pPr>
          <a:r>
            <a:rPr lang="en-CA" b="1" dirty="0"/>
            <a:t>Aug 2025  - Apr 2026</a:t>
          </a:r>
        </a:p>
        <a:p>
          <a:pPr>
            <a:buNone/>
          </a:pPr>
          <a:r>
            <a:rPr lang="en-CA" dirty="0"/>
            <a:t>-Draft 1 of ACL Protocol</a:t>
          </a:r>
          <a:endParaRPr lang="en-US" dirty="0"/>
        </a:p>
      </dgm:t>
    </dgm:pt>
    <dgm:pt modelId="{BADB9118-5F1C-564D-90F3-E2098CBF274A}" type="parTrans" cxnId="{D9499576-3D0C-A24D-A20D-97EDAB4B6674}">
      <dgm:prSet/>
      <dgm:spPr/>
      <dgm:t>
        <a:bodyPr/>
        <a:lstStyle/>
        <a:p>
          <a:endParaRPr lang="en-US"/>
        </a:p>
      </dgm:t>
    </dgm:pt>
    <dgm:pt modelId="{9D67C80A-E0C3-084A-B80F-83E48574D0AA}" type="sibTrans" cxnId="{D9499576-3D0C-A24D-A20D-97EDAB4B6674}">
      <dgm:prSet/>
      <dgm:spPr/>
      <dgm:t>
        <a:bodyPr/>
        <a:lstStyle/>
        <a:p>
          <a:endParaRPr lang="en-US"/>
        </a:p>
      </dgm:t>
    </dgm:pt>
    <dgm:pt modelId="{465E5EC2-A615-1B4E-9260-92AC2335E354}">
      <dgm:prSet phldrT="[Text]"/>
      <dgm:spPr/>
      <dgm:t>
        <a:bodyPr/>
        <a:lstStyle/>
        <a:p>
          <a:pPr>
            <a:buNone/>
          </a:pPr>
          <a:r>
            <a:rPr lang="en-CA" b="1" dirty="0"/>
            <a:t>Jan - April 2026</a:t>
          </a:r>
        </a:p>
        <a:p>
          <a:pPr>
            <a:buNone/>
          </a:pPr>
          <a:r>
            <a:rPr lang="en-CA" dirty="0"/>
            <a:t>-Collaboration with working group </a:t>
          </a:r>
        </a:p>
        <a:p>
          <a:pPr>
            <a:buNone/>
          </a:pPr>
          <a:r>
            <a:rPr lang="en-CA" dirty="0"/>
            <a:t>-Work to align with DS</a:t>
          </a:r>
          <a:endParaRPr lang="en-US" dirty="0"/>
        </a:p>
      </dgm:t>
    </dgm:pt>
    <dgm:pt modelId="{03FFEC12-2813-9F44-B339-C4E9F6107949}" type="parTrans" cxnId="{699817A4-79FD-794F-9094-E7FF7C7AFDDC}">
      <dgm:prSet/>
      <dgm:spPr/>
      <dgm:t>
        <a:bodyPr/>
        <a:lstStyle/>
        <a:p>
          <a:endParaRPr lang="en-US"/>
        </a:p>
      </dgm:t>
    </dgm:pt>
    <dgm:pt modelId="{7C786097-93A6-724D-95E9-98736942AF84}" type="sibTrans" cxnId="{699817A4-79FD-794F-9094-E7FF7C7AFDDC}">
      <dgm:prSet/>
      <dgm:spPr/>
      <dgm:t>
        <a:bodyPr/>
        <a:lstStyle/>
        <a:p>
          <a:endParaRPr lang="en-US"/>
        </a:p>
      </dgm:t>
    </dgm:pt>
    <dgm:pt modelId="{9B9E4CAF-B0F8-7D4D-B52E-98DD844D701E}">
      <dgm:prSet phldrT="[Text]"/>
      <dgm:spPr/>
      <dgm:t>
        <a:bodyPr/>
        <a:lstStyle/>
        <a:p>
          <a:pPr>
            <a:buNone/>
          </a:pPr>
          <a:r>
            <a:rPr lang="en-CA" b="1" dirty="0"/>
            <a:t>April 2026</a:t>
          </a:r>
        </a:p>
        <a:p>
          <a:pPr>
            <a:buNone/>
          </a:pPr>
          <a:r>
            <a:rPr lang="en-CA" dirty="0"/>
            <a:t>-Version 1 of ACL Protocol</a:t>
          </a:r>
          <a:endParaRPr lang="en-US" dirty="0"/>
        </a:p>
      </dgm:t>
    </dgm:pt>
    <dgm:pt modelId="{42AEEAA0-A776-B740-BD89-5432A5B22953}" type="parTrans" cxnId="{8C3451B0-F20E-A140-8AFA-B4A96444779A}">
      <dgm:prSet/>
      <dgm:spPr/>
      <dgm:t>
        <a:bodyPr/>
        <a:lstStyle/>
        <a:p>
          <a:endParaRPr lang="en-US"/>
        </a:p>
      </dgm:t>
    </dgm:pt>
    <dgm:pt modelId="{869BA8FD-AD43-FE4F-A4AE-D2DEE5D196C0}" type="sibTrans" cxnId="{8C3451B0-F20E-A140-8AFA-B4A96444779A}">
      <dgm:prSet/>
      <dgm:spPr/>
      <dgm:t>
        <a:bodyPr/>
        <a:lstStyle/>
        <a:p>
          <a:endParaRPr lang="en-US"/>
        </a:p>
      </dgm:t>
    </dgm:pt>
    <dgm:pt modelId="{8FC392BF-2CA4-B84D-8764-A9ABC7D95BC0}">
      <dgm:prSet/>
      <dgm:spPr/>
      <dgm:t>
        <a:bodyPr/>
        <a:lstStyle/>
        <a:p>
          <a:r>
            <a:rPr lang="en-US" b="1" dirty="0"/>
            <a:t>Ongoing</a:t>
          </a:r>
        </a:p>
        <a:p>
          <a:r>
            <a:rPr lang="en-US" dirty="0"/>
            <a:t>-implementation</a:t>
          </a:r>
        </a:p>
        <a:p>
          <a:r>
            <a:rPr lang="en-US" dirty="0"/>
            <a:t>-staff education</a:t>
          </a:r>
        </a:p>
        <a:p>
          <a:r>
            <a:rPr lang="en-US" dirty="0"/>
            <a:t>-staff support</a:t>
          </a:r>
        </a:p>
        <a:p>
          <a:r>
            <a:rPr lang="en-US" dirty="0"/>
            <a:t>-scaling to all target markets</a:t>
          </a:r>
        </a:p>
        <a:p>
          <a:r>
            <a:rPr lang="en-US" dirty="0"/>
            <a:t>-protocol iterations</a:t>
          </a:r>
        </a:p>
      </dgm:t>
    </dgm:pt>
    <dgm:pt modelId="{18E08EE6-7D7E-D44A-9395-AB7D3851FC1B}" type="parTrans" cxnId="{23FA094A-CA8E-2B46-A023-3AB6BCE4F7D9}">
      <dgm:prSet/>
      <dgm:spPr/>
      <dgm:t>
        <a:bodyPr/>
        <a:lstStyle/>
        <a:p>
          <a:endParaRPr lang="en-US"/>
        </a:p>
      </dgm:t>
    </dgm:pt>
    <dgm:pt modelId="{76145CA7-B18E-4944-BEE3-AD1E7D801BFE}" type="sibTrans" cxnId="{23FA094A-CA8E-2B46-A023-3AB6BCE4F7D9}">
      <dgm:prSet/>
      <dgm:spPr/>
      <dgm:t>
        <a:bodyPr/>
        <a:lstStyle/>
        <a:p>
          <a:endParaRPr lang="en-US"/>
        </a:p>
      </dgm:t>
    </dgm:pt>
    <dgm:pt modelId="{418F65F1-38CD-794D-BFCE-3E768A81F2E6}" type="pres">
      <dgm:prSet presAssocID="{18DDC935-CA96-554F-9EA3-6389C4D8FB75}" presName="arrowDiagram" presStyleCnt="0">
        <dgm:presLayoutVars>
          <dgm:chMax val="5"/>
          <dgm:dir/>
          <dgm:resizeHandles val="exact"/>
        </dgm:presLayoutVars>
      </dgm:prSet>
      <dgm:spPr/>
    </dgm:pt>
    <dgm:pt modelId="{FB9E4C12-5BEA-904C-8A4D-963EBEEF2246}" type="pres">
      <dgm:prSet presAssocID="{18DDC935-CA96-554F-9EA3-6389C4D8FB75}" presName="arrow" presStyleLbl="bgShp" presStyleIdx="0" presStyleCnt="1"/>
      <dgm:spPr/>
    </dgm:pt>
    <dgm:pt modelId="{A1754352-0BD2-B74A-B15E-46EF685CD0FF}" type="pres">
      <dgm:prSet presAssocID="{18DDC935-CA96-554F-9EA3-6389C4D8FB75}" presName="arrowDiagram4" presStyleCnt="0"/>
      <dgm:spPr/>
    </dgm:pt>
    <dgm:pt modelId="{F555403C-62D9-EC47-86C9-3B029FD01DD4}" type="pres">
      <dgm:prSet presAssocID="{18EDDBBE-BE52-2E4E-9317-37867FE5BD94}" presName="bullet4a" presStyleLbl="node1" presStyleIdx="0" presStyleCnt="4"/>
      <dgm:spPr/>
    </dgm:pt>
    <dgm:pt modelId="{0DB68A14-7682-CE4E-8AE6-9E54B5255CF9}" type="pres">
      <dgm:prSet presAssocID="{18EDDBBE-BE52-2E4E-9317-37867FE5BD94}" presName="textBox4a" presStyleLbl="revTx" presStyleIdx="0" presStyleCnt="4">
        <dgm:presLayoutVars>
          <dgm:bulletEnabled val="1"/>
        </dgm:presLayoutVars>
      </dgm:prSet>
      <dgm:spPr/>
    </dgm:pt>
    <dgm:pt modelId="{B1D994DA-D6AF-6C4A-8580-C95DA386B801}" type="pres">
      <dgm:prSet presAssocID="{465E5EC2-A615-1B4E-9260-92AC2335E354}" presName="bullet4b" presStyleLbl="node1" presStyleIdx="1" presStyleCnt="4"/>
      <dgm:spPr/>
    </dgm:pt>
    <dgm:pt modelId="{7EC6D17C-9EA3-3344-A2CC-92A10A0EAF8C}" type="pres">
      <dgm:prSet presAssocID="{465E5EC2-A615-1B4E-9260-92AC2335E354}" presName="textBox4b" presStyleLbl="revTx" presStyleIdx="1" presStyleCnt="4">
        <dgm:presLayoutVars>
          <dgm:bulletEnabled val="1"/>
        </dgm:presLayoutVars>
      </dgm:prSet>
      <dgm:spPr/>
    </dgm:pt>
    <dgm:pt modelId="{2DE22D06-2299-B949-A520-E1478440B4F6}" type="pres">
      <dgm:prSet presAssocID="{9B9E4CAF-B0F8-7D4D-B52E-98DD844D701E}" presName="bullet4c" presStyleLbl="node1" presStyleIdx="2" presStyleCnt="4"/>
      <dgm:spPr/>
    </dgm:pt>
    <dgm:pt modelId="{AE61181F-19FF-A94C-A4EE-452FB816616C}" type="pres">
      <dgm:prSet presAssocID="{9B9E4CAF-B0F8-7D4D-B52E-98DD844D701E}" presName="textBox4c" presStyleLbl="revTx" presStyleIdx="2" presStyleCnt="4">
        <dgm:presLayoutVars>
          <dgm:bulletEnabled val="1"/>
        </dgm:presLayoutVars>
      </dgm:prSet>
      <dgm:spPr/>
    </dgm:pt>
    <dgm:pt modelId="{CF5030EC-C676-7C44-9666-83BDA7AFE7C8}" type="pres">
      <dgm:prSet presAssocID="{8FC392BF-2CA4-B84D-8764-A9ABC7D95BC0}" presName="bullet4d" presStyleLbl="node1" presStyleIdx="3" presStyleCnt="4"/>
      <dgm:spPr/>
    </dgm:pt>
    <dgm:pt modelId="{2C3B8F23-380D-CA4F-8B12-9E9A59E98977}" type="pres">
      <dgm:prSet presAssocID="{8FC392BF-2CA4-B84D-8764-A9ABC7D95BC0}" presName="textBox4d" presStyleLbl="revTx" presStyleIdx="3" presStyleCnt="4" custScaleX="127068" custLinFactNeighborX="12752">
        <dgm:presLayoutVars>
          <dgm:bulletEnabled val="1"/>
        </dgm:presLayoutVars>
      </dgm:prSet>
      <dgm:spPr/>
    </dgm:pt>
  </dgm:ptLst>
  <dgm:cxnLst>
    <dgm:cxn modelId="{8BDF0A2F-FA45-B643-814C-6D88B8AD468B}" type="presOf" srcId="{9B9E4CAF-B0F8-7D4D-B52E-98DD844D701E}" destId="{AE61181F-19FF-A94C-A4EE-452FB816616C}" srcOrd="0" destOrd="0" presId="urn:microsoft.com/office/officeart/2005/8/layout/arrow2"/>
    <dgm:cxn modelId="{5B9A7B3A-C9FE-FD4B-80C2-3795828ED148}" type="presOf" srcId="{465E5EC2-A615-1B4E-9260-92AC2335E354}" destId="{7EC6D17C-9EA3-3344-A2CC-92A10A0EAF8C}" srcOrd="0" destOrd="0" presId="urn:microsoft.com/office/officeart/2005/8/layout/arrow2"/>
    <dgm:cxn modelId="{B88B0E3D-4401-5D4D-A64D-F0E1A95C715B}" type="presOf" srcId="{18EDDBBE-BE52-2E4E-9317-37867FE5BD94}" destId="{0DB68A14-7682-CE4E-8AE6-9E54B5255CF9}" srcOrd="0" destOrd="0" presId="urn:microsoft.com/office/officeart/2005/8/layout/arrow2"/>
    <dgm:cxn modelId="{23FA094A-CA8E-2B46-A023-3AB6BCE4F7D9}" srcId="{18DDC935-CA96-554F-9EA3-6389C4D8FB75}" destId="{8FC392BF-2CA4-B84D-8764-A9ABC7D95BC0}" srcOrd="3" destOrd="0" parTransId="{18E08EE6-7D7E-D44A-9395-AB7D3851FC1B}" sibTransId="{76145CA7-B18E-4944-BEE3-AD1E7D801BFE}"/>
    <dgm:cxn modelId="{75F80B4B-5D7E-E847-AA13-A18096CBB407}" type="presOf" srcId="{8FC392BF-2CA4-B84D-8764-A9ABC7D95BC0}" destId="{2C3B8F23-380D-CA4F-8B12-9E9A59E98977}" srcOrd="0" destOrd="0" presId="urn:microsoft.com/office/officeart/2005/8/layout/arrow2"/>
    <dgm:cxn modelId="{D9499576-3D0C-A24D-A20D-97EDAB4B6674}" srcId="{18DDC935-CA96-554F-9EA3-6389C4D8FB75}" destId="{18EDDBBE-BE52-2E4E-9317-37867FE5BD94}" srcOrd="0" destOrd="0" parTransId="{BADB9118-5F1C-564D-90F3-E2098CBF274A}" sibTransId="{9D67C80A-E0C3-084A-B80F-83E48574D0AA}"/>
    <dgm:cxn modelId="{699817A4-79FD-794F-9094-E7FF7C7AFDDC}" srcId="{18DDC935-CA96-554F-9EA3-6389C4D8FB75}" destId="{465E5EC2-A615-1B4E-9260-92AC2335E354}" srcOrd="1" destOrd="0" parTransId="{03FFEC12-2813-9F44-B339-C4E9F6107949}" sibTransId="{7C786097-93A6-724D-95E9-98736942AF84}"/>
    <dgm:cxn modelId="{8C3451B0-F20E-A140-8AFA-B4A96444779A}" srcId="{18DDC935-CA96-554F-9EA3-6389C4D8FB75}" destId="{9B9E4CAF-B0F8-7D4D-B52E-98DD844D701E}" srcOrd="2" destOrd="0" parTransId="{42AEEAA0-A776-B740-BD89-5432A5B22953}" sibTransId="{869BA8FD-AD43-FE4F-A4AE-D2DEE5D196C0}"/>
    <dgm:cxn modelId="{0B819CD8-8F53-A740-A4D8-F4C7DD15DE80}" type="presOf" srcId="{18DDC935-CA96-554F-9EA3-6389C4D8FB75}" destId="{418F65F1-38CD-794D-BFCE-3E768A81F2E6}" srcOrd="0" destOrd="0" presId="urn:microsoft.com/office/officeart/2005/8/layout/arrow2"/>
    <dgm:cxn modelId="{F7D28AA5-F98F-E64E-B28D-0F5DE2C67E7C}" type="presParOf" srcId="{418F65F1-38CD-794D-BFCE-3E768A81F2E6}" destId="{FB9E4C12-5BEA-904C-8A4D-963EBEEF2246}" srcOrd="0" destOrd="0" presId="urn:microsoft.com/office/officeart/2005/8/layout/arrow2"/>
    <dgm:cxn modelId="{FACC44AD-362F-C84B-8708-D2821BEDFC64}" type="presParOf" srcId="{418F65F1-38CD-794D-BFCE-3E768A81F2E6}" destId="{A1754352-0BD2-B74A-B15E-46EF685CD0FF}" srcOrd="1" destOrd="0" presId="urn:microsoft.com/office/officeart/2005/8/layout/arrow2"/>
    <dgm:cxn modelId="{2C3AEECC-548C-7541-8268-96C7014B05E9}" type="presParOf" srcId="{A1754352-0BD2-B74A-B15E-46EF685CD0FF}" destId="{F555403C-62D9-EC47-86C9-3B029FD01DD4}" srcOrd="0" destOrd="0" presId="urn:microsoft.com/office/officeart/2005/8/layout/arrow2"/>
    <dgm:cxn modelId="{0F3B3350-208A-ED42-A029-408715988061}" type="presParOf" srcId="{A1754352-0BD2-B74A-B15E-46EF685CD0FF}" destId="{0DB68A14-7682-CE4E-8AE6-9E54B5255CF9}" srcOrd="1" destOrd="0" presId="urn:microsoft.com/office/officeart/2005/8/layout/arrow2"/>
    <dgm:cxn modelId="{9A854121-E1D0-034B-A8AA-07056D0A9B81}" type="presParOf" srcId="{A1754352-0BD2-B74A-B15E-46EF685CD0FF}" destId="{B1D994DA-D6AF-6C4A-8580-C95DA386B801}" srcOrd="2" destOrd="0" presId="urn:microsoft.com/office/officeart/2005/8/layout/arrow2"/>
    <dgm:cxn modelId="{A1CACB78-79D3-D844-A6F9-4848C65680E8}" type="presParOf" srcId="{A1754352-0BD2-B74A-B15E-46EF685CD0FF}" destId="{7EC6D17C-9EA3-3344-A2CC-92A10A0EAF8C}" srcOrd="3" destOrd="0" presId="urn:microsoft.com/office/officeart/2005/8/layout/arrow2"/>
    <dgm:cxn modelId="{3993B730-7A7C-D74F-9CB1-923409362B59}" type="presParOf" srcId="{A1754352-0BD2-B74A-B15E-46EF685CD0FF}" destId="{2DE22D06-2299-B949-A520-E1478440B4F6}" srcOrd="4" destOrd="0" presId="urn:microsoft.com/office/officeart/2005/8/layout/arrow2"/>
    <dgm:cxn modelId="{C601B8CE-9974-3144-A01D-9A438DAB872F}" type="presParOf" srcId="{A1754352-0BD2-B74A-B15E-46EF685CD0FF}" destId="{AE61181F-19FF-A94C-A4EE-452FB816616C}" srcOrd="5" destOrd="0" presId="urn:microsoft.com/office/officeart/2005/8/layout/arrow2"/>
    <dgm:cxn modelId="{DA0D332C-C0BE-DC4F-90C5-C19BA6091DE0}" type="presParOf" srcId="{A1754352-0BD2-B74A-B15E-46EF685CD0FF}" destId="{CF5030EC-C676-7C44-9666-83BDA7AFE7C8}" srcOrd="6" destOrd="0" presId="urn:microsoft.com/office/officeart/2005/8/layout/arrow2"/>
    <dgm:cxn modelId="{57CD5978-7D88-C542-8C61-A8244AC6EFC2}" type="presParOf" srcId="{A1754352-0BD2-B74A-B15E-46EF685CD0FF}" destId="{2C3B8F23-380D-CA4F-8B12-9E9A59E98977}"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3D168C-A2FE-3E4C-A3BA-ED5C0C0D0CD2}">
      <dsp:nvSpPr>
        <dsp:cNvPr id="0" name=""/>
        <dsp:cNvSpPr/>
      </dsp:nvSpPr>
      <dsp:spPr>
        <a:xfrm>
          <a:off x="2343150" y="52685"/>
          <a:ext cx="2528887" cy="2528887"/>
        </a:xfrm>
        <a:prstGeom prst="ellipse">
          <a:avLst/>
        </a:prstGeom>
        <a:solidFill>
          <a:srgbClr val="FF0000">
            <a:alpha val="18778"/>
          </a:srgbClr>
        </a:soli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t>CSI Pacific</a:t>
          </a:r>
        </a:p>
        <a:p>
          <a:pPr marL="0" lvl="0" indent="0" algn="ctr" defTabSz="711200">
            <a:lnSpc>
              <a:spcPct val="90000"/>
            </a:lnSpc>
            <a:spcBef>
              <a:spcPct val="0"/>
            </a:spcBef>
            <a:spcAft>
              <a:spcPct val="35000"/>
            </a:spcAft>
            <a:buNone/>
          </a:pPr>
          <a:r>
            <a:rPr lang="en-US" sz="1300" kern="1200" dirty="0"/>
            <a:t>Strength &amp; Conditioning Coach</a:t>
          </a:r>
        </a:p>
        <a:p>
          <a:pPr marL="0" lvl="0" indent="0" algn="ctr" defTabSz="711200">
            <a:lnSpc>
              <a:spcPct val="90000"/>
            </a:lnSpc>
            <a:spcBef>
              <a:spcPct val="0"/>
            </a:spcBef>
            <a:spcAft>
              <a:spcPct val="35000"/>
            </a:spcAft>
            <a:buNone/>
          </a:pPr>
          <a:r>
            <a:rPr lang="en-US" sz="1300" kern="1200" dirty="0"/>
            <a:t>(2015 – Present)</a:t>
          </a:r>
        </a:p>
      </dsp:txBody>
      <dsp:txXfrm>
        <a:off x="2680335" y="495240"/>
        <a:ext cx="1854517" cy="1137999"/>
      </dsp:txXfrm>
    </dsp:sp>
    <dsp:sp modelId="{34D2F516-D27F-934A-8273-6A130FE3224D}">
      <dsp:nvSpPr>
        <dsp:cNvPr id="0" name=""/>
        <dsp:cNvSpPr/>
      </dsp:nvSpPr>
      <dsp:spPr>
        <a:xfrm>
          <a:off x="3255657" y="1633240"/>
          <a:ext cx="2528887" cy="2528887"/>
        </a:xfrm>
        <a:prstGeom prst="ellipse">
          <a:avLst/>
        </a:prstGeom>
        <a:solidFill>
          <a:schemeClr val="accent3">
            <a:alpha val="3054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t>MITACS</a:t>
          </a:r>
        </a:p>
        <a:p>
          <a:pPr marL="0" lvl="0" indent="0" algn="ctr" defTabSz="711200">
            <a:lnSpc>
              <a:spcPct val="90000"/>
            </a:lnSpc>
            <a:spcBef>
              <a:spcPct val="0"/>
            </a:spcBef>
            <a:spcAft>
              <a:spcPct val="35000"/>
            </a:spcAft>
            <a:buNone/>
          </a:pPr>
          <a:r>
            <a:rPr lang="en-US" sz="1300" kern="1200" dirty="0"/>
            <a:t>Accelerate Fellowship</a:t>
          </a:r>
        </a:p>
        <a:p>
          <a:pPr marL="0" lvl="0" indent="0" algn="ctr" defTabSz="711200">
            <a:lnSpc>
              <a:spcPct val="90000"/>
            </a:lnSpc>
            <a:spcBef>
              <a:spcPct val="0"/>
            </a:spcBef>
            <a:spcAft>
              <a:spcPct val="35000"/>
            </a:spcAft>
            <a:buNone/>
          </a:pPr>
          <a:r>
            <a:rPr lang="en-US" sz="1300" kern="1200" dirty="0"/>
            <a:t>(2024)</a:t>
          </a:r>
        </a:p>
      </dsp:txBody>
      <dsp:txXfrm>
        <a:off x="4029075" y="2286536"/>
        <a:ext cx="1517332" cy="1390888"/>
      </dsp:txXfrm>
    </dsp:sp>
    <dsp:sp modelId="{7EDAEE88-3D78-A242-A182-584E39A2C535}">
      <dsp:nvSpPr>
        <dsp:cNvPr id="0" name=""/>
        <dsp:cNvSpPr/>
      </dsp:nvSpPr>
      <dsp:spPr>
        <a:xfrm>
          <a:off x="1430643" y="1633240"/>
          <a:ext cx="2528887" cy="2528887"/>
        </a:xfrm>
        <a:prstGeom prst="ellipse">
          <a:avLst/>
        </a:prstGeom>
        <a:solidFill>
          <a:schemeClr val="accent1">
            <a:alpha val="3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b="1" kern="1200" dirty="0"/>
            <a:t>University of Victoria</a:t>
          </a:r>
        </a:p>
        <a:p>
          <a:pPr marL="0" lvl="0" indent="0" algn="ctr" defTabSz="711200">
            <a:lnSpc>
              <a:spcPct val="90000"/>
            </a:lnSpc>
            <a:spcBef>
              <a:spcPct val="0"/>
            </a:spcBef>
            <a:spcAft>
              <a:spcPct val="35000"/>
            </a:spcAft>
            <a:buNone/>
          </a:pPr>
          <a:r>
            <a:rPr lang="en-US" sz="1300" kern="1200" dirty="0"/>
            <a:t>PhD Candidate</a:t>
          </a:r>
        </a:p>
        <a:p>
          <a:pPr marL="0" lvl="0" indent="0" algn="ctr" defTabSz="711200">
            <a:lnSpc>
              <a:spcPct val="90000"/>
            </a:lnSpc>
            <a:spcBef>
              <a:spcPct val="0"/>
            </a:spcBef>
            <a:spcAft>
              <a:spcPct val="35000"/>
            </a:spcAft>
            <a:buNone/>
          </a:pPr>
          <a:r>
            <a:rPr lang="en-US" sz="1300" kern="1200" dirty="0"/>
            <a:t>(2022 – Present)</a:t>
          </a:r>
        </a:p>
        <a:p>
          <a:pPr marL="0" lvl="0" indent="0" algn="ctr" defTabSz="711200">
            <a:lnSpc>
              <a:spcPct val="90000"/>
            </a:lnSpc>
            <a:spcBef>
              <a:spcPct val="0"/>
            </a:spcBef>
            <a:spcAft>
              <a:spcPct val="35000"/>
            </a:spcAft>
            <a:buNone/>
          </a:pPr>
          <a:r>
            <a:rPr lang="en-US" sz="1300" kern="1200" dirty="0"/>
            <a:t>Dr. Marc </a:t>
          </a:r>
          <a:r>
            <a:rPr lang="en-US" sz="1300" kern="1200" dirty="0" err="1"/>
            <a:t>Klimstra</a:t>
          </a:r>
          <a:endParaRPr lang="en-US" sz="1300" kern="1200" dirty="0"/>
        </a:p>
        <a:p>
          <a:pPr marL="0" lvl="0" indent="0" algn="ctr" defTabSz="711200">
            <a:lnSpc>
              <a:spcPct val="90000"/>
            </a:lnSpc>
            <a:spcBef>
              <a:spcPct val="0"/>
            </a:spcBef>
            <a:spcAft>
              <a:spcPct val="35000"/>
            </a:spcAft>
            <a:buNone/>
          </a:pPr>
          <a:r>
            <a:rPr lang="en-US" sz="1300" kern="1200" dirty="0"/>
            <a:t>Dr. Ming-Chang Tsai</a:t>
          </a:r>
        </a:p>
      </dsp:txBody>
      <dsp:txXfrm>
        <a:off x="1668780" y="2286536"/>
        <a:ext cx="1517332" cy="13908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7BF73-B79F-CC45-BAAE-CCC44E53411E}">
      <dsp:nvSpPr>
        <dsp:cNvPr id="0" name=""/>
        <dsp:cNvSpPr/>
      </dsp:nvSpPr>
      <dsp:spPr>
        <a:xfrm>
          <a:off x="5229465" y="3183314"/>
          <a:ext cx="4115496" cy="465845"/>
        </a:xfrm>
        <a:custGeom>
          <a:avLst/>
          <a:gdLst/>
          <a:ahLst/>
          <a:cxnLst/>
          <a:rect l="0" t="0" r="0" b="0"/>
          <a:pathLst>
            <a:path>
              <a:moveTo>
                <a:pt x="0" y="0"/>
              </a:moveTo>
              <a:lnTo>
                <a:pt x="0" y="232922"/>
              </a:lnTo>
              <a:lnTo>
                <a:pt x="4115496" y="232922"/>
              </a:lnTo>
              <a:lnTo>
                <a:pt x="4115496" y="465845"/>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1FE487-4272-4B47-99DD-AB1D7A221A80}">
      <dsp:nvSpPr>
        <dsp:cNvPr id="0" name=""/>
        <dsp:cNvSpPr/>
      </dsp:nvSpPr>
      <dsp:spPr>
        <a:xfrm>
          <a:off x="5229465" y="3183314"/>
          <a:ext cx="1342077" cy="465845"/>
        </a:xfrm>
        <a:custGeom>
          <a:avLst/>
          <a:gdLst/>
          <a:ahLst/>
          <a:cxnLst/>
          <a:rect l="0" t="0" r="0" b="0"/>
          <a:pathLst>
            <a:path>
              <a:moveTo>
                <a:pt x="0" y="0"/>
              </a:moveTo>
              <a:lnTo>
                <a:pt x="0" y="232922"/>
              </a:lnTo>
              <a:lnTo>
                <a:pt x="1342077" y="232922"/>
              </a:lnTo>
              <a:lnTo>
                <a:pt x="1342077" y="465845"/>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E7BF29-2C92-894C-B4CE-3A254AC7DA7A}">
      <dsp:nvSpPr>
        <dsp:cNvPr id="0" name=""/>
        <dsp:cNvSpPr/>
      </dsp:nvSpPr>
      <dsp:spPr>
        <a:xfrm>
          <a:off x="3798123" y="3183314"/>
          <a:ext cx="1431342" cy="465845"/>
        </a:xfrm>
        <a:custGeom>
          <a:avLst/>
          <a:gdLst/>
          <a:ahLst/>
          <a:cxnLst/>
          <a:rect l="0" t="0" r="0" b="0"/>
          <a:pathLst>
            <a:path>
              <a:moveTo>
                <a:pt x="1431342" y="0"/>
              </a:moveTo>
              <a:lnTo>
                <a:pt x="1431342" y="232922"/>
              </a:lnTo>
              <a:lnTo>
                <a:pt x="0" y="232922"/>
              </a:lnTo>
              <a:lnTo>
                <a:pt x="0" y="465845"/>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67079F-F72F-5340-9FF7-26B37D79A39C}">
      <dsp:nvSpPr>
        <dsp:cNvPr id="0" name=""/>
        <dsp:cNvSpPr/>
      </dsp:nvSpPr>
      <dsp:spPr>
        <a:xfrm>
          <a:off x="1113968" y="3183314"/>
          <a:ext cx="4115496" cy="465845"/>
        </a:xfrm>
        <a:custGeom>
          <a:avLst/>
          <a:gdLst/>
          <a:ahLst/>
          <a:cxnLst/>
          <a:rect l="0" t="0" r="0" b="0"/>
          <a:pathLst>
            <a:path>
              <a:moveTo>
                <a:pt x="4115496" y="0"/>
              </a:moveTo>
              <a:lnTo>
                <a:pt x="4115496" y="232922"/>
              </a:lnTo>
              <a:lnTo>
                <a:pt x="0" y="232922"/>
              </a:lnTo>
              <a:lnTo>
                <a:pt x="0" y="465845"/>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397D52-6448-B343-A4C5-09F904C9933A}">
      <dsp:nvSpPr>
        <dsp:cNvPr id="0" name=""/>
        <dsp:cNvSpPr/>
      </dsp:nvSpPr>
      <dsp:spPr>
        <a:xfrm>
          <a:off x="4098826" y="660352"/>
          <a:ext cx="2261278" cy="252296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1A82F6-E6D6-0448-8D0B-A63B3B6918BF}">
      <dsp:nvSpPr>
        <dsp:cNvPr id="0" name=""/>
        <dsp:cNvSpPr/>
      </dsp:nvSpPr>
      <dsp:spPr>
        <a:xfrm>
          <a:off x="4098826" y="660352"/>
          <a:ext cx="2261278" cy="252296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C99A7A-414C-824B-8925-908AC60C779A}">
      <dsp:nvSpPr>
        <dsp:cNvPr id="0" name=""/>
        <dsp:cNvSpPr/>
      </dsp:nvSpPr>
      <dsp:spPr>
        <a:xfrm>
          <a:off x="2968187" y="1114485"/>
          <a:ext cx="4522556" cy="161469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CSIP does not have a RTP protocol </a:t>
          </a:r>
        </a:p>
      </dsp:txBody>
      <dsp:txXfrm>
        <a:off x="2968187" y="1114485"/>
        <a:ext cx="4522556" cy="1614695"/>
      </dsp:txXfrm>
    </dsp:sp>
    <dsp:sp modelId="{D56721D1-6615-2043-8C08-AC448E0E3AE9}">
      <dsp:nvSpPr>
        <dsp:cNvPr id="0" name=""/>
        <dsp:cNvSpPr/>
      </dsp:nvSpPr>
      <dsp:spPr>
        <a:xfrm>
          <a:off x="559391" y="3649159"/>
          <a:ext cx="1109154" cy="1109154"/>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248519-61E6-BE42-A8CF-9C4B5A1544BE}">
      <dsp:nvSpPr>
        <dsp:cNvPr id="0" name=""/>
        <dsp:cNvSpPr/>
      </dsp:nvSpPr>
      <dsp:spPr>
        <a:xfrm>
          <a:off x="559391" y="3649159"/>
          <a:ext cx="1109154" cy="1109154"/>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593006-C3A1-A147-8343-B00CF6523CA6}">
      <dsp:nvSpPr>
        <dsp:cNvPr id="0" name=""/>
        <dsp:cNvSpPr/>
      </dsp:nvSpPr>
      <dsp:spPr>
        <a:xfrm>
          <a:off x="4813" y="3848807"/>
          <a:ext cx="2218309" cy="7098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1. Disconnected Performance Data</a:t>
          </a:r>
        </a:p>
      </dsp:txBody>
      <dsp:txXfrm>
        <a:off x="4813" y="3848807"/>
        <a:ext cx="2218309" cy="709859"/>
      </dsp:txXfrm>
    </dsp:sp>
    <dsp:sp modelId="{FB21CD1F-C6F1-3246-892F-20254718F673}">
      <dsp:nvSpPr>
        <dsp:cNvPr id="0" name=""/>
        <dsp:cNvSpPr/>
      </dsp:nvSpPr>
      <dsp:spPr>
        <a:xfrm>
          <a:off x="3243545" y="3649159"/>
          <a:ext cx="1109154" cy="1109154"/>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E4D9CD-5FA8-E44D-8B0C-9BF1F6D5D4B3}">
      <dsp:nvSpPr>
        <dsp:cNvPr id="0" name=""/>
        <dsp:cNvSpPr/>
      </dsp:nvSpPr>
      <dsp:spPr>
        <a:xfrm>
          <a:off x="3243545" y="3649159"/>
          <a:ext cx="1109154" cy="1109154"/>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11B048-91E4-A340-8E15-AB5F78A9EF92}">
      <dsp:nvSpPr>
        <dsp:cNvPr id="0" name=""/>
        <dsp:cNvSpPr/>
      </dsp:nvSpPr>
      <dsp:spPr>
        <a:xfrm>
          <a:off x="2688968" y="3848807"/>
          <a:ext cx="2218309" cy="7098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2. Inefficient Programming</a:t>
          </a:r>
        </a:p>
      </dsp:txBody>
      <dsp:txXfrm>
        <a:off x="2688968" y="3848807"/>
        <a:ext cx="2218309" cy="709859"/>
      </dsp:txXfrm>
    </dsp:sp>
    <dsp:sp modelId="{D34F9546-13AD-6043-97E9-0B5FCE63A186}">
      <dsp:nvSpPr>
        <dsp:cNvPr id="0" name=""/>
        <dsp:cNvSpPr/>
      </dsp:nvSpPr>
      <dsp:spPr>
        <a:xfrm>
          <a:off x="5972333" y="3649159"/>
          <a:ext cx="1198419" cy="1109154"/>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AA02E-1C15-AE44-894B-A07BB2D73088}">
      <dsp:nvSpPr>
        <dsp:cNvPr id="0" name=""/>
        <dsp:cNvSpPr/>
      </dsp:nvSpPr>
      <dsp:spPr>
        <a:xfrm>
          <a:off x="5972333" y="3649159"/>
          <a:ext cx="1198419" cy="1109154"/>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C56F68-EA0C-7F4A-A860-BD184FB3D266}">
      <dsp:nvSpPr>
        <dsp:cNvPr id="0" name=""/>
        <dsp:cNvSpPr/>
      </dsp:nvSpPr>
      <dsp:spPr>
        <a:xfrm>
          <a:off x="5373123" y="3848807"/>
          <a:ext cx="2396839" cy="7098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3. Poor Communication and Collaboration</a:t>
          </a:r>
        </a:p>
      </dsp:txBody>
      <dsp:txXfrm>
        <a:off x="5373123" y="3848807"/>
        <a:ext cx="2396839" cy="709859"/>
      </dsp:txXfrm>
    </dsp:sp>
    <dsp:sp modelId="{E68B8FE4-DFD0-4F47-B962-737D3DD9F2CE}">
      <dsp:nvSpPr>
        <dsp:cNvPr id="0" name=""/>
        <dsp:cNvSpPr/>
      </dsp:nvSpPr>
      <dsp:spPr>
        <a:xfrm>
          <a:off x="8790384" y="3649159"/>
          <a:ext cx="1109154" cy="1109154"/>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76DFF7-1BB9-1E4F-9E52-34B785000C3E}">
      <dsp:nvSpPr>
        <dsp:cNvPr id="0" name=""/>
        <dsp:cNvSpPr/>
      </dsp:nvSpPr>
      <dsp:spPr>
        <a:xfrm>
          <a:off x="8790384" y="3649159"/>
          <a:ext cx="1109154" cy="1109154"/>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C8BF21-1CF1-5943-9C2C-7EDD3B946F33}">
      <dsp:nvSpPr>
        <dsp:cNvPr id="0" name=""/>
        <dsp:cNvSpPr/>
      </dsp:nvSpPr>
      <dsp:spPr>
        <a:xfrm>
          <a:off x="8235807" y="3848807"/>
          <a:ext cx="2218309" cy="7098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4. Lost Innovation Opportunities</a:t>
          </a:r>
        </a:p>
      </dsp:txBody>
      <dsp:txXfrm>
        <a:off x="8235807" y="3848807"/>
        <a:ext cx="2218309" cy="7098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B8CD3-B473-9D4A-8FAB-A6490995B61A}">
      <dsp:nvSpPr>
        <dsp:cNvPr id="0" name=""/>
        <dsp:cNvSpPr/>
      </dsp:nvSpPr>
      <dsp:spPr>
        <a:xfrm>
          <a:off x="5507999" y="3697701"/>
          <a:ext cx="4723730" cy="327928"/>
        </a:xfrm>
        <a:custGeom>
          <a:avLst/>
          <a:gdLst/>
          <a:ahLst/>
          <a:cxnLst/>
          <a:rect l="0" t="0" r="0" b="0"/>
          <a:pathLst>
            <a:path>
              <a:moveTo>
                <a:pt x="0" y="0"/>
              </a:moveTo>
              <a:lnTo>
                <a:pt x="0" y="163964"/>
              </a:lnTo>
              <a:lnTo>
                <a:pt x="4723730" y="163964"/>
              </a:lnTo>
              <a:lnTo>
                <a:pt x="4723730" y="3279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DCB7DD-6FD6-D04C-8693-174F6681C7DF}">
      <dsp:nvSpPr>
        <dsp:cNvPr id="0" name=""/>
        <dsp:cNvSpPr/>
      </dsp:nvSpPr>
      <dsp:spPr>
        <a:xfrm>
          <a:off x="5507999" y="3697701"/>
          <a:ext cx="2834238" cy="327928"/>
        </a:xfrm>
        <a:custGeom>
          <a:avLst/>
          <a:gdLst/>
          <a:ahLst/>
          <a:cxnLst/>
          <a:rect l="0" t="0" r="0" b="0"/>
          <a:pathLst>
            <a:path>
              <a:moveTo>
                <a:pt x="0" y="0"/>
              </a:moveTo>
              <a:lnTo>
                <a:pt x="0" y="163964"/>
              </a:lnTo>
              <a:lnTo>
                <a:pt x="2834238" y="163964"/>
              </a:lnTo>
              <a:lnTo>
                <a:pt x="2834238" y="3279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0C9118-8125-7249-955F-8381C06A17C3}">
      <dsp:nvSpPr>
        <dsp:cNvPr id="0" name=""/>
        <dsp:cNvSpPr/>
      </dsp:nvSpPr>
      <dsp:spPr>
        <a:xfrm>
          <a:off x="5507999" y="3697701"/>
          <a:ext cx="944746" cy="327928"/>
        </a:xfrm>
        <a:custGeom>
          <a:avLst/>
          <a:gdLst/>
          <a:ahLst/>
          <a:cxnLst/>
          <a:rect l="0" t="0" r="0" b="0"/>
          <a:pathLst>
            <a:path>
              <a:moveTo>
                <a:pt x="0" y="0"/>
              </a:moveTo>
              <a:lnTo>
                <a:pt x="0" y="163964"/>
              </a:lnTo>
              <a:lnTo>
                <a:pt x="944746" y="163964"/>
              </a:lnTo>
              <a:lnTo>
                <a:pt x="944746" y="3279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1FE487-4272-4B47-99DD-AB1D7A221A80}">
      <dsp:nvSpPr>
        <dsp:cNvPr id="0" name=""/>
        <dsp:cNvSpPr/>
      </dsp:nvSpPr>
      <dsp:spPr>
        <a:xfrm>
          <a:off x="4563253" y="3697701"/>
          <a:ext cx="944746" cy="327928"/>
        </a:xfrm>
        <a:custGeom>
          <a:avLst/>
          <a:gdLst/>
          <a:ahLst/>
          <a:cxnLst/>
          <a:rect l="0" t="0" r="0" b="0"/>
          <a:pathLst>
            <a:path>
              <a:moveTo>
                <a:pt x="944746" y="0"/>
              </a:moveTo>
              <a:lnTo>
                <a:pt x="944746" y="163964"/>
              </a:lnTo>
              <a:lnTo>
                <a:pt x="0" y="163964"/>
              </a:lnTo>
              <a:lnTo>
                <a:pt x="0" y="3279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E7BF29-2C92-894C-B4CE-3A254AC7DA7A}">
      <dsp:nvSpPr>
        <dsp:cNvPr id="0" name=""/>
        <dsp:cNvSpPr/>
      </dsp:nvSpPr>
      <dsp:spPr>
        <a:xfrm>
          <a:off x="2673761" y="3697701"/>
          <a:ext cx="2834238" cy="327928"/>
        </a:xfrm>
        <a:custGeom>
          <a:avLst/>
          <a:gdLst/>
          <a:ahLst/>
          <a:cxnLst/>
          <a:rect l="0" t="0" r="0" b="0"/>
          <a:pathLst>
            <a:path>
              <a:moveTo>
                <a:pt x="2834238" y="0"/>
              </a:moveTo>
              <a:lnTo>
                <a:pt x="2834238" y="163964"/>
              </a:lnTo>
              <a:lnTo>
                <a:pt x="0" y="163964"/>
              </a:lnTo>
              <a:lnTo>
                <a:pt x="0" y="3279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67079F-F72F-5340-9FF7-26B37D79A39C}">
      <dsp:nvSpPr>
        <dsp:cNvPr id="0" name=""/>
        <dsp:cNvSpPr/>
      </dsp:nvSpPr>
      <dsp:spPr>
        <a:xfrm>
          <a:off x="784269" y="3697701"/>
          <a:ext cx="4723730" cy="327928"/>
        </a:xfrm>
        <a:custGeom>
          <a:avLst/>
          <a:gdLst/>
          <a:ahLst/>
          <a:cxnLst/>
          <a:rect l="0" t="0" r="0" b="0"/>
          <a:pathLst>
            <a:path>
              <a:moveTo>
                <a:pt x="4723730" y="0"/>
              </a:moveTo>
              <a:lnTo>
                <a:pt x="4723730" y="163964"/>
              </a:lnTo>
              <a:lnTo>
                <a:pt x="0" y="163964"/>
              </a:lnTo>
              <a:lnTo>
                <a:pt x="0" y="3279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397D52-6448-B343-A4C5-09F904C9933A}">
      <dsp:nvSpPr>
        <dsp:cNvPr id="0" name=""/>
        <dsp:cNvSpPr/>
      </dsp:nvSpPr>
      <dsp:spPr>
        <a:xfrm>
          <a:off x="4712094" y="1921680"/>
          <a:ext cx="1591811" cy="177602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1A82F6-E6D6-0448-8D0B-A63B3B6918BF}">
      <dsp:nvSpPr>
        <dsp:cNvPr id="0" name=""/>
        <dsp:cNvSpPr/>
      </dsp:nvSpPr>
      <dsp:spPr>
        <a:xfrm>
          <a:off x="4712094" y="1921680"/>
          <a:ext cx="1591811" cy="177602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C99A7A-414C-824B-8925-908AC60C779A}">
      <dsp:nvSpPr>
        <dsp:cNvPr id="0" name=""/>
        <dsp:cNvSpPr/>
      </dsp:nvSpPr>
      <dsp:spPr>
        <a:xfrm>
          <a:off x="3916188" y="2241364"/>
          <a:ext cx="3183622" cy="1136653"/>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Able-bodied NSO Partner Athletes</a:t>
          </a:r>
        </a:p>
      </dsp:txBody>
      <dsp:txXfrm>
        <a:off x="3916188" y="2241364"/>
        <a:ext cx="3183622" cy="1136653"/>
      </dsp:txXfrm>
    </dsp:sp>
    <dsp:sp modelId="{D56721D1-6615-2043-8C08-AC448E0E3AE9}">
      <dsp:nvSpPr>
        <dsp:cNvPr id="0" name=""/>
        <dsp:cNvSpPr/>
      </dsp:nvSpPr>
      <dsp:spPr>
        <a:xfrm>
          <a:off x="393878" y="4025630"/>
          <a:ext cx="780781" cy="78078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248519-61E6-BE42-A8CF-9C4B5A1544BE}">
      <dsp:nvSpPr>
        <dsp:cNvPr id="0" name=""/>
        <dsp:cNvSpPr/>
      </dsp:nvSpPr>
      <dsp:spPr>
        <a:xfrm>
          <a:off x="393878" y="4025630"/>
          <a:ext cx="780781" cy="78078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593006-C3A1-A147-8343-B00CF6523CA6}">
      <dsp:nvSpPr>
        <dsp:cNvPr id="0" name=""/>
        <dsp:cNvSpPr/>
      </dsp:nvSpPr>
      <dsp:spPr>
        <a:xfrm>
          <a:off x="3487" y="4166171"/>
          <a:ext cx="1561563" cy="49970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Para-Athletes</a:t>
          </a:r>
        </a:p>
      </dsp:txBody>
      <dsp:txXfrm>
        <a:off x="3487" y="4166171"/>
        <a:ext cx="1561563" cy="499700"/>
      </dsp:txXfrm>
    </dsp:sp>
    <dsp:sp modelId="{FB21CD1F-C6F1-3246-892F-20254718F673}">
      <dsp:nvSpPr>
        <dsp:cNvPr id="0" name=""/>
        <dsp:cNvSpPr/>
      </dsp:nvSpPr>
      <dsp:spPr>
        <a:xfrm>
          <a:off x="2283370" y="4025630"/>
          <a:ext cx="780781" cy="78078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E4D9CD-5FA8-E44D-8B0C-9BF1F6D5D4B3}">
      <dsp:nvSpPr>
        <dsp:cNvPr id="0" name=""/>
        <dsp:cNvSpPr/>
      </dsp:nvSpPr>
      <dsp:spPr>
        <a:xfrm>
          <a:off x="2283370" y="4025630"/>
          <a:ext cx="780781" cy="78078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11B048-91E4-A340-8E15-AB5F78A9EF92}">
      <dsp:nvSpPr>
        <dsp:cNvPr id="0" name=""/>
        <dsp:cNvSpPr/>
      </dsp:nvSpPr>
      <dsp:spPr>
        <a:xfrm>
          <a:off x="1892979" y="4166171"/>
          <a:ext cx="1561563" cy="49970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Next Gen</a:t>
          </a:r>
        </a:p>
      </dsp:txBody>
      <dsp:txXfrm>
        <a:off x="1892979" y="4166171"/>
        <a:ext cx="1561563" cy="499700"/>
      </dsp:txXfrm>
    </dsp:sp>
    <dsp:sp modelId="{D34F9546-13AD-6043-97E9-0B5FCE63A186}">
      <dsp:nvSpPr>
        <dsp:cNvPr id="0" name=""/>
        <dsp:cNvSpPr/>
      </dsp:nvSpPr>
      <dsp:spPr>
        <a:xfrm>
          <a:off x="4172863" y="4025630"/>
          <a:ext cx="780781" cy="78078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5AA02E-1C15-AE44-894B-A07BB2D73088}">
      <dsp:nvSpPr>
        <dsp:cNvPr id="0" name=""/>
        <dsp:cNvSpPr/>
      </dsp:nvSpPr>
      <dsp:spPr>
        <a:xfrm>
          <a:off x="4172863" y="4025630"/>
          <a:ext cx="780781" cy="78078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C56F68-EA0C-7F4A-A860-BD184FB3D266}">
      <dsp:nvSpPr>
        <dsp:cNvPr id="0" name=""/>
        <dsp:cNvSpPr/>
      </dsp:nvSpPr>
      <dsp:spPr>
        <a:xfrm>
          <a:off x="3782472" y="4166171"/>
          <a:ext cx="1561563" cy="49970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PSO</a:t>
          </a:r>
        </a:p>
      </dsp:txBody>
      <dsp:txXfrm>
        <a:off x="3782472" y="4166171"/>
        <a:ext cx="1561563" cy="499700"/>
      </dsp:txXfrm>
    </dsp:sp>
    <dsp:sp modelId="{77F8F5B2-B2EA-8843-8EFE-DB75E2D4A37A}">
      <dsp:nvSpPr>
        <dsp:cNvPr id="0" name=""/>
        <dsp:cNvSpPr/>
      </dsp:nvSpPr>
      <dsp:spPr>
        <a:xfrm>
          <a:off x="6062355" y="4025630"/>
          <a:ext cx="780781" cy="78078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B7DC74-4C6D-6A4D-8DEC-0E0F7FA5C72A}">
      <dsp:nvSpPr>
        <dsp:cNvPr id="0" name=""/>
        <dsp:cNvSpPr/>
      </dsp:nvSpPr>
      <dsp:spPr>
        <a:xfrm>
          <a:off x="6062355" y="4025630"/>
          <a:ext cx="780781" cy="78078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A5AD3E-BE7D-E44B-9EA8-6EF1CE0A235E}">
      <dsp:nvSpPr>
        <dsp:cNvPr id="0" name=""/>
        <dsp:cNvSpPr/>
      </dsp:nvSpPr>
      <dsp:spPr>
        <a:xfrm>
          <a:off x="5671964" y="4166171"/>
          <a:ext cx="1561563" cy="49970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Non-Partner NSO</a:t>
          </a:r>
        </a:p>
      </dsp:txBody>
      <dsp:txXfrm>
        <a:off x="5671964" y="4166171"/>
        <a:ext cx="1561563" cy="499700"/>
      </dsp:txXfrm>
    </dsp:sp>
    <dsp:sp modelId="{6C037CF5-C344-E047-8AEC-9002DB6454E8}">
      <dsp:nvSpPr>
        <dsp:cNvPr id="0" name=""/>
        <dsp:cNvSpPr/>
      </dsp:nvSpPr>
      <dsp:spPr>
        <a:xfrm>
          <a:off x="7951847" y="4025630"/>
          <a:ext cx="780781" cy="78078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E746CF-4893-B14F-9FFA-2976ED272CFF}">
      <dsp:nvSpPr>
        <dsp:cNvPr id="0" name=""/>
        <dsp:cNvSpPr/>
      </dsp:nvSpPr>
      <dsp:spPr>
        <a:xfrm>
          <a:off x="7951847" y="4025630"/>
          <a:ext cx="780781" cy="78078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A11098-AB74-DD44-9BC8-C12FE7E19932}">
      <dsp:nvSpPr>
        <dsp:cNvPr id="0" name=""/>
        <dsp:cNvSpPr/>
      </dsp:nvSpPr>
      <dsp:spPr>
        <a:xfrm>
          <a:off x="7561456" y="4166171"/>
          <a:ext cx="1561563" cy="49970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Local PN</a:t>
          </a:r>
        </a:p>
      </dsp:txBody>
      <dsp:txXfrm>
        <a:off x="7561456" y="4166171"/>
        <a:ext cx="1561563" cy="499700"/>
      </dsp:txXfrm>
    </dsp:sp>
    <dsp:sp modelId="{543ACCC3-B17C-5C41-A11B-20EDE22AF4E4}">
      <dsp:nvSpPr>
        <dsp:cNvPr id="0" name=""/>
        <dsp:cNvSpPr/>
      </dsp:nvSpPr>
      <dsp:spPr>
        <a:xfrm>
          <a:off x="9841339" y="4025630"/>
          <a:ext cx="780781" cy="780781"/>
        </a:xfrm>
        <a:prstGeom prst="arc">
          <a:avLst>
            <a:gd name="adj1" fmla="val 13200000"/>
            <a:gd name="adj2" fmla="val 192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823D61-91F8-E24E-A6BF-F97FFBA5BEE8}">
      <dsp:nvSpPr>
        <dsp:cNvPr id="0" name=""/>
        <dsp:cNvSpPr/>
      </dsp:nvSpPr>
      <dsp:spPr>
        <a:xfrm>
          <a:off x="9841339" y="4025630"/>
          <a:ext cx="780781" cy="780781"/>
        </a:xfrm>
        <a:prstGeom prst="arc">
          <a:avLst>
            <a:gd name="adj1" fmla="val 2400000"/>
            <a:gd name="adj2" fmla="val 8400000"/>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FFB85A-10F4-5645-8C8A-DA5FB261C757}">
      <dsp:nvSpPr>
        <dsp:cNvPr id="0" name=""/>
        <dsp:cNvSpPr/>
      </dsp:nvSpPr>
      <dsp:spPr>
        <a:xfrm>
          <a:off x="9450948" y="4166171"/>
          <a:ext cx="1561563" cy="49970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Remote PN</a:t>
          </a:r>
        </a:p>
      </dsp:txBody>
      <dsp:txXfrm>
        <a:off x="9450948" y="4166171"/>
        <a:ext cx="1561563" cy="4997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87250-2A1B-8D43-9A0B-DB3D05685AB1}">
      <dsp:nvSpPr>
        <dsp:cNvPr id="0" name=""/>
        <dsp:cNvSpPr/>
      </dsp:nvSpPr>
      <dsp:spPr>
        <a:xfrm>
          <a:off x="1604792" y="0"/>
          <a:ext cx="1712009" cy="951116"/>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Bronze</a:t>
          </a:r>
        </a:p>
      </dsp:txBody>
      <dsp:txXfrm>
        <a:off x="1632649" y="27857"/>
        <a:ext cx="1656295" cy="895402"/>
      </dsp:txXfrm>
    </dsp:sp>
    <dsp:sp modelId="{3AD14F0A-BD53-8945-BAFA-33D45E915F6A}">
      <dsp:nvSpPr>
        <dsp:cNvPr id="0" name=""/>
        <dsp:cNvSpPr/>
      </dsp:nvSpPr>
      <dsp:spPr>
        <a:xfrm>
          <a:off x="4077695" y="0"/>
          <a:ext cx="1712009" cy="951116"/>
        </a:xfrm>
        <a:prstGeom prst="roundRect">
          <a:avLst>
            <a:gd name="adj" fmla="val 10000"/>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Gold</a:t>
          </a:r>
        </a:p>
      </dsp:txBody>
      <dsp:txXfrm>
        <a:off x="4105552" y="27857"/>
        <a:ext cx="1656295" cy="895402"/>
      </dsp:txXfrm>
    </dsp:sp>
    <dsp:sp modelId="{DE053B93-3D9A-3549-9C28-E4955991DE43}">
      <dsp:nvSpPr>
        <dsp:cNvPr id="0" name=""/>
        <dsp:cNvSpPr/>
      </dsp:nvSpPr>
      <dsp:spPr>
        <a:xfrm>
          <a:off x="3340580" y="4042244"/>
          <a:ext cx="713337" cy="713337"/>
        </a:xfrm>
        <a:prstGeom prst="triangle">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sp>
    <dsp:sp modelId="{A88447ED-5C29-874A-B50F-E9ADAF9353C8}">
      <dsp:nvSpPr>
        <dsp:cNvPr id="0" name=""/>
        <dsp:cNvSpPr/>
      </dsp:nvSpPr>
      <dsp:spPr>
        <a:xfrm rot="240000">
          <a:off x="1556583" y="3736571"/>
          <a:ext cx="4281330" cy="299379"/>
        </a:xfrm>
        <a:prstGeom prst="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sp>
    <dsp:sp modelId="{760C2604-C26D-8B4E-81E6-19B933134E7F}">
      <dsp:nvSpPr>
        <dsp:cNvPr id="0" name=""/>
        <dsp:cNvSpPr/>
      </dsp:nvSpPr>
      <dsp:spPr>
        <a:xfrm rot="240000">
          <a:off x="4131757" y="3197227"/>
          <a:ext cx="1698997" cy="586739"/>
        </a:xfrm>
        <a:prstGeom prst="round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Testing as Needed</a:t>
          </a:r>
        </a:p>
      </dsp:txBody>
      <dsp:txXfrm>
        <a:off x="4160399" y="3225869"/>
        <a:ext cx="1641713" cy="529455"/>
      </dsp:txXfrm>
    </dsp:sp>
    <dsp:sp modelId="{2A9E6579-DA9B-B74A-8553-6A1235AB143C}">
      <dsp:nvSpPr>
        <dsp:cNvPr id="0" name=""/>
        <dsp:cNvSpPr/>
      </dsp:nvSpPr>
      <dsp:spPr>
        <a:xfrm rot="240000">
          <a:off x="4179313" y="2569490"/>
          <a:ext cx="1698997" cy="586739"/>
        </a:xfrm>
        <a:prstGeom prst="round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Full Gym &amp; Coaching Access</a:t>
          </a:r>
        </a:p>
      </dsp:txBody>
      <dsp:txXfrm>
        <a:off x="4207955" y="2598132"/>
        <a:ext cx="1641713" cy="529455"/>
      </dsp:txXfrm>
    </dsp:sp>
    <dsp:sp modelId="{9306425E-13A5-C44D-85C3-BE42963DEB52}">
      <dsp:nvSpPr>
        <dsp:cNvPr id="0" name=""/>
        <dsp:cNvSpPr/>
      </dsp:nvSpPr>
      <dsp:spPr>
        <a:xfrm rot="240000">
          <a:off x="4226869" y="1941753"/>
          <a:ext cx="1698997" cy="586739"/>
        </a:xfrm>
        <a:prstGeom prst="round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Individualized Programming</a:t>
          </a:r>
        </a:p>
      </dsp:txBody>
      <dsp:txXfrm>
        <a:off x="4255511" y="1970395"/>
        <a:ext cx="1641713" cy="529455"/>
      </dsp:txXfrm>
    </dsp:sp>
    <dsp:sp modelId="{D4D5E5A2-CB60-FC43-AA2A-12D70C268A6B}">
      <dsp:nvSpPr>
        <dsp:cNvPr id="0" name=""/>
        <dsp:cNvSpPr/>
      </dsp:nvSpPr>
      <dsp:spPr>
        <a:xfrm rot="240000">
          <a:off x="4274424" y="1314017"/>
          <a:ext cx="1698997" cy="586739"/>
        </a:xfrm>
        <a:prstGeom prst="round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Full Access to Protocol</a:t>
          </a:r>
        </a:p>
      </dsp:txBody>
      <dsp:txXfrm>
        <a:off x="4303066" y="1342659"/>
        <a:ext cx="1641713" cy="529455"/>
      </dsp:txXfrm>
    </dsp:sp>
    <dsp:sp modelId="{E65A9F38-3492-E74F-901D-C6417F51EDA8}">
      <dsp:nvSpPr>
        <dsp:cNvPr id="0" name=""/>
        <dsp:cNvSpPr/>
      </dsp:nvSpPr>
      <dsp:spPr>
        <a:xfrm rot="240000">
          <a:off x="1658854" y="3026026"/>
          <a:ext cx="1698997" cy="5867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1 Testing session/month</a:t>
          </a:r>
        </a:p>
      </dsp:txBody>
      <dsp:txXfrm>
        <a:off x="1687496" y="3054668"/>
        <a:ext cx="1641713" cy="529455"/>
      </dsp:txXfrm>
    </dsp:sp>
    <dsp:sp modelId="{D91F77BE-E98D-A440-A945-C9C11E42FCCB}">
      <dsp:nvSpPr>
        <dsp:cNvPr id="0" name=""/>
        <dsp:cNvSpPr/>
      </dsp:nvSpPr>
      <dsp:spPr>
        <a:xfrm rot="240000">
          <a:off x="1706410" y="2398289"/>
          <a:ext cx="1698997" cy="5867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1 Coached session/month</a:t>
          </a:r>
        </a:p>
      </dsp:txBody>
      <dsp:txXfrm>
        <a:off x="1735052" y="2426931"/>
        <a:ext cx="1641713" cy="529455"/>
      </dsp:txXfrm>
    </dsp:sp>
    <dsp:sp modelId="{0D025559-56FD-224C-9DDE-E75EAE1C38C4}">
      <dsp:nvSpPr>
        <dsp:cNvPr id="0" name=""/>
        <dsp:cNvSpPr/>
      </dsp:nvSpPr>
      <dsp:spPr>
        <a:xfrm rot="240000">
          <a:off x="1753966" y="1770552"/>
          <a:ext cx="1698997" cy="586739"/>
        </a:xfrm>
        <a:prstGeom prst="roundRec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Full Access to Protocol</a:t>
          </a:r>
        </a:p>
      </dsp:txBody>
      <dsp:txXfrm>
        <a:off x="1782608" y="1799194"/>
        <a:ext cx="1641713" cy="5294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E4C12-5BEA-904C-8A4D-963EBEEF2246}">
      <dsp:nvSpPr>
        <dsp:cNvPr id="0" name=""/>
        <dsp:cNvSpPr/>
      </dsp:nvSpPr>
      <dsp:spPr>
        <a:xfrm>
          <a:off x="0" y="169333"/>
          <a:ext cx="8128000" cy="5079999"/>
        </a:xfrm>
        <a:prstGeom prst="swooshArrow">
          <a:avLst>
            <a:gd name="adj1" fmla="val 25000"/>
            <a:gd name="adj2" fmla="val 2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55403C-62D9-EC47-86C9-3B029FD01DD4}">
      <dsp:nvSpPr>
        <dsp:cNvPr id="0" name=""/>
        <dsp:cNvSpPr/>
      </dsp:nvSpPr>
      <dsp:spPr>
        <a:xfrm>
          <a:off x="800608" y="3946821"/>
          <a:ext cx="186944" cy="18694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B68A14-7682-CE4E-8AE6-9E54B5255CF9}">
      <dsp:nvSpPr>
        <dsp:cNvPr id="0" name=""/>
        <dsp:cNvSpPr/>
      </dsp:nvSpPr>
      <dsp:spPr>
        <a:xfrm>
          <a:off x="894080" y="4040293"/>
          <a:ext cx="1389888" cy="12090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58" tIns="0" rIns="0" bIns="0" numCol="1" spcCol="1270" anchor="t" anchorCtr="0">
          <a:noAutofit/>
        </a:bodyPr>
        <a:lstStyle/>
        <a:p>
          <a:pPr marL="0" lvl="0" indent="0" algn="l" defTabSz="711200">
            <a:lnSpc>
              <a:spcPct val="90000"/>
            </a:lnSpc>
            <a:spcBef>
              <a:spcPct val="0"/>
            </a:spcBef>
            <a:spcAft>
              <a:spcPct val="35000"/>
            </a:spcAft>
            <a:buNone/>
          </a:pPr>
          <a:r>
            <a:rPr lang="en-CA" sz="1600" b="1" kern="1200" dirty="0"/>
            <a:t>Aug 2025  - Apr 2026</a:t>
          </a:r>
        </a:p>
        <a:p>
          <a:pPr marL="0" lvl="0" indent="0" algn="l" defTabSz="711200">
            <a:lnSpc>
              <a:spcPct val="90000"/>
            </a:lnSpc>
            <a:spcBef>
              <a:spcPct val="0"/>
            </a:spcBef>
            <a:spcAft>
              <a:spcPct val="35000"/>
            </a:spcAft>
            <a:buNone/>
          </a:pPr>
          <a:r>
            <a:rPr lang="en-CA" sz="1600" kern="1200" dirty="0"/>
            <a:t>-Draft 1 of ACL Protocol</a:t>
          </a:r>
          <a:endParaRPr lang="en-US" sz="1600" kern="1200" dirty="0"/>
        </a:p>
      </dsp:txBody>
      <dsp:txXfrm>
        <a:off x="894080" y="4040293"/>
        <a:ext cx="1389888" cy="1209039"/>
      </dsp:txXfrm>
    </dsp:sp>
    <dsp:sp modelId="{B1D994DA-D6AF-6C4A-8580-C95DA386B801}">
      <dsp:nvSpPr>
        <dsp:cNvPr id="0" name=""/>
        <dsp:cNvSpPr/>
      </dsp:nvSpPr>
      <dsp:spPr>
        <a:xfrm>
          <a:off x="2121408" y="2765213"/>
          <a:ext cx="325120" cy="325120"/>
        </a:xfrm>
        <a:prstGeom prst="ellipse">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C6D17C-9EA3-3344-A2CC-92A10A0EAF8C}">
      <dsp:nvSpPr>
        <dsp:cNvPr id="0" name=""/>
        <dsp:cNvSpPr/>
      </dsp:nvSpPr>
      <dsp:spPr>
        <a:xfrm>
          <a:off x="2283968" y="2927773"/>
          <a:ext cx="1706879" cy="2321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274" tIns="0" rIns="0" bIns="0" numCol="1" spcCol="1270" anchor="t" anchorCtr="0">
          <a:noAutofit/>
        </a:bodyPr>
        <a:lstStyle/>
        <a:p>
          <a:pPr marL="0" lvl="0" indent="0" algn="l" defTabSz="711200">
            <a:lnSpc>
              <a:spcPct val="90000"/>
            </a:lnSpc>
            <a:spcBef>
              <a:spcPct val="0"/>
            </a:spcBef>
            <a:spcAft>
              <a:spcPct val="35000"/>
            </a:spcAft>
            <a:buNone/>
          </a:pPr>
          <a:r>
            <a:rPr lang="en-CA" sz="1600" b="1" kern="1200" dirty="0"/>
            <a:t>Jan - April 2026</a:t>
          </a:r>
        </a:p>
        <a:p>
          <a:pPr marL="0" lvl="0" indent="0" algn="l" defTabSz="711200">
            <a:lnSpc>
              <a:spcPct val="90000"/>
            </a:lnSpc>
            <a:spcBef>
              <a:spcPct val="0"/>
            </a:spcBef>
            <a:spcAft>
              <a:spcPct val="35000"/>
            </a:spcAft>
            <a:buNone/>
          </a:pPr>
          <a:r>
            <a:rPr lang="en-CA" sz="1600" kern="1200" dirty="0"/>
            <a:t>-Collaboration with working group </a:t>
          </a:r>
        </a:p>
        <a:p>
          <a:pPr marL="0" lvl="0" indent="0" algn="l" defTabSz="711200">
            <a:lnSpc>
              <a:spcPct val="90000"/>
            </a:lnSpc>
            <a:spcBef>
              <a:spcPct val="0"/>
            </a:spcBef>
            <a:spcAft>
              <a:spcPct val="35000"/>
            </a:spcAft>
            <a:buNone/>
          </a:pPr>
          <a:r>
            <a:rPr lang="en-CA" sz="1600" kern="1200" dirty="0"/>
            <a:t>-Work to align with DS</a:t>
          </a:r>
          <a:endParaRPr lang="en-US" sz="1600" kern="1200" dirty="0"/>
        </a:p>
      </dsp:txBody>
      <dsp:txXfrm>
        <a:off x="2283968" y="2927773"/>
        <a:ext cx="1706879" cy="2321559"/>
      </dsp:txXfrm>
    </dsp:sp>
    <dsp:sp modelId="{2DE22D06-2299-B949-A520-E1478440B4F6}">
      <dsp:nvSpPr>
        <dsp:cNvPr id="0" name=""/>
        <dsp:cNvSpPr/>
      </dsp:nvSpPr>
      <dsp:spPr>
        <a:xfrm>
          <a:off x="3807967" y="1894501"/>
          <a:ext cx="430784" cy="430784"/>
        </a:xfrm>
        <a:prstGeom prst="ellipse">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61181F-19FF-A94C-A4EE-452FB816616C}">
      <dsp:nvSpPr>
        <dsp:cNvPr id="0" name=""/>
        <dsp:cNvSpPr/>
      </dsp:nvSpPr>
      <dsp:spPr>
        <a:xfrm>
          <a:off x="4023360" y="2109893"/>
          <a:ext cx="1706879" cy="31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264" tIns="0" rIns="0" bIns="0" numCol="1" spcCol="1270" anchor="t" anchorCtr="0">
          <a:noAutofit/>
        </a:bodyPr>
        <a:lstStyle/>
        <a:p>
          <a:pPr marL="0" lvl="0" indent="0" algn="l" defTabSz="711200">
            <a:lnSpc>
              <a:spcPct val="90000"/>
            </a:lnSpc>
            <a:spcBef>
              <a:spcPct val="0"/>
            </a:spcBef>
            <a:spcAft>
              <a:spcPct val="35000"/>
            </a:spcAft>
            <a:buNone/>
          </a:pPr>
          <a:r>
            <a:rPr lang="en-CA" sz="1600" b="1" kern="1200" dirty="0"/>
            <a:t>April 2026</a:t>
          </a:r>
        </a:p>
        <a:p>
          <a:pPr marL="0" lvl="0" indent="0" algn="l" defTabSz="711200">
            <a:lnSpc>
              <a:spcPct val="90000"/>
            </a:lnSpc>
            <a:spcBef>
              <a:spcPct val="0"/>
            </a:spcBef>
            <a:spcAft>
              <a:spcPct val="35000"/>
            </a:spcAft>
            <a:buNone/>
          </a:pPr>
          <a:r>
            <a:rPr lang="en-CA" sz="1600" kern="1200" dirty="0"/>
            <a:t>-Version 1 of ACL Protocol</a:t>
          </a:r>
          <a:endParaRPr lang="en-US" sz="1600" kern="1200" dirty="0"/>
        </a:p>
      </dsp:txBody>
      <dsp:txXfrm>
        <a:off x="4023360" y="2109893"/>
        <a:ext cx="1706879" cy="3139439"/>
      </dsp:txXfrm>
    </dsp:sp>
    <dsp:sp modelId="{CF5030EC-C676-7C44-9666-83BDA7AFE7C8}">
      <dsp:nvSpPr>
        <dsp:cNvPr id="0" name=""/>
        <dsp:cNvSpPr/>
      </dsp:nvSpPr>
      <dsp:spPr>
        <a:xfrm>
          <a:off x="5644895" y="1318429"/>
          <a:ext cx="577088" cy="577088"/>
        </a:xfrm>
        <a:prstGeom prst="ellips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3B8F23-380D-CA4F-8B12-9E9A59E98977}">
      <dsp:nvSpPr>
        <dsp:cNvPr id="0" name=""/>
        <dsp:cNvSpPr/>
      </dsp:nvSpPr>
      <dsp:spPr>
        <a:xfrm>
          <a:off x="5920092" y="1606973"/>
          <a:ext cx="2168898" cy="364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5787" tIns="0" rIns="0" bIns="0" numCol="1" spcCol="1270" anchor="t" anchorCtr="0">
          <a:noAutofit/>
        </a:bodyPr>
        <a:lstStyle/>
        <a:p>
          <a:pPr marL="0" lvl="0" indent="0" algn="l" defTabSz="711200">
            <a:lnSpc>
              <a:spcPct val="90000"/>
            </a:lnSpc>
            <a:spcBef>
              <a:spcPct val="0"/>
            </a:spcBef>
            <a:spcAft>
              <a:spcPct val="35000"/>
            </a:spcAft>
            <a:buNone/>
          </a:pPr>
          <a:r>
            <a:rPr lang="en-US" sz="1600" b="1" kern="1200" dirty="0"/>
            <a:t>Ongoing</a:t>
          </a:r>
        </a:p>
        <a:p>
          <a:pPr marL="0" lvl="0" indent="0" algn="l" defTabSz="711200">
            <a:lnSpc>
              <a:spcPct val="90000"/>
            </a:lnSpc>
            <a:spcBef>
              <a:spcPct val="0"/>
            </a:spcBef>
            <a:spcAft>
              <a:spcPct val="35000"/>
            </a:spcAft>
            <a:buNone/>
          </a:pPr>
          <a:r>
            <a:rPr lang="en-US" sz="1600" kern="1200" dirty="0"/>
            <a:t>-implementation</a:t>
          </a:r>
        </a:p>
        <a:p>
          <a:pPr marL="0" lvl="0" indent="0" algn="l" defTabSz="711200">
            <a:lnSpc>
              <a:spcPct val="90000"/>
            </a:lnSpc>
            <a:spcBef>
              <a:spcPct val="0"/>
            </a:spcBef>
            <a:spcAft>
              <a:spcPct val="35000"/>
            </a:spcAft>
            <a:buNone/>
          </a:pPr>
          <a:r>
            <a:rPr lang="en-US" sz="1600" kern="1200" dirty="0"/>
            <a:t>-staff education</a:t>
          </a:r>
        </a:p>
        <a:p>
          <a:pPr marL="0" lvl="0" indent="0" algn="l" defTabSz="711200">
            <a:lnSpc>
              <a:spcPct val="90000"/>
            </a:lnSpc>
            <a:spcBef>
              <a:spcPct val="0"/>
            </a:spcBef>
            <a:spcAft>
              <a:spcPct val="35000"/>
            </a:spcAft>
            <a:buNone/>
          </a:pPr>
          <a:r>
            <a:rPr lang="en-US" sz="1600" kern="1200" dirty="0"/>
            <a:t>-staff support</a:t>
          </a:r>
        </a:p>
        <a:p>
          <a:pPr marL="0" lvl="0" indent="0" algn="l" defTabSz="711200">
            <a:lnSpc>
              <a:spcPct val="90000"/>
            </a:lnSpc>
            <a:spcBef>
              <a:spcPct val="0"/>
            </a:spcBef>
            <a:spcAft>
              <a:spcPct val="35000"/>
            </a:spcAft>
            <a:buNone/>
          </a:pPr>
          <a:r>
            <a:rPr lang="en-US" sz="1600" kern="1200" dirty="0"/>
            <a:t>-scaling to all target markets</a:t>
          </a:r>
        </a:p>
        <a:p>
          <a:pPr marL="0" lvl="0" indent="0" algn="l" defTabSz="711200">
            <a:lnSpc>
              <a:spcPct val="90000"/>
            </a:lnSpc>
            <a:spcBef>
              <a:spcPct val="0"/>
            </a:spcBef>
            <a:spcAft>
              <a:spcPct val="35000"/>
            </a:spcAft>
            <a:buNone/>
          </a:pPr>
          <a:r>
            <a:rPr lang="en-US" sz="1600" kern="1200" dirty="0"/>
            <a:t>-protocol iterations</a:t>
          </a:r>
        </a:p>
      </dsp:txBody>
      <dsp:txXfrm>
        <a:off x="5920092" y="1606973"/>
        <a:ext cx="2168898" cy="364235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194C35-0AA9-41CB-84F6-AF1A2EF42389}" type="datetimeFigureOut">
              <a:rPr lang="en-CA" smtClean="0"/>
              <a:t>2026-05-18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9EB4E-D50A-4CF1-9B06-457599E410FB}" type="slidenum">
              <a:rPr lang="en-CA" smtClean="0"/>
              <a:t>‹#›</a:t>
            </a:fld>
            <a:endParaRPr lang="en-CA"/>
          </a:p>
        </p:txBody>
      </p:sp>
    </p:spTree>
    <p:extLst>
      <p:ext uri="{BB962C8B-B14F-4D97-AF65-F5344CB8AC3E}">
        <p14:creationId xmlns:p14="http://schemas.microsoft.com/office/powerpoint/2010/main" val="2757930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here today to talk about the Return to Performance Program that I hope will be an impactful initiative here at CSI Pacific, and I’m excited to share what I’ve been working on</a:t>
            </a:r>
          </a:p>
        </p:txBody>
      </p:sp>
      <p:sp>
        <p:nvSpPr>
          <p:cNvPr id="4" name="Slide Number Placeholder 3"/>
          <p:cNvSpPr>
            <a:spLocks noGrp="1"/>
          </p:cNvSpPr>
          <p:nvPr>
            <p:ph type="sldNum" sz="quarter" idx="5"/>
          </p:nvPr>
        </p:nvSpPr>
        <p:spPr/>
        <p:txBody>
          <a:bodyPr/>
          <a:lstStyle/>
          <a:p>
            <a:fld id="{EAF9EB4E-D50A-4CF1-9B06-457599E410FB}" type="slidenum">
              <a:rPr lang="en-CA" smtClean="0"/>
              <a:t>1</a:t>
            </a:fld>
            <a:endParaRPr lang="en-CA"/>
          </a:p>
        </p:txBody>
      </p:sp>
    </p:spTree>
    <p:extLst>
      <p:ext uri="{BB962C8B-B14F-4D97-AF65-F5344CB8AC3E}">
        <p14:creationId xmlns:p14="http://schemas.microsoft.com/office/powerpoint/2010/main" val="2756951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start today with just a few slides to set the stage and provide some context for the project.</a:t>
            </a:r>
          </a:p>
          <a:p>
            <a:r>
              <a:rPr lang="en-US" dirty="0"/>
              <a:t>I’ll spend the majority of my time, kind of giving a tour of what I’ve developed so far</a:t>
            </a:r>
          </a:p>
          <a:p>
            <a:r>
              <a:rPr lang="en-US" dirty="0"/>
              <a:t>Then I’ll come back to the slides briefly and say a few words on the implementation and integration of this program into performance services</a:t>
            </a:r>
          </a:p>
          <a:p>
            <a:r>
              <a:rPr lang="en-US" dirty="0"/>
              <a:t>And I am planning to leave lots of time for questions and discussion at the end</a:t>
            </a:r>
          </a:p>
        </p:txBody>
      </p:sp>
      <p:sp>
        <p:nvSpPr>
          <p:cNvPr id="4" name="Slide Number Placeholder 3"/>
          <p:cNvSpPr>
            <a:spLocks noGrp="1"/>
          </p:cNvSpPr>
          <p:nvPr>
            <p:ph type="sldNum" sz="quarter" idx="5"/>
          </p:nvPr>
        </p:nvSpPr>
        <p:spPr/>
        <p:txBody>
          <a:bodyPr/>
          <a:lstStyle/>
          <a:p>
            <a:fld id="{EAF9EB4E-D50A-4CF1-9B06-457599E410FB}" type="slidenum">
              <a:rPr lang="en-CA" smtClean="0"/>
              <a:t>2</a:t>
            </a:fld>
            <a:endParaRPr lang="en-CA"/>
          </a:p>
        </p:txBody>
      </p:sp>
    </p:spTree>
    <p:extLst>
      <p:ext uri="{BB962C8B-B14F-4D97-AF65-F5344CB8AC3E}">
        <p14:creationId xmlns:p14="http://schemas.microsoft.com/office/powerpoint/2010/main" val="3262211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3B6A-1512-D15A-6B20-96242C813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D180A-3B62-F31F-5D69-DF37947C1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143DF-15B0-767D-B1DC-D61EC26E9324}"/>
              </a:ext>
            </a:extLst>
          </p:cNvPr>
          <p:cNvSpPr>
            <a:spLocks noGrp="1"/>
          </p:cNvSpPr>
          <p:nvPr>
            <p:ph type="body" idx="1"/>
          </p:nvPr>
        </p:nvSpPr>
        <p:spPr/>
        <p:txBody>
          <a:bodyPr/>
          <a:lstStyle/>
          <a:p>
            <a:r>
              <a:rPr lang="en-US" dirty="0"/>
              <a:t>For anyone who is not familiar with my role at CSI,</a:t>
            </a:r>
          </a:p>
          <a:p>
            <a:endParaRPr lang="en-US" dirty="0"/>
          </a:p>
          <a:p>
            <a:endParaRPr lang="en-US" dirty="0"/>
          </a:p>
          <a:p>
            <a:r>
              <a:rPr lang="en-US" dirty="0"/>
              <a:t>In August 2025 I was assigned a part time role of RTP…</a:t>
            </a:r>
          </a:p>
          <a:p>
            <a:r>
              <a:rPr lang="en-US" dirty="0"/>
              <a:t>And that’s why I’m here today to talk about RTP</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A4A16D3-BFC5-E000-C987-B628F4401759}"/>
              </a:ext>
            </a:extLst>
          </p:cNvPr>
          <p:cNvSpPr>
            <a:spLocks noGrp="1"/>
          </p:cNvSpPr>
          <p:nvPr>
            <p:ph type="sldNum" sz="quarter" idx="5"/>
          </p:nvPr>
        </p:nvSpPr>
        <p:spPr/>
        <p:txBody>
          <a:bodyPr/>
          <a:lstStyle/>
          <a:p>
            <a:fld id="{B74BA747-CB77-A34E-A837-76EFB0AC8D90}" type="slidenum">
              <a:rPr lang="en-US" smtClean="0"/>
              <a:t>3</a:t>
            </a:fld>
            <a:endParaRPr lang="en-US"/>
          </a:p>
        </p:txBody>
      </p:sp>
    </p:spTree>
    <p:extLst>
      <p:ext uri="{BB962C8B-B14F-4D97-AF65-F5344CB8AC3E}">
        <p14:creationId xmlns:p14="http://schemas.microsoft.com/office/powerpoint/2010/main" val="448392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about me, I’ve been solo parenting for the past 2 weeks, while my wife is away for work.</a:t>
            </a:r>
          </a:p>
          <a:p>
            <a:endParaRPr lang="en-US" dirty="0"/>
          </a:p>
          <a:p>
            <a:r>
              <a:rPr lang="en-US" dirty="0"/>
              <a:t>And the other day I was rehearsing this presentation for my boy, my one year old.. And.. Yeah He fell asleep on the floor, on his face…</a:t>
            </a:r>
          </a:p>
          <a:p>
            <a:endParaRPr lang="en-US" dirty="0"/>
          </a:p>
          <a:p>
            <a:r>
              <a:rPr lang="en-US" dirty="0"/>
              <a:t>I don’t recall him ever doing this before, so I assume this means he has never in his life been so bored, as he was watching me present…. So yeah not the best sign for how this will go…. But I’m just </a:t>
            </a:r>
            <a:r>
              <a:rPr lang="en-US" dirty="0" err="1"/>
              <a:t>gonna</a:t>
            </a:r>
            <a:r>
              <a:rPr lang="en-US" dirty="0"/>
              <a:t> try to be better.</a:t>
            </a:r>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4</a:t>
            </a:fld>
            <a:endParaRPr lang="en-CA"/>
          </a:p>
        </p:txBody>
      </p:sp>
    </p:spTree>
    <p:extLst>
      <p:ext uri="{BB962C8B-B14F-4D97-AF65-F5344CB8AC3E}">
        <p14:creationId xmlns:p14="http://schemas.microsoft.com/office/powerpoint/2010/main" val="1212117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F81B2-3CF8-DE1B-FF9F-A2C1DC911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45E42-206F-0198-AD4C-EFBE0970D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BA96F-6E38-616F-A16D-61FD941512DE}"/>
              </a:ext>
            </a:extLst>
          </p:cNvPr>
          <p:cNvSpPr>
            <a:spLocks noGrp="1"/>
          </p:cNvSpPr>
          <p:nvPr>
            <p:ph type="body" idx="1"/>
          </p:nvPr>
        </p:nvSpPr>
        <p:spPr/>
        <p:txBody>
          <a:bodyPr/>
          <a:lstStyle/>
          <a:p>
            <a:pPr marL="0" indent="0">
              <a:spcBef>
                <a:spcPts val="0"/>
              </a:spcBef>
              <a:buNone/>
            </a:pPr>
            <a:r>
              <a:rPr lang="en-CA" sz="1200" dirty="0"/>
              <a:t>2 quick slides to highlight the problem and the solution</a:t>
            </a:r>
          </a:p>
          <a:p>
            <a:pPr marL="0" indent="0">
              <a:spcBef>
                <a:spcPts val="0"/>
              </a:spcBef>
              <a:buNone/>
            </a:pPr>
            <a:endParaRPr lang="en-CA" sz="1200" dirty="0"/>
          </a:p>
          <a:p>
            <a:pPr marL="0" indent="0">
              <a:spcBef>
                <a:spcPts val="0"/>
              </a:spcBef>
              <a:buNone/>
            </a:pPr>
            <a:r>
              <a:rPr lang="en-CA" sz="1200" dirty="0"/>
              <a:t>The problem that’s been identified is that CSIP does not have a RTP protocol</a:t>
            </a:r>
          </a:p>
          <a:p>
            <a:pPr marL="0" indent="0">
              <a:spcBef>
                <a:spcPts val="0"/>
              </a:spcBef>
              <a:buNone/>
            </a:pPr>
            <a:endParaRPr lang="en-CA" sz="1200" dirty="0"/>
          </a:p>
          <a:p>
            <a:pPr marL="0" indent="0">
              <a:spcBef>
                <a:spcPts val="0"/>
              </a:spcBef>
              <a:buNone/>
            </a:pPr>
            <a:r>
              <a:rPr lang="en-CA" sz="1200" dirty="0"/>
              <a:t>In and of itself, this is a real problem: we work on multiple rehab cases every year in Whistler alone, we have the expectation of delivering a “better than world-class” solution, and often I think we are able to do a great job, but we're missing a lot of pieces needed to be at that world class level.  Additionally, rehab service delivery is a massive workload for our practitioners and something that often does not get properly recognized and valued in our partnerships and agreements</a:t>
            </a:r>
          </a:p>
          <a:p>
            <a:pPr marL="0" indent="0">
              <a:spcBef>
                <a:spcPts val="0"/>
              </a:spcBef>
              <a:buNone/>
            </a:pPr>
            <a:endParaRPr lang="en-CA" sz="1200" dirty="0"/>
          </a:p>
          <a:p>
            <a:pPr marL="0" indent="0">
              <a:spcBef>
                <a:spcPts val="0"/>
              </a:spcBef>
              <a:buNone/>
            </a:pPr>
            <a:r>
              <a:rPr lang="en-CA" sz="1200" dirty="0"/>
              <a:t>Now one of the reasons I was interested in taking this project on was that I feel a solution to the RTP problem can also  have a lot of downstream effects in performance services.</a:t>
            </a:r>
          </a:p>
          <a:p>
            <a:pPr marL="0" indent="0">
              <a:spcBef>
                <a:spcPts val="0"/>
              </a:spcBef>
              <a:buNone/>
            </a:pPr>
            <a:endParaRPr lang="en-CA" sz="1200" dirty="0"/>
          </a:p>
          <a:p>
            <a:pPr marL="0" indent="0">
              <a:spcBef>
                <a:spcPts val="0"/>
              </a:spcBef>
              <a:buNone/>
            </a:pPr>
            <a:r>
              <a:rPr lang="en-CA" sz="1200" dirty="0"/>
              <a:t>So some other problems that I hope to provide solutions to today are</a:t>
            </a:r>
          </a:p>
          <a:p>
            <a:pPr marL="0" indent="0">
              <a:spcBef>
                <a:spcPts val="0"/>
              </a:spcBef>
              <a:buNone/>
            </a:pPr>
            <a:r>
              <a:rPr lang="en-CA" sz="1200" dirty="0"/>
              <a:t>1. the lack of a performance data pipeline in S&amp;C</a:t>
            </a:r>
          </a:p>
          <a:p>
            <a:pPr marL="0" indent="0">
              <a:spcBef>
                <a:spcPts val="0"/>
              </a:spcBef>
              <a:buNone/>
            </a:pPr>
            <a:r>
              <a:rPr lang="en-CA" sz="1200" dirty="0"/>
              <a:t>2. inefficiencies with training program design</a:t>
            </a:r>
          </a:p>
          <a:p>
            <a:pPr marL="0" indent="0">
              <a:spcBef>
                <a:spcPts val="0"/>
              </a:spcBef>
              <a:buNone/>
            </a:pPr>
            <a:r>
              <a:rPr lang="en-CA" sz="1200" dirty="0"/>
              <a:t>3. a lack of organization and standardization which is impairing our ability to communicate and collaborate effectively both within the institute and with our external partners.  </a:t>
            </a:r>
          </a:p>
          <a:p>
            <a:pPr marL="0" indent="0">
              <a:spcBef>
                <a:spcPts val="0"/>
              </a:spcBef>
              <a:buNone/>
            </a:pPr>
            <a:r>
              <a:rPr lang="en-CA" sz="1200" dirty="0"/>
              <a:t>4. difficulties compounding knowledge effectively, and limiting our ability to innovate</a:t>
            </a:r>
          </a:p>
          <a:p>
            <a:pPr marL="0" indent="0">
              <a:spcBef>
                <a:spcPts val="0"/>
              </a:spcBef>
              <a:buNone/>
            </a:pPr>
            <a:endParaRPr lang="en-CA" sz="1200" dirty="0"/>
          </a:p>
          <a:p>
            <a:pPr marL="0" indent="0">
              <a:spcBef>
                <a:spcPts val="0"/>
              </a:spcBef>
              <a:buNone/>
            </a:pPr>
            <a:r>
              <a:rPr lang="en-CA" sz="1200" dirty="0"/>
              <a:t>So I'll try to highlight solutions to all of these problems today</a:t>
            </a:r>
          </a:p>
          <a:p>
            <a:pPr marL="0" indent="0">
              <a:spcBef>
                <a:spcPts val="0"/>
              </a:spcBef>
              <a:buNone/>
            </a:pPr>
            <a:endParaRPr lang="en-CA" sz="1200" dirty="0"/>
          </a:p>
          <a:p>
            <a:pPr marL="0" indent="0">
              <a:spcBef>
                <a:spcPts val="0"/>
              </a:spcBef>
              <a:buNone/>
            </a:pPr>
            <a:endParaRPr lang="en-CA" sz="1200" dirty="0"/>
          </a:p>
          <a:p>
            <a:pPr marL="0" indent="0">
              <a:spcBef>
                <a:spcPts val="0"/>
              </a:spcBef>
              <a:buNone/>
            </a:pPr>
            <a:r>
              <a:rPr lang="en-CA" sz="1200" b="1" dirty="0"/>
              <a:t>Can you provide evidence that the problem exists?   </a:t>
            </a:r>
          </a:p>
          <a:p>
            <a:pPr marL="0" indent="0">
              <a:spcBef>
                <a:spcPts val="0"/>
              </a:spcBef>
              <a:buNone/>
            </a:pPr>
            <a:r>
              <a:rPr lang="en-CA" sz="1200" dirty="0"/>
              <a:t>If a sport brings any one of our S&amp;C staff a rehab case today, there are no resources or protocols that we can give to that staff member.</a:t>
            </a:r>
          </a:p>
          <a:p>
            <a:pPr marL="0" indent="0">
              <a:spcBef>
                <a:spcPts val="0"/>
              </a:spcBef>
              <a:buNone/>
            </a:pPr>
            <a:r>
              <a:rPr lang="en-CA" sz="1200" b="1" dirty="0"/>
              <a:t>Could a solution to a problem result in positive impact for the institute, without negatively impacting our purpose?</a:t>
            </a:r>
          </a:p>
          <a:p>
            <a:pPr marL="0" indent="0">
              <a:spcBef>
                <a:spcPts val="0"/>
              </a:spcBef>
              <a:buNone/>
            </a:pPr>
            <a:r>
              <a:rPr lang="en-CA" sz="1200" dirty="0"/>
              <a:t>I do not see any negative impact to this.  I believe that to continue on our current path would be the best way to negatively impact our purpose.</a:t>
            </a:r>
          </a:p>
          <a:p>
            <a:pPr marL="0" indent="0">
              <a:spcBef>
                <a:spcPts val="0"/>
              </a:spcBef>
              <a:buNone/>
            </a:pPr>
            <a:endParaRPr lang="en-CA" sz="1200" dirty="0"/>
          </a:p>
          <a:p>
            <a:pPr marL="0" indent="0">
              <a:spcBef>
                <a:spcPts val="0"/>
              </a:spcBef>
              <a:buNone/>
            </a:pPr>
            <a:endParaRPr lang="en-CA" sz="1200" dirty="0"/>
          </a:p>
          <a:p>
            <a:pPr marL="0" indent="0">
              <a:spcBef>
                <a:spcPts val="0"/>
              </a:spcBef>
              <a:buNone/>
            </a:pPr>
            <a:r>
              <a:rPr lang="en-CA" sz="1200" dirty="0"/>
              <a:t>-One of the most common major injuries we deal with</a:t>
            </a:r>
          </a:p>
          <a:p>
            <a:pPr marL="0" indent="0">
              <a:spcBef>
                <a:spcPts val="0"/>
              </a:spcBef>
              <a:buNone/>
            </a:pPr>
            <a:r>
              <a:rPr lang="en-CA" sz="1200" dirty="0"/>
              <a:t>-One of the most studied</a:t>
            </a:r>
          </a:p>
          <a:p>
            <a:pPr marL="0" indent="0">
              <a:spcBef>
                <a:spcPts val="0"/>
              </a:spcBef>
              <a:buNone/>
            </a:pPr>
            <a:r>
              <a:rPr lang="en-CA" sz="1200" dirty="0"/>
              <a:t>-One that we know we can make a major impact with proper protocols</a:t>
            </a:r>
          </a:p>
          <a:p>
            <a:endParaRPr lang="en-US" dirty="0"/>
          </a:p>
          <a:p>
            <a:endParaRPr lang="en-US" dirty="0"/>
          </a:p>
          <a:p>
            <a:r>
              <a:rPr lang="en-US" dirty="0"/>
              <a:t>CH:</a:t>
            </a:r>
          </a:p>
          <a:p>
            <a:r>
              <a:rPr lang="en-US" dirty="0"/>
              <a:t>-t</a:t>
            </a:r>
            <a:r>
              <a:rPr lang="en-CA" sz="1200" kern="1200" dirty="0">
                <a:solidFill>
                  <a:schemeClr val="tx1"/>
                </a:solidFill>
                <a:effectLst/>
                <a:latin typeface="+mn-lt"/>
                <a:ea typeface="+mn-ea"/>
                <a:cs typeface="+mn-cs"/>
              </a:rPr>
              <a:t>he purpose of this RTP program is to provide a world-class, evidence-based</a:t>
            </a:r>
          </a:p>
          <a:p>
            <a:r>
              <a:rPr lang="en-CA" sz="1200" kern="1200" dirty="0">
                <a:solidFill>
                  <a:schemeClr val="tx1"/>
                </a:solidFill>
                <a:effectLst/>
                <a:latin typeface="+mn-lt"/>
                <a:ea typeface="+mn-ea"/>
                <a:cs typeface="+mn-cs"/>
              </a:rPr>
              <a:t>pathway leveraging cutting-edge sport science and a multi-disciplinary team approach to</a:t>
            </a:r>
          </a:p>
          <a:p>
            <a:r>
              <a:rPr lang="en-CA" sz="1200" kern="1200" dirty="0">
                <a:solidFill>
                  <a:schemeClr val="tx1"/>
                </a:solidFill>
                <a:effectLst/>
                <a:latin typeface="+mn-lt"/>
                <a:ea typeface="+mn-ea"/>
                <a:cs typeface="+mn-cs"/>
              </a:rPr>
              <a:t>rehabilitate and reintegrate winter sport athletes back to an elite level of competition</a:t>
            </a:r>
          </a:p>
          <a:p>
            <a:r>
              <a:rPr lang="en-US" dirty="0"/>
              <a:t>-</a:t>
            </a:r>
            <a:r>
              <a:rPr lang="en-CA" sz="1200" kern="1200" dirty="0">
                <a:solidFill>
                  <a:schemeClr val="tx1"/>
                </a:solidFill>
                <a:effectLst/>
                <a:latin typeface="+mn-lt"/>
                <a:ea typeface="+mn-ea"/>
                <a:cs typeface="+mn-cs"/>
              </a:rPr>
              <a:t>one-third of World Cup Freestyle Ski and Alpine Ski athletes sustain a time-loss injury each season (Florenes4</a:t>
            </a:r>
          </a:p>
          <a:p>
            <a:r>
              <a:rPr lang="en-CA" sz="1200" kern="1200" dirty="0">
                <a:solidFill>
                  <a:schemeClr val="tx1"/>
                </a:solidFill>
                <a:effectLst/>
                <a:latin typeface="+mn-lt"/>
                <a:ea typeface="+mn-ea"/>
                <a:cs typeface="+mn-cs"/>
              </a:rPr>
              <a:t>et al., 2012)</a:t>
            </a:r>
          </a:p>
          <a:p>
            <a:endParaRPr lang="en-US" dirty="0"/>
          </a:p>
        </p:txBody>
      </p:sp>
      <p:sp>
        <p:nvSpPr>
          <p:cNvPr id="4" name="Slide Number Placeholder 3">
            <a:extLst>
              <a:ext uri="{FF2B5EF4-FFF2-40B4-BE49-F238E27FC236}">
                <a16:creationId xmlns:a16="http://schemas.microsoft.com/office/drawing/2014/main" id="{F04ACF33-3E47-0D9B-8685-7D08A62F5D26}"/>
              </a:ext>
            </a:extLst>
          </p:cNvPr>
          <p:cNvSpPr>
            <a:spLocks noGrp="1"/>
          </p:cNvSpPr>
          <p:nvPr>
            <p:ph type="sldNum" sz="quarter" idx="5"/>
          </p:nvPr>
        </p:nvSpPr>
        <p:spPr/>
        <p:txBody>
          <a:bodyPr/>
          <a:lstStyle/>
          <a:p>
            <a:fld id="{EAF9EB4E-D50A-4CF1-9B06-457599E410FB}" type="slidenum">
              <a:rPr lang="en-CA" smtClean="0"/>
              <a:t>5</a:t>
            </a:fld>
            <a:endParaRPr lang="en-CA"/>
          </a:p>
        </p:txBody>
      </p:sp>
    </p:spTree>
    <p:extLst>
      <p:ext uri="{BB962C8B-B14F-4D97-AF65-F5344CB8AC3E}">
        <p14:creationId xmlns:p14="http://schemas.microsoft.com/office/powerpoint/2010/main" val="427432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My starting point is very simple:</a:t>
            </a:r>
          </a:p>
          <a:p>
            <a:r>
              <a:rPr lang="en-US" dirty="0"/>
              <a:t>Build something good… </a:t>
            </a:r>
          </a:p>
          <a:p>
            <a:endParaRPr lang="en-US" b="0" dirty="0"/>
          </a:p>
          <a:p>
            <a:r>
              <a:rPr lang="en-US" b="0" dirty="0"/>
              <a:t>How do you climb a mountain, you start walking.</a:t>
            </a:r>
          </a:p>
          <a:p>
            <a:endParaRPr lang="en-US" b="1" dirty="0"/>
          </a:p>
          <a:p>
            <a:r>
              <a:rPr lang="en-US" b="1" dirty="0"/>
              <a:t>Something good:</a:t>
            </a:r>
          </a:p>
          <a:p>
            <a:r>
              <a:rPr lang="en-CA" sz="1200" b="0" dirty="0"/>
              <a:t>ACL Rehab protocol</a:t>
            </a:r>
          </a:p>
          <a:p>
            <a:r>
              <a:rPr lang="en-CA" sz="1200" b="0" dirty="0"/>
              <a:t>And here you see some simple starting points for me</a:t>
            </a:r>
          </a:p>
          <a:p>
            <a:r>
              <a:rPr lang="en-CA" sz="1200" b="0" dirty="0"/>
              <a:t>...</a:t>
            </a:r>
          </a:p>
          <a:p>
            <a:endParaRPr lang="en-CA" sz="1200" b="0" dirty="0"/>
          </a:p>
          <a:p>
            <a:r>
              <a:rPr lang="en-CA" sz="1200" b="0" dirty="0"/>
              <a:t>ACL Protocols with these components already exist in the world, but having our own version of this I think is crucial, and I'll talk a lot about that when I'm showing you the protocol</a:t>
            </a:r>
          </a:p>
          <a:p>
            <a:endParaRPr lang="en-CA" sz="1200" b="0" dirty="0"/>
          </a:p>
          <a:p>
            <a:r>
              <a:rPr lang="en-CA" sz="1200" b="0" dirty="0"/>
              <a:t>But also, Having an understanding of what already exists in this field, it's allowed me to identify weaknesses associated with these existing protocols</a:t>
            </a:r>
          </a:p>
          <a:p>
            <a:endParaRPr lang="en-CA" sz="1200" b="0" dirty="0"/>
          </a:p>
          <a:p>
            <a:r>
              <a:rPr lang="en-CA" sz="1200" b="0" dirty="0"/>
              <a:t>The bottom 3 bullets in red, these are aspects of an ACL protocol that I have not previously encountered, and these represent an innovative approach that I think can differentiate us from others in the rehab space.</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dirty="0"/>
              <a:t>want to build that by leveraging some of our past work, by leaning on the latest peer-reviewed research, and by building off of existing industry standards</a:t>
            </a:r>
          </a:p>
          <a:p>
            <a:endParaRPr lang="en-US" b="1" dirty="0"/>
          </a:p>
          <a:p>
            <a:endParaRPr lang="en-US" b="1" dirty="0"/>
          </a:p>
          <a:p>
            <a:endParaRPr lang="en-US" b="1" dirty="0"/>
          </a:p>
          <a:p>
            <a:endParaRPr lang="en-US" b="1" dirty="0"/>
          </a:p>
          <a:p>
            <a:r>
              <a:rPr lang="en-US" b="1" dirty="0"/>
              <a:t>For now I’d like to continue with the presentation, then at the end if you’re interested I’ll show you my early work on this solution.</a:t>
            </a:r>
          </a:p>
          <a:p>
            <a:endParaRPr lang="en-US" b="1" dirty="0"/>
          </a:p>
          <a:p>
            <a:r>
              <a:rPr lang="en-US" b="1" dirty="0"/>
              <a:t>What we have now:</a:t>
            </a:r>
          </a:p>
          <a:p>
            <a:r>
              <a:rPr lang="en-US" dirty="0"/>
              <a:t>-0.4 FTE of Andrew’s time</a:t>
            </a:r>
          </a:p>
          <a:p>
            <a:r>
              <a:rPr lang="en-US" dirty="0"/>
              <a:t>-some data from previous rehabilitations conducted within our facilities</a:t>
            </a:r>
          </a:p>
          <a:p>
            <a:r>
              <a:rPr lang="en-US" dirty="0"/>
              <a:t>-a network of practitioners who can offer expertise on different aspects of the protocol</a:t>
            </a:r>
          </a:p>
          <a:p>
            <a:r>
              <a:rPr lang="en-US" dirty="0"/>
              <a:t>-Force Plates</a:t>
            </a:r>
          </a:p>
          <a:p>
            <a:r>
              <a:rPr lang="en-US" dirty="0"/>
              <a:t>-High Performance facility</a:t>
            </a:r>
          </a:p>
          <a:p>
            <a:endParaRPr lang="en-US" dirty="0"/>
          </a:p>
          <a:p>
            <a:r>
              <a:rPr lang="en-US" dirty="0"/>
              <a:t>What we don’t have: (this is a long list, but…</a:t>
            </a:r>
          </a:p>
          <a:p>
            <a:r>
              <a:rPr lang="en-US" dirty="0"/>
              <a:t>-money</a:t>
            </a:r>
          </a:p>
          <a:p>
            <a:r>
              <a:rPr lang="en-US" dirty="0"/>
              <a:t>-in house physiotherapy or other IST services</a:t>
            </a:r>
          </a:p>
          <a:p>
            <a:r>
              <a:rPr lang="en-US" dirty="0"/>
              <a:t>-isokinetic dynamometer</a:t>
            </a:r>
          </a:p>
          <a:p>
            <a:r>
              <a:rPr lang="en-US" dirty="0"/>
              <a:t>-underwater treadmill</a:t>
            </a:r>
          </a:p>
          <a:p>
            <a:endParaRPr lang="en-US" dirty="0"/>
          </a:p>
          <a:p>
            <a:r>
              <a:rPr lang="en-US" dirty="0"/>
              <a:t>One thing to notice:</a:t>
            </a:r>
          </a:p>
          <a:p>
            <a:r>
              <a:rPr lang="en-US" dirty="0"/>
              <a:t>-Again, with this solution we are addressing and getting straight to work on some of the underlying problems I identified:</a:t>
            </a:r>
          </a:p>
          <a:p>
            <a:r>
              <a:rPr lang="en-US" dirty="0"/>
              <a:t>Performance data pipeline, improved programming efficiency, striving for innovation, improving information sharing for collaboration</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6</a:t>
            </a:fld>
            <a:endParaRPr lang="en-CA"/>
          </a:p>
        </p:txBody>
      </p:sp>
    </p:spTree>
    <p:extLst>
      <p:ext uri="{BB962C8B-B14F-4D97-AF65-F5344CB8AC3E}">
        <p14:creationId xmlns:p14="http://schemas.microsoft.com/office/powerpoint/2010/main" val="654432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am I actually sharing today..</a:t>
            </a:r>
          </a:p>
          <a:p>
            <a:endParaRPr lang="en-US" dirty="0"/>
          </a:p>
          <a:p>
            <a:r>
              <a:rPr lang="en-US" dirty="0"/>
              <a:t>Most of what I’ll be showing you is going to be delivered via a website.  </a:t>
            </a:r>
          </a:p>
          <a:p>
            <a:endParaRPr lang="en-US" dirty="0"/>
          </a:p>
          <a:p>
            <a:r>
              <a:rPr lang="en-US" dirty="0"/>
              <a:t>The website is the home for the actual protocol, and primarily makes use of dashboards to communicate information and to facilitate collaboration and decision making.</a:t>
            </a:r>
          </a:p>
          <a:p>
            <a:endParaRPr lang="en-US" dirty="0"/>
          </a:p>
          <a:p>
            <a:r>
              <a:rPr lang="en-US" dirty="0"/>
              <a:t>Another major piece of the program is data collection, I’ll spend some time showing you some different tools and talk about why I actually believe this might be the most important part of the project to get right.</a:t>
            </a:r>
          </a:p>
          <a:p>
            <a:endParaRPr lang="en-US" dirty="0"/>
          </a:p>
          <a:p>
            <a:r>
              <a:rPr lang="en-US" dirty="0"/>
              <a:t>The project incorporates a full data pipeline: collection, management, analysis, reporting.  Again, something I think could also have an impact in other areas of performance services.</a:t>
            </a:r>
          </a:p>
          <a:p>
            <a:endParaRPr lang="en-US" dirty="0"/>
          </a:p>
          <a:p>
            <a:r>
              <a:rPr lang="en-US" dirty="0"/>
              <a:t>I'll show you an early layout of an exercise program template, so trying to eliminate the time-consuming task of building a program from scratch, while also making this type of work more accessible to all of our practitioners.</a:t>
            </a:r>
          </a:p>
          <a:p>
            <a:endParaRPr lang="en-US" dirty="0"/>
          </a:p>
          <a:p>
            <a:r>
              <a:rPr lang="en-US" dirty="0"/>
              <a:t>And I'll show a shard peer-reviewed research library, showing potentially a new way to increase engagement with research in our applied work.</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Not everything needs an SOP, if we spend all our time making SOPs, we lost track of the actual job of providing service</a:t>
            </a:r>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7</a:t>
            </a:fld>
            <a:endParaRPr lang="en-CA"/>
          </a:p>
        </p:txBody>
      </p:sp>
    </p:spTree>
    <p:extLst>
      <p:ext uri="{BB962C8B-B14F-4D97-AF65-F5344CB8AC3E}">
        <p14:creationId xmlns:p14="http://schemas.microsoft.com/office/powerpoint/2010/main" val="76890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not a set it and forget it protocol.  I don’t envision just handing the template off to an athlete and saying here you go good luck.  I see this more as a platform and a tool to deliver a world class rehabilitation to athletes we work with.  Yes, maybe we will be able to offer this tool as a service on it's own, but the real magic comes from our skilled practitioners delivering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This is not purposely designed for PN.  What I’ll show you today is designed for high-performance athletes who require tremendous attention to detail, and who are engaged with our services on a full-time basis.  Perhaps while I’m giving you the tour of this protocol, you will be able to see how this could eventually be delivered as a PN product.  But the point is that if or when we do so, or when we are marketing it, this is truly a program designed for the best athletes in the country, and is based on principles  that have helped athletes return to the highest levels of sport performance.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a coach I really resonate with the idea that is often talked about that it is our people that can set us apart and really make the difference.</a:t>
            </a:r>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8</a:t>
            </a:fld>
            <a:endParaRPr lang="en-CA"/>
          </a:p>
        </p:txBody>
      </p:sp>
    </p:spTree>
    <p:extLst>
      <p:ext uri="{BB962C8B-B14F-4D97-AF65-F5344CB8AC3E}">
        <p14:creationId xmlns:p14="http://schemas.microsoft.com/office/powerpoint/2010/main" val="3162592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choose your lens</a:t>
            </a:r>
          </a:p>
          <a:p>
            <a:endParaRPr lang="en-US" dirty="0"/>
          </a:p>
          <a:p>
            <a:r>
              <a:rPr lang="en-US" dirty="0"/>
              <a:t>When I’m building it, I’m trying to envision how this will work for all stakeholders, but most people who are engaging with this tool will be wearing only one or 2 hats.</a:t>
            </a:r>
          </a:p>
          <a:p>
            <a:endParaRPr lang="en-US" dirty="0"/>
          </a:p>
          <a:p>
            <a:r>
              <a:rPr lang="en-US"/>
              <a:t>And </a:t>
            </a:r>
            <a:r>
              <a:rPr lang="en-US" dirty="0"/>
              <a:t>maybe this obvious, but whichever role you fall in to here, I just want people as your watching to really think critically about how this can be useful for you and the work that you can do.  And that can be within the context of RTP, or you can think more generally about how some of these tools can elevate other areas of performance services.</a:t>
            </a:r>
          </a:p>
          <a:p>
            <a:endParaRPr lang="en-US" dirty="0"/>
          </a:p>
          <a:p>
            <a:r>
              <a:rPr lang="en-US" dirty="0"/>
              <a:t>So if you are an S&amp;C coach for example, I just want you to think about how you might be able to use this to lead a rehab.</a:t>
            </a:r>
          </a:p>
          <a:p>
            <a:endParaRPr lang="en-US" dirty="0"/>
          </a:p>
          <a:p>
            <a:r>
              <a:rPr lang="en-US" dirty="0"/>
              <a:t>Or if you are an administrator, maybe you want to think about how this could improve information flow and communication within your organization.</a:t>
            </a:r>
          </a:p>
          <a:p>
            <a:endParaRPr lang="en-US" dirty="0"/>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9</a:t>
            </a:fld>
            <a:endParaRPr lang="en-CA"/>
          </a:p>
        </p:txBody>
      </p:sp>
    </p:spTree>
    <p:extLst>
      <p:ext uri="{BB962C8B-B14F-4D97-AF65-F5344CB8AC3E}">
        <p14:creationId xmlns:p14="http://schemas.microsoft.com/office/powerpoint/2010/main" val="3071621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anticipate there might be some questions about this.  I have many many ideas of how I think this should be incorporated into our business.  I'm very aware that there is an expectation that this project will be able to bring in revenue.  Ultimately this is beyond the scope of my role, currently, but I did want to take the opportunity to highlight what I think should be the starting point.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Apologies to anyone who's not familiar with my sense of </a:t>
            </a:r>
            <a:r>
              <a:rPr lang="en-US" dirty="0" err="1"/>
              <a:t>humour</a:t>
            </a:r>
            <a:endParaRPr lang="en-US" dirty="0"/>
          </a:p>
          <a:p>
            <a:endParaRPr lang="en-US" dirty="0"/>
          </a:p>
          <a:p>
            <a:endParaRPr lang="en-US" dirty="0"/>
          </a:p>
          <a:p>
            <a:r>
              <a:rPr lang="en-US" dirty="0"/>
              <a:t>We are already doing this work, and in a lot of cases we are not recouping any value from the sports and </a:t>
            </a:r>
            <a:r>
              <a:rPr lang="en-US" dirty="0" err="1"/>
              <a:t>athletesthat</a:t>
            </a:r>
            <a:r>
              <a:rPr lang="en-US" dirty="0"/>
              <a:t> we are servicing.</a:t>
            </a:r>
          </a:p>
          <a:p>
            <a:endParaRPr lang="en-US" dirty="0"/>
          </a:p>
          <a:p>
            <a:r>
              <a:rPr lang="en-US" dirty="0"/>
              <a:t>Service agreements with our sport partners must include clear plans outlining the services delivered in the event of injury, and the mechanisms through which those services will be compensated.  </a:t>
            </a:r>
          </a:p>
          <a:p>
            <a:endParaRPr lang="en-US" dirty="0"/>
          </a:p>
          <a:p>
            <a:r>
              <a:rPr lang="en-US" dirty="0"/>
              <a:t>Now that we have a formalized system in place, we have something tangible to bring to those discussions.  We can clearly show our partners how we will deliver an extremely high level of service and we can structure agreements to create fair and sustainable value for everyone involved.</a:t>
            </a:r>
          </a:p>
          <a:p>
            <a:endParaRPr lang="en-US" dirty="0"/>
          </a:p>
          <a:p>
            <a:r>
              <a:rPr lang="en-US" dirty="0"/>
              <a:t>So I just think that this would be a great place to start because we’re already doing that work, and then in the future I think that this project can open up a lot of </a:t>
            </a:r>
            <a:r>
              <a:rPr lang="en-US"/>
              <a:t>new opportunities </a:t>
            </a:r>
            <a:r>
              <a:rPr lang="en-US" dirty="0"/>
              <a:t>as well.</a:t>
            </a:r>
          </a:p>
          <a:p>
            <a:endParaRPr lang="en-US" dirty="0"/>
          </a:p>
          <a:p>
            <a:endParaRPr lang="en-US" dirty="0"/>
          </a:p>
          <a:p>
            <a:endParaRPr lang="en-US" dirty="0"/>
          </a:p>
          <a:p>
            <a:r>
              <a:rPr lang="en-US" dirty="0"/>
              <a:t>It's just been a tough couple years of seeing FTE commitments from sports go down and down and down, but the expectations of what gets delivered doesn't always follow with that.  It always made sense to me when I was full time with a sport that if things pop up like injuries, you just deal with it, you make it work because that's your job.  But if I'm part time and I have all kinds of other </a:t>
            </a:r>
            <a:r>
              <a:rPr lang="en-US" dirty="0" err="1"/>
              <a:t>responsiblities</a:t>
            </a:r>
            <a:r>
              <a:rPr lang="en-US" dirty="0"/>
              <a:t>, </a:t>
            </a:r>
          </a:p>
          <a:p>
            <a:endParaRPr lang="en-US" dirty="0"/>
          </a:p>
          <a:p>
            <a:r>
              <a:rPr lang="en-US" dirty="0"/>
              <a:t>Maybe we can use this to get sports to pay upfront.  Or we can include this service when they invest to a certain level..</a:t>
            </a:r>
          </a:p>
          <a:p>
            <a:endParaRPr lang="en-US" dirty="0"/>
          </a:p>
          <a:p>
            <a:endParaRPr lang="en-US" dirty="0"/>
          </a:p>
          <a:p>
            <a:r>
              <a:rPr lang="en-US" dirty="0"/>
              <a:t>That's all a really want to say on that for now</a:t>
            </a:r>
          </a:p>
          <a:p>
            <a:endParaRPr lang="en-US" dirty="0"/>
          </a:p>
          <a:p>
            <a:endParaRPr lang="en-US" dirty="0"/>
          </a:p>
          <a:p>
            <a:endParaRPr lang="en-US" dirty="0"/>
          </a:p>
          <a:p>
            <a:endParaRPr lang="en-US" dirty="0"/>
          </a:p>
          <a:p>
            <a:endParaRPr lang="en-US" dirty="0"/>
          </a:p>
          <a:p>
            <a:endParaRPr lang="en-US" dirty="0"/>
          </a:p>
          <a:p>
            <a:r>
              <a:rPr lang="en-US" dirty="0"/>
              <a:t>Could this be an initiative that doesn’t flow through the NSOs?  Can this be something that is funded directly by OTP or something else, and then provides amazing value to the NSOs?</a:t>
            </a:r>
          </a:p>
          <a:p>
            <a:endParaRPr lang="en-US" dirty="0"/>
          </a:p>
          <a:p>
            <a:endParaRPr lang="en-US" dirty="0"/>
          </a:p>
          <a:p>
            <a:endParaRPr lang="en-US" dirty="0"/>
          </a:p>
          <a:p>
            <a:endParaRPr lang="en-US" dirty="0"/>
          </a:p>
          <a:p>
            <a:endParaRPr lang="en-US" dirty="0"/>
          </a:p>
          <a:p>
            <a:r>
              <a:rPr lang="en-US" dirty="0"/>
              <a:t>I would submit the idea that we do not have a revenue generation problem, we have a revenue collection problem.</a:t>
            </a:r>
          </a:p>
        </p:txBody>
      </p:sp>
      <p:sp>
        <p:nvSpPr>
          <p:cNvPr id="4" name="Slide Number Placeholder 3"/>
          <p:cNvSpPr>
            <a:spLocks noGrp="1"/>
          </p:cNvSpPr>
          <p:nvPr>
            <p:ph type="sldNum" sz="quarter" idx="5"/>
          </p:nvPr>
        </p:nvSpPr>
        <p:spPr/>
        <p:txBody>
          <a:bodyPr/>
          <a:lstStyle/>
          <a:p>
            <a:fld id="{EAF9EB4E-D50A-4CF1-9B06-457599E410FB}" type="slidenum">
              <a:rPr lang="en-CA" smtClean="0"/>
              <a:t>11</a:t>
            </a:fld>
            <a:endParaRPr lang="en-CA"/>
          </a:p>
        </p:txBody>
      </p:sp>
    </p:spTree>
    <p:extLst>
      <p:ext uri="{BB962C8B-B14F-4D97-AF65-F5344CB8AC3E}">
        <p14:creationId xmlns:p14="http://schemas.microsoft.com/office/powerpoint/2010/main" val="2157803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buNone/>
            </a:pPr>
            <a:r>
              <a:rPr lang="en-CA" sz="1200" b="0" dirty="0"/>
              <a:t>Speaking of others, competition benchmarking,</a:t>
            </a:r>
          </a:p>
          <a:p>
            <a:pPr marL="0" indent="0">
              <a:spcBef>
                <a:spcPts val="0"/>
              </a:spcBef>
              <a:buNone/>
            </a:pPr>
            <a:r>
              <a:rPr lang="en-CA" sz="1200" b="0" dirty="0"/>
              <a:t>I have this split into 2 categories:</a:t>
            </a:r>
          </a:p>
          <a:p>
            <a:pPr marL="0" indent="0">
              <a:spcBef>
                <a:spcPts val="0"/>
              </a:spcBef>
              <a:buNone/>
            </a:pPr>
            <a:r>
              <a:rPr lang="en-CA" sz="1200" b="0" dirty="0"/>
              <a:t>1)Who are we learning from, wo are we modelling our solution after?</a:t>
            </a:r>
          </a:p>
          <a:p>
            <a:pPr marL="0" indent="0">
              <a:spcBef>
                <a:spcPts val="0"/>
              </a:spcBef>
              <a:buNone/>
            </a:pPr>
            <a:r>
              <a:rPr lang="en-CA" sz="1200" b="0" dirty="0"/>
              <a:t>        This is not an exhaustive list but includes some excellent examples for us to build on</a:t>
            </a:r>
          </a:p>
          <a:p>
            <a:pPr marL="0" indent="0">
              <a:spcBef>
                <a:spcPts val="0"/>
              </a:spcBef>
              <a:buNone/>
            </a:pPr>
            <a:endParaRPr lang="en-CA" sz="1200" b="0" dirty="0"/>
          </a:p>
          <a:p>
            <a:pPr marL="0" indent="0">
              <a:spcBef>
                <a:spcPts val="0"/>
              </a:spcBef>
              <a:buNone/>
            </a:pPr>
            <a:r>
              <a:rPr lang="en-CA" sz="1200" b="0" dirty="0"/>
              <a:t>2)Who else in Canada is leading ACL Rehabs on a similar scale</a:t>
            </a:r>
          </a:p>
          <a:p>
            <a:pPr marL="0" indent="0">
              <a:spcBef>
                <a:spcPts val="0"/>
              </a:spcBef>
              <a:buNone/>
            </a:pPr>
            <a:endParaRPr lang="en-CA" sz="1200" b="0" dirty="0"/>
          </a:p>
          <a:p>
            <a:pPr marL="0" indent="0">
              <a:spcBef>
                <a:spcPts val="0"/>
              </a:spcBef>
              <a:buNone/>
            </a:pPr>
            <a:r>
              <a:rPr lang="en-CA" sz="1200" b="0" dirty="0"/>
              <a:t>So the question is what makes this solution different than the competition and why would people choose this solution over others.</a:t>
            </a:r>
          </a:p>
          <a:p>
            <a:pPr marL="0" indent="0">
              <a:spcBef>
                <a:spcPts val="0"/>
              </a:spcBef>
              <a:buNone/>
            </a:pPr>
            <a:endParaRPr lang="en-CA" sz="1200" b="0" dirty="0"/>
          </a:p>
          <a:p>
            <a:pPr marL="0" indent="0">
              <a:spcBef>
                <a:spcPts val="0"/>
              </a:spcBef>
              <a:buNone/>
            </a:pPr>
            <a:r>
              <a:rPr lang="en-CA" sz="1200" b="0" dirty="0"/>
              <a:t>So these novel aspects that I mentioned ... these are gaps in current protocols, and my solution is meant to fill these gaps and improve upon each example that you see here</a:t>
            </a:r>
          </a:p>
          <a:p>
            <a:pPr marL="0" indent="0">
              <a:spcBef>
                <a:spcPts val="0"/>
              </a:spcBef>
              <a:buNone/>
            </a:pPr>
            <a:endParaRPr lang="en-CA" sz="1200" b="1" dirty="0"/>
          </a:p>
          <a:p>
            <a:pPr marL="0" indent="0">
              <a:spcBef>
                <a:spcPts val="0"/>
              </a:spcBef>
              <a:buNone/>
            </a:pPr>
            <a:r>
              <a:rPr lang="en-CA" sz="1200" b="0" dirty="0"/>
              <a:t>One way I think of these improvements, is that they are helping us understand not just what needs to be done throughout a </a:t>
            </a:r>
            <a:r>
              <a:rPr lang="en-CA" sz="1200" b="0" dirty="0" err="1"/>
              <a:t>rehabm</a:t>
            </a:r>
            <a:r>
              <a:rPr lang="en-CA" sz="1200" b="0" dirty="0"/>
              <a:t> but also how to do it.</a:t>
            </a:r>
          </a:p>
          <a:p>
            <a:pPr marL="0" indent="0">
              <a:spcBef>
                <a:spcPts val="0"/>
              </a:spcBef>
              <a:buNone/>
            </a:pPr>
            <a:endParaRPr lang="en-CA" sz="1200" b="1" dirty="0"/>
          </a:p>
          <a:p>
            <a:pPr marL="0" indent="0">
              <a:spcBef>
                <a:spcPts val="0"/>
              </a:spcBef>
              <a:buNone/>
            </a:pPr>
            <a:endParaRPr lang="en-CA" sz="1200" b="1" dirty="0"/>
          </a:p>
          <a:p>
            <a:pPr marL="0" indent="0">
              <a:spcBef>
                <a:spcPts val="0"/>
              </a:spcBef>
              <a:buNone/>
            </a:pPr>
            <a:r>
              <a:rPr lang="en-CA" sz="1200" b="1" dirty="0"/>
              <a:t>Describe your key differentiators that make your solution different than your competition.</a:t>
            </a:r>
          </a:p>
          <a:p>
            <a:pPr marL="0" indent="0">
              <a:spcBef>
                <a:spcPts val="0"/>
              </a:spcBef>
              <a:buNone/>
            </a:pPr>
            <a:r>
              <a:rPr lang="en-CA" sz="1200" dirty="0"/>
              <a:t>A fully integrated digital tool</a:t>
            </a:r>
          </a:p>
          <a:p>
            <a:pPr marL="0" indent="0">
              <a:spcBef>
                <a:spcPts val="0"/>
              </a:spcBef>
              <a:buNone/>
            </a:pPr>
            <a:r>
              <a:rPr lang="en-CA" sz="1200" dirty="0"/>
              <a:t>“Open Source” …</a:t>
            </a:r>
          </a:p>
          <a:p>
            <a:pPr marL="0" indent="0">
              <a:spcBef>
                <a:spcPts val="0"/>
              </a:spcBef>
              <a:buNone/>
            </a:pPr>
            <a:endParaRPr lang="en-CA" sz="1200" dirty="0"/>
          </a:p>
          <a:p>
            <a:pPr marL="0" indent="0">
              <a:spcBef>
                <a:spcPts val="0"/>
              </a:spcBef>
              <a:buNone/>
            </a:pPr>
            <a:r>
              <a:rPr lang="en-CA" sz="1200" b="1" dirty="0"/>
              <a:t>[KPI: Is your solution unique enough that your target market (customers) will choose your solution over alternatives?] </a:t>
            </a:r>
          </a:p>
          <a:p>
            <a:pPr marL="0" indent="0">
              <a:spcBef>
                <a:spcPts val="0"/>
              </a:spcBef>
              <a:buNone/>
            </a:pPr>
            <a:r>
              <a:rPr lang="en-CA" sz="1200" dirty="0"/>
              <a:t>Yes, possibly.  I could see other Institutes saying, “well this is good, we’ll use the tool”</a:t>
            </a:r>
          </a:p>
          <a:p>
            <a:pPr marL="0" indent="0">
              <a:spcBef>
                <a:spcPts val="0"/>
              </a:spcBef>
              <a:buNone/>
            </a:pPr>
            <a:r>
              <a:rPr lang="en-CA" sz="1200" dirty="0"/>
              <a:t>Also, because it's an online platform, were' not restricted to just Whistler and Victoria</a:t>
            </a:r>
          </a:p>
          <a:p>
            <a:pPr marL="0" indent="0">
              <a:spcBef>
                <a:spcPts val="0"/>
              </a:spcBef>
              <a:buNone/>
            </a:pPr>
            <a:endParaRPr lang="en-CA" sz="1200" b="1" i="1" dirty="0">
              <a:solidFill>
                <a:srgbClr val="002060"/>
              </a:solidFill>
            </a:endParaRPr>
          </a:p>
          <a:p>
            <a:pPr marL="0" indent="0">
              <a:spcBef>
                <a:spcPts val="0"/>
              </a:spcBef>
              <a:buNone/>
            </a:pPr>
            <a:endParaRPr lang="en-CA" sz="1200" b="1" i="1" dirty="0">
              <a:solidFill>
                <a:srgbClr val="002060"/>
              </a:solidFill>
            </a:endParaRPr>
          </a:p>
          <a:p>
            <a:endParaRPr lang="en-US" dirty="0"/>
          </a:p>
          <a:p>
            <a:endParaRPr lang="en-US" dirty="0"/>
          </a:p>
          <a:p>
            <a:endParaRPr lang="en-US" dirty="0"/>
          </a:p>
          <a:p>
            <a:r>
              <a:rPr lang="en-US" dirty="0"/>
              <a:t>Competition:</a:t>
            </a:r>
          </a:p>
          <a:p>
            <a:r>
              <a:rPr lang="en-US" dirty="0"/>
              <a:t>-CSI Calgary (collaborate)</a:t>
            </a:r>
          </a:p>
          <a:p>
            <a:r>
              <a:rPr lang="en-US" dirty="0"/>
              <a:t>-Private</a:t>
            </a:r>
          </a:p>
          <a:p>
            <a:r>
              <a:rPr lang="en-US" dirty="0"/>
              <a:t>-</a:t>
            </a:r>
            <a:r>
              <a:rPr lang="en-US" dirty="0" err="1"/>
              <a:t>Fortius</a:t>
            </a:r>
            <a:r>
              <a:rPr lang="en-US" dirty="0"/>
              <a:t> (n/a)</a:t>
            </a:r>
          </a:p>
          <a:p>
            <a:endParaRPr lang="en-US" dirty="0"/>
          </a:p>
          <a:p>
            <a:endParaRPr lang="en-US" dirty="0"/>
          </a:p>
          <a:p>
            <a:r>
              <a:rPr lang="en-US" dirty="0"/>
              <a:t>World Leading Examples:</a:t>
            </a:r>
          </a:p>
          <a:p>
            <a:r>
              <a:rPr lang="en-US" dirty="0"/>
              <a:t>(and one thing they do best that we can learn from)</a:t>
            </a:r>
          </a:p>
          <a:p>
            <a:r>
              <a:rPr lang="en-US" dirty="0"/>
              <a:t>-</a:t>
            </a:r>
            <a:r>
              <a:rPr lang="en-CA" sz="1200" kern="1200" dirty="0">
                <a:solidFill>
                  <a:schemeClr val="tx1"/>
                </a:solidFill>
                <a:effectLst/>
                <a:latin typeface="+mn-lt"/>
                <a:ea typeface="+mn-ea"/>
                <a:cs typeface="+mn-cs"/>
              </a:rPr>
              <a:t>United States Ski and Snowboard</a:t>
            </a:r>
          </a:p>
          <a:p>
            <a:r>
              <a:rPr lang="en-CA" sz="1200" kern="1200" dirty="0">
                <a:solidFill>
                  <a:schemeClr val="tx1"/>
                </a:solidFill>
                <a:effectLst/>
                <a:latin typeface="+mn-lt"/>
                <a:ea typeface="+mn-ea"/>
                <a:cs typeface="+mn-cs"/>
              </a:rPr>
              <a:t>-SPARC Sports Physiotherapy &amp; Athletic Rehabilitation Clinic – Ireland, Enda King</a:t>
            </a:r>
          </a:p>
          <a:p>
            <a:r>
              <a:rPr lang="en-CA" sz="1200" kern="1200" dirty="0">
                <a:solidFill>
                  <a:schemeClr val="tx1"/>
                </a:solidFill>
                <a:effectLst/>
                <a:latin typeface="+mn-lt"/>
                <a:ea typeface="+mn-ea"/>
                <a:cs typeface="+mn-cs"/>
              </a:rPr>
              <a:t>-OTP Return to Health and Performance ‘Think Tank’</a:t>
            </a:r>
          </a:p>
          <a:p>
            <a:endParaRPr lang="en-CA" sz="120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12</a:t>
            </a:fld>
            <a:endParaRPr lang="en-CA"/>
          </a:p>
        </p:txBody>
      </p:sp>
    </p:spTree>
    <p:extLst>
      <p:ext uri="{BB962C8B-B14F-4D97-AF65-F5344CB8AC3E}">
        <p14:creationId xmlns:p14="http://schemas.microsoft.com/office/powerpoint/2010/main" val="3664131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buNone/>
            </a:pPr>
            <a:r>
              <a:rPr lang="en-CA" sz="1200" b="1" dirty="0"/>
              <a:t>Who does this problem focus 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proposal is to start with a protocol for able bodied elite athletes.  This allows us to target a big piece of our core business, then the protocol can be scaled and adapted to support other partners and other markets.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So below on the left I've got 3 markets we already service.</a:t>
            </a:r>
          </a:p>
          <a:p>
            <a:r>
              <a:rPr lang="en-US" dirty="0"/>
              <a:t>And in bold, 3 markets which I believe this protocol could open up for us.</a:t>
            </a:r>
          </a:p>
          <a:p>
            <a:endParaRPr lang="en-US" dirty="0"/>
          </a:p>
          <a:p>
            <a:r>
              <a:rPr lang="en-US" dirty="0"/>
              <a:t>One thing specifically that I'd like to talk more about afterwards is the potential to service local and remote PN clients.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Hierarchy:</a:t>
            </a:r>
          </a:p>
          <a:p>
            <a:r>
              <a:rPr lang="en-US" dirty="0"/>
              <a:t>NSO athletes is supposed to be our core business, this is at the top of the hierarchy, but it is also the smallest “market”.  Build the one big thing, targeted towards one specific pillar of our core business, then it can easily be scaled and adapted to these other markets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dirty="0"/>
              <a:t>Can you get any sense of projected number of client/customers that might be interested in this solution? </a:t>
            </a:r>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research has shown that the risk of injury and the frequency of severe injuries in freestyle skiing are high.  A retrospective study of all freestyle ski disciplines during the three World Cup seasons between 2006-2009 estimated a 44.0% (95%CI: 38.9 – 49.0%) incidence of injury each season and a 31.9% (95%CI: 27.6 – 36.2%) incidence of time-loss (≥ 1 day) injury across all competitors (</a:t>
            </a:r>
            <a:r>
              <a:rPr lang="en-US" sz="1200" kern="1200" dirty="0" err="1">
                <a:solidFill>
                  <a:schemeClr val="tx1"/>
                </a:solidFill>
                <a:effectLst/>
                <a:latin typeface="+mn-lt"/>
                <a:ea typeface="+mn-ea"/>
                <a:cs typeface="+mn-cs"/>
              </a:rPr>
              <a:t>Flørenes</a:t>
            </a:r>
            <a:r>
              <a:rPr lang="en-US" sz="1200" kern="1200" dirty="0">
                <a:solidFill>
                  <a:schemeClr val="tx1"/>
                </a:solidFill>
                <a:effectLst/>
                <a:latin typeface="+mn-lt"/>
                <a:ea typeface="+mn-ea"/>
                <a:cs typeface="+mn-cs"/>
              </a:rPr>
              <a:t> et al., 2010).  Alarmingly, severe injuries leading to time loss from training and competition of greater than 28 days were the most frequent type of injury, which is in contrast to most other sports, where severe injuries are the least frequent.  Other research found that 47% of the 95 competitors at the 2001 FIS Freestyle World Championship had experienced at least one major knee injury (&gt;20 days lost) and 26% had suffered at least one previous ACL injury (Heir et al., 2003). </a:t>
            </a:r>
          </a:p>
          <a:p>
            <a:endParaRPr lang="en-US"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Back In Action Physiotherapy alone reports treating 320 different patients with knee injuries annually</a:t>
            </a:r>
          </a:p>
          <a:p>
            <a:endParaRPr lang="en-CA"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250508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buNone/>
            </a:pPr>
            <a:r>
              <a:rPr lang="en-CA" sz="1200" dirty="0"/>
              <a:t>The role’s already been created, I’m already working on the protocol, </a:t>
            </a:r>
          </a:p>
          <a:p>
            <a:pPr marL="0" indent="0">
              <a:spcBef>
                <a:spcPts val="0"/>
              </a:spcBef>
              <a:buNone/>
            </a:pPr>
            <a:r>
              <a:rPr lang="en-CA" sz="1200" dirty="0"/>
              <a:t>so hopefully I don’t have to talk much about myself at the moment</a:t>
            </a:r>
          </a:p>
          <a:p>
            <a:pPr marL="0" indent="0">
              <a:spcBef>
                <a:spcPts val="0"/>
              </a:spcBef>
              <a:buNone/>
            </a:pPr>
            <a:endParaRPr lang="en-CA" sz="1200" dirty="0"/>
          </a:p>
          <a:p>
            <a:pPr marL="0" indent="0">
              <a:spcBef>
                <a:spcPts val="0"/>
              </a:spcBef>
              <a:buNone/>
            </a:pPr>
            <a:r>
              <a:rPr lang="en-CA" sz="1200" dirty="0"/>
              <a:t>What I would say,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dirty="0">
                <a:solidFill>
                  <a:srgbClr val="002060"/>
                </a:solidFill>
              </a:rPr>
              <a:t>Part of my proposal is to keep the working group very small at the start and to expand out as needed.  I think Craig is an integral part of this project given his experience specifically leading rehabilitations. And also, really grateful to have the support of Marc in this with his vision for what this could be and obviously all the technical expertise that he brings.</a:t>
            </a:r>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endParaRPr lang="en-CA" sz="1200" dirty="0"/>
          </a:p>
          <a:p>
            <a:pPr marL="0" indent="0">
              <a:spcBef>
                <a:spcPts val="0"/>
              </a:spcBef>
              <a:buNone/>
            </a:pPr>
            <a:r>
              <a:rPr lang="en-CA" sz="1200" dirty="0"/>
              <a:t>The main reason that I am interested in taking on this project is because it aligns with my goals of doing work that is first and foremost practical and impactful, but also involves problem solving, innovation and academic research.  I think that this endeavor doesn’t work without all of those things. I feel that I’m in a unique position to deliver an effective outcome. I think the approach I’m taking is bold, but by aiming high in this case, there is really very little downside.</a:t>
            </a: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pPr marL="0" indent="0">
              <a:spcBef>
                <a:spcPts val="0"/>
              </a:spcBef>
              <a:buNone/>
            </a:pPr>
            <a:endParaRPr lang="en-CA" sz="1200" b="0" i="0" dirty="0">
              <a:solidFill>
                <a:srgbClr val="002060"/>
              </a:solidFill>
            </a:endParaRPr>
          </a:p>
          <a:p>
            <a:r>
              <a:rPr lang="en-US" dirty="0"/>
              <a:t>Instead of getting on a zoom, and going around the circle saying “what do you think, what do you think”, I think the best approach is to build something, piece by piece so we have something to talk about, and then everyone gets hands-on with it and we decide as a group what works and what doesn’t work.</a:t>
            </a:r>
          </a:p>
          <a:p>
            <a:endParaRPr lang="en-US" dirty="0"/>
          </a:p>
          <a:p>
            <a:r>
              <a:rPr lang="en-US" dirty="0"/>
              <a:t>-Experience with successful and unsuccessful collaboration</a:t>
            </a:r>
          </a:p>
          <a:p>
            <a:r>
              <a:rPr lang="en-US" dirty="0"/>
              <a:t>-</a:t>
            </a:r>
          </a:p>
        </p:txBody>
      </p:sp>
      <p:sp>
        <p:nvSpPr>
          <p:cNvPr id="4" name="Slide Number Placeholder 3"/>
          <p:cNvSpPr>
            <a:spLocks noGrp="1"/>
          </p:cNvSpPr>
          <p:nvPr>
            <p:ph type="sldNum" sz="quarter" idx="5"/>
          </p:nvPr>
        </p:nvSpPr>
        <p:spPr/>
        <p:txBody>
          <a:bodyPr/>
          <a:lstStyle/>
          <a:p>
            <a:fld id="{EAF9EB4E-D50A-4CF1-9B06-457599E410FB}" type="slidenum">
              <a:rPr lang="en-CA" smtClean="0"/>
              <a:t>14</a:t>
            </a:fld>
            <a:endParaRPr lang="en-CA"/>
          </a:p>
        </p:txBody>
      </p:sp>
    </p:spTree>
    <p:extLst>
      <p:ext uri="{BB962C8B-B14F-4D97-AF65-F5344CB8AC3E}">
        <p14:creationId xmlns:p14="http://schemas.microsoft.com/office/powerpoint/2010/main" val="1675297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dirty="0"/>
              <a:t>My goal with this slide is to just share one idea that I have of how this product could be delivered </a:t>
            </a:r>
          </a:p>
          <a:p>
            <a:endParaRPr lang="en-CA" sz="1200" b="0" dirty="0"/>
          </a:p>
          <a:p>
            <a:r>
              <a:rPr lang="en-CA" sz="1200" b="0" dirty="0"/>
              <a:t>A lot of the talk that I’ve heard is “how do we get the NSOs to fund it”..</a:t>
            </a:r>
          </a:p>
          <a:p>
            <a:r>
              <a:rPr lang="en-CA" sz="1200" b="0" dirty="0"/>
              <a:t>My proposal would be to start with a different business model which would be something more subscription based.</a:t>
            </a:r>
          </a:p>
          <a:p>
            <a:endParaRPr lang="en-CA" sz="1200" b="0" dirty="0"/>
          </a:p>
          <a:p>
            <a:r>
              <a:rPr lang="en-CA" sz="1200" b="0" dirty="0"/>
              <a:t>So in this example there’s a monthly cost per athlete, and that can be scalable to our time commitment and the integration with our services.</a:t>
            </a:r>
          </a:p>
          <a:p>
            <a:endParaRPr lang="en-CA" sz="1200" b="0" dirty="0"/>
          </a:p>
          <a:p>
            <a:r>
              <a:rPr lang="en-CA" sz="1200" b="0" dirty="0"/>
              <a:t>So let’s say a bronze package</a:t>
            </a:r>
          </a:p>
          <a:p>
            <a:r>
              <a:rPr lang="en-CA" sz="1200" b="0" dirty="0"/>
              <a:t>-relatively inexpensive to customer / relatively simple for us to deliver</a:t>
            </a:r>
          </a:p>
          <a:p>
            <a:r>
              <a:rPr lang="en-CA" sz="1200" b="0" dirty="0"/>
              <a:t>And then in contrast, a gold package, would essentially be an improved and standardized version of what we already do for our Olympic athletes</a:t>
            </a:r>
          </a:p>
          <a:p>
            <a:r>
              <a:rPr lang="en-CA" sz="1200" b="0" dirty="0"/>
              <a:t>-very time consuming / valued accordingly</a:t>
            </a:r>
          </a:p>
          <a:p>
            <a:endParaRPr lang="en-CA" sz="1200" b="0" dirty="0"/>
          </a:p>
          <a:p>
            <a:r>
              <a:rPr lang="en-CA" sz="1200" b="0" dirty="0"/>
              <a:t>In addition to the subscription model, we could offer an upfront option, thinking specifically of our partner NSOs, </a:t>
            </a:r>
          </a:p>
          <a:p>
            <a:r>
              <a:rPr lang="en-CA" sz="1200" b="0" dirty="0"/>
              <a:t>This would be priced strategically to allow us to have some guaranteed revenue and to allow the sports to have cost certainty and the knowledge that their athletes will be well supported in the case of injury</a:t>
            </a:r>
          </a:p>
          <a:p>
            <a:endParaRPr lang="en-CA" sz="1200" b="0" dirty="0"/>
          </a:p>
          <a:p>
            <a:r>
              <a:rPr lang="en-CA" sz="1200" b="0" dirty="0"/>
              <a:t>Upfront options could be scaled in much the same way</a:t>
            </a:r>
          </a:p>
          <a:p>
            <a:endParaRPr lang="en-CA" sz="1200" b="0" dirty="0"/>
          </a:p>
          <a:p>
            <a:endParaRPr lang="en-CA" sz="1200" b="0" dirty="0"/>
          </a:p>
          <a:p>
            <a:endParaRPr lang="en-CA" sz="1200" b="0" dirty="0"/>
          </a:p>
          <a:p>
            <a:endParaRPr lang="en-CA" sz="1200" b="0" dirty="0"/>
          </a:p>
          <a:p>
            <a:endParaRPr lang="en-CA" sz="1200" b="0" dirty="0"/>
          </a:p>
          <a:p>
            <a:endParaRPr lang="en-CA" sz="1200" b="0" dirty="0"/>
          </a:p>
          <a:p>
            <a:endParaRPr lang="en-CA" sz="1200" b="0" dirty="0"/>
          </a:p>
          <a:p>
            <a:r>
              <a:rPr lang="en-CA" sz="1200" b="0" dirty="0"/>
              <a:t>Offer a product that can be effective without a massive time commitment by our staff, but is made more effective proportionately with more time commitment and deeper integration with our staff and services.</a:t>
            </a:r>
          </a:p>
          <a:p>
            <a:r>
              <a:rPr lang="en-CA" sz="1200" b="0" dirty="0"/>
              <a:t>Chart: Bronze, Silver, Gold..</a:t>
            </a:r>
          </a:p>
          <a:p>
            <a:r>
              <a:rPr lang="en-CA" sz="1200" b="0" dirty="0"/>
              <a:t>	protocol, sessions, testing..</a:t>
            </a:r>
          </a:p>
          <a:p>
            <a:endParaRPr lang="en-CA" sz="1200" b="0" dirty="0"/>
          </a:p>
          <a:p>
            <a:endParaRPr lang="en-CA" sz="1200" b="0" dirty="0"/>
          </a:p>
          <a:p>
            <a:r>
              <a:rPr lang="en-CA" sz="1200" b="0" dirty="0"/>
              <a:t>So Bronze..</a:t>
            </a:r>
          </a:p>
          <a:p>
            <a:r>
              <a:rPr lang="en-CA" sz="1200" b="0" dirty="0"/>
              <a:t>So we’re offering a specialized service, we’re bringing in monthly revenue, and we are not making a huge time-commitment.</a:t>
            </a:r>
          </a:p>
          <a:p>
            <a:endParaRPr lang="en-CA" sz="1200" b="0" dirty="0"/>
          </a:p>
          <a:p>
            <a:r>
              <a:rPr lang="en-CA" sz="1200" b="0" dirty="0"/>
              <a:t>However, we design it in such a way, and make it clear, that the more contact the athlete has with our staff and our services, the more effective the rehab will be..</a:t>
            </a:r>
          </a:p>
          <a:p>
            <a:endParaRPr lang="en-CA" sz="1200" b="0" dirty="0"/>
          </a:p>
          <a:p>
            <a:endParaRPr lang="en-CA" sz="1200" b="0" dirty="0"/>
          </a:p>
          <a:p>
            <a:r>
              <a:rPr lang="en-CA" sz="1200" b="0" dirty="0"/>
              <a:t>Gold package, is likely very similar to what we do now for our NSOs, which is a massive time commitment, and impossible for us to recoup anything close to the real value on what we deliver</a:t>
            </a:r>
          </a:p>
          <a:p>
            <a:endParaRPr lang="en-CA" sz="1200" b="0" dirty="0"/>
          </a:p>
          <a:p>
            <a:endParaRPr lang="en-CA" sz="1200" b="0" dirty="0"/>
          </a:p>
          <a:p>
            <a:endParaRPr lang="en-CA" sz="1200" b="0" dirty="0"/>
          </a:p>
          <a:p>
            <a:endParaRPr lang="en-CA" sz="1200" b="0" dirty="0"/>
          </a:p>
          <a:p>
            <a:endParaRPr lang="en-CA" sz="1200" b="0" dirty="0"/>
          </a:p>
          <a:p>
            <a:r>
              <a:rPr lang="en-CA" sz="1200" b="0" dirty="0"/>
              <a:t>. This is something that can be applied to athletes from any of the identified target markets.  Just for an example, we develop a bronze package that gives the athlete access to the ACL protocol and they get 1 workout in our facility and 1 testing session per month.</a:t>
            </a:r>
          </a:p>
          <a:p>
            <a:endParaRPr lang="en-CA" sz="1200" b="0" dirty="0"/>
          </a:p>
          <a:p>
            <a:r>
              <a:rPr lang="en-CA" sz="1200" b="0" dirty="0"/>
              <a:t>The reason I chose to use this example specifically, I think that the way to get value in the rehab field is to </a:t>
            </a:r>
          </a:p>
          <a:p>
            <a:endParaRPr lang="en-CA" sz="1200" b="1" dirty="0"/>
          </a:p>
          <a:p>
            <a:r>
              <a:rPr lang="en-CA" sz="1200" b="1" dirty="0"/>
              <a:t>Hybrid business model</a:t>
            </a:r>
          </a:p>
          <a:p>
            <a:r>
              <a:rPr lang="en-CA" sz="1200" b="0" dirty="0"/>
              <a:t>NSOs (and others) invest in the program upfront </a:t>
            </a:r>
          </a:p>
          <a:p>
            <a:endParaRPr lang="en-CA" sz="1200" b="1" dirty="0"/>
          </a:p>
          <a:p>
            <a:r>
              <a:rPr lang="en-CA" sz="1200" b="1" dirty="0"/>
              <a:t>Subscription</a:t>
            </a:r>
          </a:p>
          <a:p>
            <a:r>
              <a:rPr lang="en-CA" sz="1200" b="0" dirty="0"/>
              <a:t>I think it might work better for most as a subscription model.</a:t>
            </a:r>
          </a:p>
          <a:p>
            <a:r>
              <a:rPr lang="en-CA" sz="1200" b="0" dirty="0"/>
              <a:t>Maybe not the sport, since they would require “Gold” level service which should be extremely expensive.</a:t>
            </a:r>
          </a:p>
          <a:p>
            <a:endParaRPr lang="en-CA" sz="1200" b="0" dirty="0"/>
          </a:p>
          <a:p>
            <a:endParaRPr lang="en-CA" sz="1200" b="1" dirty="0"/>
          </a:p>
          <a:p>
            <a:endParaRPr lang="en-CA" sz="1200" b="1" dirty="0"/>
          </a:p>
          <a:p>
            <a:endParaRPr lang="en-CA" sz="1200" b="1" dirty="0"/>
          </a:p>
          <a:p>
            <a:endParaRPr lang="en-CA" sz="1200" b="1" dirty="0"/>
          </a:p>
          <a:p>
            <a:endParaRPr lang="en-CA" sz="1200" b="1" dirty="0"/>
          </a:p>
          <a:p>
            <a:endParaRPr lang="en-CA" sz="1200" b="1" dirty="0"/>
          </a:p>
          <a:p>
            <a:endParaRPr lang="en-CA" sz="1200" b="1" dirty="0"/>
          </a:p>
          <a:p>
            <a:r>
              <a:rPr lang="en-CA" sz="1200" b="1" dirty="0"/>
              <a:t>Pull together a draft top-level forecast of potential revenues and expenses into a draft budget</a:t>
            </a:r>
          </a:p>
          <a:p>
            <a:r>
              <a:rPr lang="en-CA" sz="1200" b="1" dirty="0"/>
              <a:t>Within the context of sport, show that in a not-for-profit model, there would be enough interest to support the solutions:</a:t>
            </a:r>
          </a:p>
          <a:p>
            <a:r>
              <a:rPr lang="en-CA" sz="1200" b="0" dirty="0"/>
              <a:t>-Interest is a funny word, it’s more like “need”.  Maybe some people are ”interested”</a:t>
            </a:r>
          </a:p>
          <a:p>
            <a:r>
              <a:rPr lang="en-CA" sz="1200" b="0" dirty="0"/>
              <a:t>-We will be doing rehabs either way</a:t>
            </a:r>
          </a:p>
          <a:p>
            <a:r>
              <a:rPr lang="en-CA" sz="1200" b="0" dirty="0"/>
              <a:t>	Even if we don’t care about doing it well for the sake of it…</a:t>
            </a:r>
          </a:p>
          <a:p>
            <a:r>
              <a:rPr lang="en-CA" sz="1200" b="0" dirty="0"/>
              <a:t>	We might as well do it in a highly organized manner</a:t>
            </a:r>
          </a:p>
          <a:p>
            <a:r>
              <a:rPr lang="en-CA" sz="1200" b="0" dirty="0"/>
              <a:t>-Build the thing, present it to them, convince NSOs to pay upfront</a:t>
            </a:r>
          </a:p>
          <a:p>
            <a:r>
              <a:rPr lang="en-CA" sz="1200" b="0" dirty="0"/>
              <a:t>	If someone gets hurt, the rehab is included in the agreement, and they know exactly what they 	are getting from the rehab.</a:t>
            </a:r>
          </a:p>
          <a:p>
            <a:r>
              <a:rPr lang="en-CA" sz="1200" b="0" dirty="0"/>
              <a:t>	Or they can pay the PN rate when someone gets injured..?</a:t>
            </a:r>
          </a:p>
          <a:p>
            <a:r>
              <a:rPr lang="en-CA" sz="1200" b="0" dirty="0"/>
              <a:t>	i.e. You pay $10k per year for full access OR you pay $20k for a 12 month rehab (this is a bargain for the full service including staff time commitment)</a:t>
            </a:r>
          </a:p>
          <a:p>
            <a:endParaRPr lang="en-US" b="1" dirty="0"/>
          </a:p>
          <a:p>
            <a:endParaRPr lang="en-CA" sz="1200" dirty="0"/>
          </a:p>
          <a:p>
            <a:endParaRPr lang="en-CA" sz="1200" dirty="0"/>
          </a:p>
          <a:p>
            <a:r>
              <a:rPr lang="en-CA" sz="1200" b="1" dirty="0"/>
              <a:t>Is there enough revenues to cover costs in a sustainable manner?</a:t>
            </a:r>
          </a:p>
          <a:p>
            <a:r>
              <a:rPr lang="en-CA" sz="1200" dirty="0"/>
              <a:t>-I feel like it’s not PS job to collect revenue</a:t>
            </a:r>
          </a:p>
          <a:p>
            <a:r>
              <a:rPr lang="en-CA" sz="1200" dirty="0"/>
              <a:t>-Our job is to offer the best service possible, not to sell it or ensure collection of revenue</a:t>
            </a:r>
          </a:p>
          <a:p>
            <a:r>
              <a:rPr lang="en-CA" sz="1200" dirty="0"/>
              <a:t>-PS does the work to generate the revenue, the revenue just doesn’t always get collected</a:t>
            </a:r>
            <a:endParaRPr lang="en-US" dirty="0"/>
          </a:p>
          <a:p>
            <a:endParaRPr lang="en-US" dirty="0"/>
          </a:p>
          <a:p>
            <a:endParaRPr lang="en-US" dirty="0"/>
          </a:p>
          <a:p>
            <a:endParaRPr lang="en-US" dirty="0"/>
          </a:p>
          <a:p>
            <a:r>
              <a:rPr lang="en-US" dirty="0"/>
              <a:t>AK:</a:t>
            </a:r>
          </a:p>
          <a:p>
            <a:r>
              <a:rPr lang="en-US" dirty="0"/>
              <a:t>-Our core business is supposed to be supporting Canadian high performance athletes.  This is a crucial part of supporting them</a:t>
            </a:r>
          </a:p>
          <a:p>
            <a:endParaRPr lang="en-US" dirty="0"/>
          </a:p>
          <a:p>
            <a:r>
              <a:rPr lang="en-US" dirty="0"/>
              <a:t>-This would be the first comprehensive and open-source system within Canada</a:t>
            </a:r>
          </a:p>
          <a:p>
            <a:r>
              <a:rPr lang="en-US" dirty="0"/>
              <a:t>  -i.e. Izzy: that was just service delivery, there was never really a structured, scalable protocol</a:t>
            </a:r>
          </a:p>
          <a:p>
            <a:r>
              <a:rPr lang="en-US" dirty="0"/>
              <a:t>-R&amp;D:</a:t>
            </a:r>
          </a:p>
          <a:p>
            <a:r>
              <a:rPr lang="en-US" dirty="0"/>
              <a:t>   There are a lot of opportunities just from improving our data management.  R&amp;D doesn’t have to involve a Biodex.  It’s just a way to potentially fund it via grants etc.</a:t>
            </a:r>
          </a:p>
          <a:p>
            <a:r>
              <a:rPr lang="en-US" dirty="0"/>
              <a:t>-my proposal involves basically no cost, but it has a guaranteed outcome.  The protocol will be delivered.  It will be useable for any of our staff.  From there we can probably market to NSOs, can </a:t>
            </a:r>
          </a:p>
          <a:p>
            <a:endParaRPr lang="en-US" dirty="0"/>
          </a:p>
          <a:p>
            <a:r>
              <a:rPr lang="en-US" dirty="0"/>
              <a:t>-What is the cost to not doing this?  We keep having rehab cases to do, our practitioners work inefficiently to cover these on a case-by-case basis, we do not learn/grow/innovate, we do not have procedures in place to inform research and innovation, we have no way to properly value this service and the organization (and practitioners) do not get properly compensated.</a:t>
            </a:r>
          </a:p>
          <a:p>
            <a:endParaRPr lang="en-US" dirty="0"/>
          </a:p>
          <a:p>
            <a:r>
              <a:rPr lang="en-US" dirty="0"/>
              <a:t>-we can sell you the protocol for $x or $x per month, that is IP that has value on it’s own, but the product really takes off when it leverages it’s connection to our athlete management system and especially when it is delivered by own of our expert practitioners</a:t>
            </a:r>
          </a:p>
          <a:p>
            <a:endParaRPr lang="en-US" dirty="0"/>
          </a:p>
          <a:p>
            <a:r>
              <a:rPr lang="en-US" dirty="0"/>
              <a:t>Bronze/Silver Package</a:t>
            </a:r>
          </a:p>
          <a:p>
            <a:r>
              <a:rPr lang="en-US" dirty="0"/>
              <a:t>(enough to fully engage with the protocol, but you pretty much do all the work on your own)</a:t>
            </a:r>
          </a:p>
          <a:p>
            <a:r>
              <a:rPr lang="en-US" dirty="0"/>
              <a:t>-website, program</a:t>
            </a:r>
          </a:p>
          <a:p>
            <a:r>
              <a:rPr lang="en-US" dirty="0"/>
              <a:t>-1 testing session per month</a:t>
            </a:r>
          </a:p>
          <a:p>
            <a:r>
              <a:rPr lang="en-US" dirty="0"/>
              <a:t>-1 training session per month</a:t>
            </a:r>
          </a:p>
          <a:p>
            <a:endParaRPr lang="en-US" dirty="0"/>
          </a:p>
          <a:p>
            <a:endParaRPr lang="en-US" dirty="0"/>
          </a:p>
          <a:p>
            <a:r>
              <a:rPr lang="en-US" dirty="0"/>
              <a:t>CH:</a:t>
            </a:r>
          </a:p>
          <a:p>
            <a:r>
              <a:rPr lang="en-US" dirty="0"/>
              <a:t>-</a:t>
            </a:r>
            <a:r>
              <a:rPr lang="en-CA" sz="1200" kern="1200" dirty="0">
                <a:solidFill>
                  <a:schemeClr val="tx1"/>
                </a:solidFill>
                <a:effectLst/>
                <a:latin typeface="+mn-lt"/>
                <a:ea typeface="+mn-ea"/>
                <a:cs typeface="+mn-cs"/>
              </a:rPr>
              <a:t>Increased and stable NSO and PSO investment in performance services</a:t>
            </a:r>
          </a:p>
          <a:p>
            <a:r>
              <a:rPr lang="en-CA" sz="1200" kern="1200" dirty="0">
                <a:solidFill>
                  <a:schemeClr val="tx1"/>
                </a:solidFill>
                <a:effectLst/>
                <a:latin typeface="+mn-lt"/>
                <a:ea typeface="+mn-ea"/>
                <a:cs typeface="+mn-cs"/>
              </a:rPr>
              <a:t>-strengthening stakeholder engagement </a:t>
            </a:r>
            <a:r>
              <a:rPr lang="en-CA" sz="1200" kern="1200" dirty="0" err="1">
                <a:solidFill>
                  <a:schemeClr val="tx1"/>
                </a:solidFill>
                <a:effectLst/>
                <a:latin typeface="+mn-lt"/>
                <a:ea typeface="+mn-ea"/>
                <a:cs typeface="+mn-cs"/>
              </a:rPr>
              <a:t>byfostering</a:t>
            </a:r>
            <a:r>
              <a:rPr lang="en-CA" sz="1200" kern="1200" dirty="0">
                <a:solidFill>
                  <a:schemeClr val="tx1"/>
                </a:solidFill>
                <a:effectLst/>
                <a:latin typeface="+mn-lt"/>
                <a:ea typeface="+mn-ea"/>
                <a:cs typeface="+mn-cs"/>
              </a:rPr>
              <a:t> collaboration with NSO and PSO partners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-scaled </a:t>
            </a:r>
            <a:r>
              <a:rPr lang="en-CA" sz="1200" kern="1200" dirty="0">
                <a:solidFill>
                  <a:schemeClr val="tx1"/>
                </a:solidFill>
                <a:effectLst/>
                <a:latin typeface="+mn-lt"/>
                <a:ea typeface="+mn-ea"/>
                <a:cs typeface="+mn-cs"/>
              </a:rPr>
              <a:t>private pay RTP service for</a:t>
            </a:r>
            <a:r>
              <a:rPr lang="en-US" sz="1200" kern="1200" dirty="0">
                <a:solidFill>
                  <a:schemeClr val="tx1"/>
                </a:solidFill>
                <a:effectLst/>
                <a:latin typeface="+mn-lt"/>
                <a:ea typeface="+mn-ea"/>
                <a:cs typeface="+mn-cs"/>
              </a:rPr>
              <a:t> PN</a:t>
            </a:r>
          </a:p>
          <a:p>
            <a:r>
              <a:rPr lang="en-US" sz="1200" kern="1200" dirty="0">
                <a:solidFill>
                  <a:schemeClr val="tx1"/>
                </a:solidFill>
                <a:effectLst/>
                <a:latin typeface="+mn-lt"/>
                <a:ea typeface="+mn-ea"/>
                <a:cs typeface="+mn-cs"/>
              </a:rPr>
              <a:t>-</a:t>
            </a:r>
            <a:r>
              <a:rPr lang="en-CA" sz="1200" kern="1200" dirty="0">
                <a:solidFill>
                  <a:schemeClr val="tx1"/>
                </a:solidFill>
                <a:effectLst/>
                <a:latin typeface="+mn-lt"/>
                <a:ea typeface="+mn-ea"/>
                <a:cs typeface="+mn-cs"/>
              </a:rPr>
              <a:t>The population in Whistler is approaching 16,000 residents, with almost 30,000 in Squamish and 4,000 in Pemberton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 think we build the protocol without a Biodex and then we can decide if and how we go about getting one later</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	-grants, R&amp;D partnerships</a:t>
            </a:r>
          </a:p>
        </p:txBody>
      </p:sp>
      <p:sp>
        <p:nvSpPr>
          <p:cNvPr id="4" name="Slide Number Placeholder 3"/>
          <p:cNvSpPr>
            <a:spLocks noGrp="1"/>
          </p:cNvSpPr>
          <p:nvPr>
            <p:ph type="sldNum" sz="quarter" idx="5"/>
          </p:nvPr>
        </p:nvSpPr>
        <p:spPr/>
        <p:txBody>
          <a:bodyPr/>
          <a:lstStyle/>
          <a:p>
            <a:fld id="{EAF9EB4E-D50A-4CF1-9B06-457599E410FB}" type="slidenum">
              <a:rPr lang="en-CA" smtClean="0"/>
              <a:t>15</a:t>
            </a:fld>
            <a:endParaRPr lang="en-CA"/>
          </a:p>
        </p:txBody>
      </p:sp>
    </p:spTree>
    <p:extLst>
      <p:ext uri="{BB962C8B-B14F-4D97-AF65-F5344CB8AC3E}">
        <p14:creationId xmlns:p14="http://schemas.microsoft.com/office/powerpoint/2010/main" val="1163778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B26E0-9ED7-35CC-CF2C-73512DA45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8518D-C83F-E7DA-AB52-DC2C2F4F6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C2684-845B-5C6B-8E95-9BB3FC2A040B}"/>
              </a:ext>
            </a:extLst>
          </p:cNvPr>
          <p:cNvSpPr>
            <a:spLocks noGrp="1"/>
          </p:cNvSpPr>
          <p:nvPr>
            <p:ph type="body" idx="1"/>
          </p:nvPr>
        </p:nvSpPr>
        <p:spPr/>
        <p:txBody>
          <a:bodyPr/>
          <a:lstStyle/>
          <a:p>
            <a:r>
              <a:rPr lang="en-CA" sz="1200" b="0" dirty="0"/>
              <a:t>My goal with this slide is to just share one idea that I have of how this product could be delivered </a:t>
            </a:r>
          </a:p>
          <a:p>
            <a:endParaRPr lang="en-CA" sz="1200" b="0" dirty="0"/>
          </a:p>
          <a:p>
            <a:r>
              <a:rPr lang="en-CA" sz="1200" b="0" dirty="0"/>
              <a:t>Business model, I see this as beyond the scope of my role, and I don’t want to spend a lot of time on this right now,  but I’ll offer some ideas</a:t>
            </a:r>
          </a:p>
          <a:p>
            <a:endParaRPr lang="en-CA" sz="1200" b="0" dirty="0"/>
          </a:p>
          <a:p>
            <a:r>
              <a:rPr lang="en-CA" sz="1200" b="0" dirty="0"/>
              <a:t>A lot of the talk that I’ve heard around this work is how do we get the NSOs to fund it..</a:t>
            </a:r>
          </a:p>
          <a:p>
            <a:r>
              <a:rPr lang="en-CA" sz="1200" b="0" dirty="0"/>
              <a:t>My proposal would be to start with a different business model which is something more subscription based.</a:t>
            </a:r>
          </a:p>
          <a:p>
            <a:endParaRPr lang="en-CA" sz="1200" b="0" dirty="0"/>
          </a:p>
          <a:p>
            <a:endParaRPr lang="en-CA" sz="1200" b="0" dirty="0"/>
          </a:p>
          <a:p>
            <a:r>
              <a:rPr lang="en-CA" sz="1200" b="0" dirty="0"/>
              <a:t>So in this example there’s a monthly cost per athlete, and that can be scalable.</a:t>
            </a:r>
          </a:p>
          <a:p>
            <a:endParaRPr lang="en-CA" sz="1200" b="0" dirty="0"/>
          </a:p>
          <a:p>
            <a:endParaRPr lang="en-CA" sz="1200" b="0" dirty="0"/>
          </a:p>
          <a:p>
            <a:r>
              <a:rPr lang="en-CA" sz="1200" b="0" dirty="0"/>
              <a:t>Teeter-totter</a:t>
            </a:r>
          </a:p>
          <a:p>
            <a:r>
              <a:rPr lang="en-CA" sz="1200" b="0" dirty="0"/>
              <a:t>-inexpensive to customer / low overhead, not time consuming</a:t>
            </a:r>
          </a:p>
          <a:p>
            <a:r>
              <a:rPr lang="en-CA" sz="1200" b="0" dirty="0"/>
              <a:t>-expensive to customer / very time consuming</a:t>
            </a:r>
          </a:p>
          <a:p>
            <a:endParaRPr lang="en-CA" sz="1200" b="0" dirty="0"/>
          </a:p>
          <a:p>
            <a:endParaRPr lang="en-CA" sz="1200" b="0" dirty="0"/>
          </a:p>
          <a:p>
            <a:r>
              <a:rPr lang="en-CA" sz="1200" b="0" dirty="0"/>
              <a:t>In addition to the option of a monthly fee we could offer an upfront option, specifically for partner NSOs, and this would be priced strategically to allow us to have some guaranteed revenue and to allow the NSOs to know that they will be well supported and they have some cost certainty</a:t>
            </a:r>
          </a:p>
          <a:p>
            <a:endParaRPr lang="en-CA" sz="1200" b="0" dirty="0"/>
          </a:p>
          <a:p>
            <a:endParaRPr lang="en-CA" sz="1200" b="0" dirty="0"/>
          </a:p>
          <a:p>
            <a:r>
              <a:rPr lang="en-CA" sz="1200" b="0" dirty="0"/>
              <a:t>Offer a product that can be effective without a massive time commitment by our staff, but is made more effective proportionately with more time commitment and deeper integration with our staff and services.</a:t>
            </a:r>
          </a:p>
          <a:p>
            <a:r>
              <a:rPr lang="en-CA" sz="1200" b="0" dirty="0"/>
              <a:t>Chart: Bronze, Silver, Gold..</a:t>
            </a:r>
          </a:p>
          <a:p>
            <a:r>
              <a:rPr lang="en-CA" sz="1200" b="0" dirty="0"/>
              <a:t>	protocol, sessions, testing..</a:t>
            </a:r>
          </a:p>
          <a:p>
            <a:endParaRPr lang="en-CA" sz="1200" b="0" dirty="0"/>
          </a:p>
          <a:p>
            <a:endParaRPr lang="en-CA" sz="1200" b="0" dirty="0"/>
          </a:p>
          <a:p>
            <a:r>
              <a:rPr lang="en-CA" sz="1200" b="0" dirty="0"/>
              <a:t>So Bronze..</a:t>
            </a:r>
          </a:p>
          <a:p>
            <a:r>
              <a:rPr lang="en-CA" sz="1200" b="0" dirty="0"/>
              <a:t>So we’re offering a specialized service, we’re bringing in monthly revenue, and we are not making a huge time-commitment.</a:t>
            </a:r>
          </a:p>
          <a:p>
            <a:endParaRPr lang="en-CA" sz="1200" b="0" dirty="0"/>
          </a:p>
          <a:p>
            <a:r>
              <a:rPr lang="en-CA" sz="1200" b="0" dirty="0"/>
              <a:t>However, we design it in such a way, and make it clear, that the more contact the athlete has with our staff and our services, the more effective the rehab will be..</a:t>
            </a:r>
          </a:p>
          <a:p>
            <a:endParaRPr lang="en-CA" sz="1200" b="0" dirty="0"/>
          </a:p>
          <a:p>
            <a:endParaRPr lang="en-CA" sz="1200" b="0" dirty="0"/>
          </a:p>
          <a:p>
            <a:r>
              <a:rPr lang="en-CA" sz="1200" b="0" dirty="0"/>
              <a:t>Gold package, is likely very similar to what we do now for our NSOs, which is a massive time commitment, and impossible for us to recoup anything close to the real value on what we deliver</a:t>
            </a:r>
          </a:p>
          <a:p>
            <a:endParaRPr lang="en-CA" sz="1200" b="0" dirty="0"/>
          </a:p>
          <a:p>
            <a:endParaRPr lang="en-CA" sz="1200" b="0" dirty="0"/>
          </a:p>
          <a:p>
            <a:endParaRPr lang="en-CA" sz="1200" b="0" dirty="0"/>
          </a:p>
          <a:p>
            <a:endParaRPr lang="en-CA" sz="1200" b="0" dirty="0"/>
          </a:p>
          <a:p>
            <a:endParaRPr lang="en-CA" sz="1200" b="0" dirty="0"/>
          </a:p>
          <a:p>
            <a:r>
              <a:rPr lang="en-CA" sz="1200" b="0" dirty="0"/>
              <a:t>. This is something that can be applied to athletes from any of the identified target markets.  Just for an example, we develop a bronze package that gives the athlete access to the ACL protocol and they get 1 workout in our facility and 1 testing session per month.</a:t>
            </a:r>
          </a:p>
          <a:p>
            <a:endParaRPr lang="en-CA" sz="1200" b="0" dirty="0"/>
          </a:p>
          <a:p>
            <a:r>
              <a:rPr lang="en-CA" sz="1200" b="0" dirty="0"/>
              <a:t>The reason I chose to use this example specifically, I think that the way to get value in the rehab field is to </a:t>
            </a:r>
          </a:p>
          <a:p>
            <a:endParaRPr lang="en-CA" sz="1200" b="1" dirty="0"/>
          </a:p>
          <a:p>
            <a:r>
              <a:rPr lang="en-CA" sz="1200" b="1" dirty="0"/>
              <a:t>Hybrid business model</a:t>
            </a:r>
          </a:p>
          <a:p>
            <a:r>
              <a:rPr lang="en-CA" sz="1200" b="0" dirty="0"/>
              <a:t>NSOs (and others) invest in the program upfront </a:t>
            </a:r>
          </a:p>
          <a:p>
            <a:endParaRPr lang="en-CA" sz="1200" b="1" dirty="0"/>
          </a:p>
          <a:p>
            <a:r>
              <a:rPr lang="en-CA" sz="1200" b="1" dirty="0"/>
              <a:t>Subscription</a:t>
            </a:r>
          </a:p>
          <a:p>
            <a:r>
              <a:rPr lang="en-CA" sz="1200" b="0" dirty="0"/>
              <a:t>I think it might work better for most as a subscription model.</a:t>
            </a:r>
          </a:p>
          <a:p>
            <a:r>
              <a:rPr lang="en-CA" sz="1200" b="0" dirty="0"/>
              <a:t>Maybe not the sport, since they would require “Gold” level service which should be extremely expensive.</a:t>
            </a:r>
          </a:p>
          <a:p>
            <a:endParaRPr lang="en-CA" sz="1200" b="0" dirty="0"/>
          </a:p>
          <a:p>
            <a:endParaRPr lang="en-CA" sz="1200" b="1" dirty="0"/>
          </a:p>
          <a:p>
            <a:endParaRPr lang="en-CA" sz="1200" b="1" dirty="0"/>
          </a:p>
          <a:p>
            <a:endParaRPr lang="en-CA" sz="1200" b="1" dirty="0"/>
          </a:p>
          <a:p>
            <a:endParaRPr lang="en-CA" sz="1200" b="1" dirty="0"/>
          </a:p>
          <a:p>
            <a:endParaRPr lang="en-CA" sz="1200" b="1" dirty="0"/>
          </a:p>
          <a:p>
            <a:endParaRPr lang="en-CA" sz="1200" b="1" dirty="0"/>
          </a:p>
          <a:p>
            <a:endParaRPr lang="en-CA" sz="1200" b="1" dirty="0"/>
          </a:p>
          <a:p>
            <a:r>
              <a:rPr lang="en-CA" sz="1200" b="1" dirty="0"/>
              <a:t>Pull together a draft top-level forecast of potential revenues and expenses into a draft budget</a:t>
            </a:r>
          </a:p>
          <a:p>
            <a:r>
              <a:rPr lang="en-CA" sz="1200" b="1" dirty="0"/>
              <a:t>Within the context of sport, show that in a not-for-profit model, there would be enough interest to support the solutions:</a:t>
            </a:r>
          </a:p>
          <a:p>
            <a:r>
              <a:rPr lang="en-CA" sz="1200" b="0" dirty="0"/>
              <a:t>-Interest is a funny word, it’s more like “need”.  Maybe some people are ”interested”</a:t>
            </a:r>
          </a:p>
          <a:p>
            <a:r>
              <a:rPr lang="en-CA" sz="1200" b="0" dirty="0"/>
              <a:t>-We will be doing rehabs either way</a:t>
            </a:r>
          </a:p>
          <a:p>
            <a:r>
              <a:rPr lang="en-CA" sz="1200" b="0" dirty="0"/>
              <a:t>	Even if we don’t care about doing it well for the sake of it…</a:t>
            </a:r>
          </a:p>
          <a:p>
            <a:r>
              <a:rPr lang="en-CA" sz="1200" b="0" dirty="0"/>
              <a:t>	We might as well do it in a highly organized manner</a:t>
            </a:r>
          </a:p>
          <a:p>
            <a:r>
              <a:rPr lang="en-CA" sz="1200" b="0" dirty="0"/>
              <a:t>-Build the thing, present it to them, convince NSOs to pay upfront</a:t>
            </a:r>
          </a:p>
          <a:p>
            <a:r>
              <a:rPr lang="en-CA" sz="1200" b="0" dirty="0"/>
              <a:t>	If someone gets hurt, the rehab is included in the agreement, and they know exactly what they 	are getting from the rehab.</a:t>
            </a:r>
          </a:p>
          <a:p>
            <a:r>
              <a:rPr lang="en-CA" sz="1200" b="0" dirty="0"/>
              <a:t>	Or they can pay the PN rate when someone gets injured..?</a:t>
            </a:r>
          </a:p>
          <a:p>
            <a:r>
              <a:rPr lang="en-CA" sz="1200" b="0" dirty="0"/>
              <a:t>	i.e. You pay $10k per year for full access OR you pay $20k for a 12 month rehab (this is a bargain for the full service including staff time commitment)</a:t>
            </a:r>
          </a:p>
          <a:p>
            <a:endParaRPr lang="en-US" b="1" dirty="0"/>
          </a:p>
          <a:p>
            <a:endParaRPr lang="en-CA" sz="1200" dirty="0"/>
          </a:p>
          <a:p>
            <a:endParaRPr lang="en-CA" sz="1200" dirty="0"/>
          </a:p>
          <a:p>
            <a:r>
              <a:rPr lang="en-CA" sz="1200" b="1" dirty="0"/>
              <a:t>Is there enough revenues to cover costs in a sustainable manner?</a:t>
            </a:r>
          </a:p>
          <a:p>
            <a:r>
              <a:rPr lang="en-CA" sz="1200" dirty="0"/>
              <a:t>-I feel like it’s not PS job to collect revenue</a:t>
            </a:r>
          </a:p>
          <a:p>
            <a:r>
              <a:rPr lang="en-CA" sz="1200" dirty="0"/>
              <a:t>-Our job is to offer the best service possible, not to sell it or ensure collection of revenue</a:t>
            </a:r>
          </a:p>
          <a:p>
            <a:r>
              <a:rPr lang="en-CA" sz="1200" dirty="0"/>
              <a:t>-PS does the work to generate the revenue, the revenue just doesn’t always get collected</a:t>
            </a:r>
            <a:endParaRPr lang="en-US" dirty="0"/>
          </a:p>
          <a:p>
            <a:endParaRPr lang="en-US" dirty="0"/>
          </a:p>
          <a:p>
            <a:endParaRPr lang="en-US" dirty="0"/>
          </a:p>
          <a:p>
            <a:endParaRPr lang="en-US" dirty="0"/>
          </a:p>
          <a:p>
            <a:r>
              <a:rPr lang="en-US" dirty="0"/>
              <a:t>AK:</a:t>
            </a:r>
          </a:p>
          <a:p>
            <a:r>
              <a:rPr lang="en-US" dirty="0"/>
              <a:t>-Our core business is supposed to be supporting Canadian high performance athletes.  This is a crucial part of supporting them</a:t>
            </a:r>
          </a:p>
          <a:p>
            <a:endParaRPr lang="en-US" dirty="0"/>
          </a:p>
          <a:p>
            <a:r>
              <a:rPr lang="en-US" dirty="0"/>
              <a:t>-This would be the first comprehensive and open-source system within Canada</a:t>
            </a:r>
          </a:p>
          <a:p>
            <a:r>
              <a:rPr lang="en-US" dirty="0"/>
              <a:t>  -i.e. Izzy: that was just service delivery, there was never really a structured, scalable protocol</a:t>
            </a:r>
          </a:p>
          <a:p>
            <a:r>
              <a:rPr lang="en-US" dirty="0"/>
              <a:t>-R&amp;D:</a:t>
            </a:r>
          </a:p>
          <a:p>
            <a:r>
              <a:rPr lang="en-US" dirty="0"/>
              <a:t>   There are a lot of opportunities just from improving our data management.  R&amp;D doesn’t have to involve a Biodex.  It’s just a way to potentially fund it via grants etc.</a:t>
            </a:r>
          </a:p>
          <a:p>
            <a:r>
              <a:rPr lang="en-US" dirty="0"/>
              <a:t>-my proposal involves basically no cost, but it has a guaranteed outcome.  The protocol will be delivered.  It will be useable for any of our staff.  From there we can probably market to NSOs, can </a:t>
            </a:r>
          </a:p>
          <a:p>
            <a:endParaRPr lang="en-US" dirty="0"/>
          </a:p>
          <a:p>
            <a:r>
              <a:rPr lang="en-US" dirty="0"/>
              <a:t>-What is the cost to not doing this?  We keep having rehab cases to do, our practitioners work inefficiently to cover these on a case-by-case basis, we do not learn/grow/innovate, we do not have procedures in place to inform research and innovation, we have no way to properly value this service and the organization (and practitioners) do not get properly compensated.</a:t>
            </a:r>
          </a:p>
          <a:p>
            <a:endParaRPr lang="en-US" dirty="0"/>
          </a:p>
          <a:p>
            <a:r>
              <a:rPr lang="en-US" dirty="0"/>
              <a:t>-we can sell you the protocol for $x or $x per month, that is IP that has value on it’s own, but the product really takes off when it leverages it’s connection to our athlete management system and especially when it is delivered by own of our expert practitioners</a:t>
            </a:r>
          </a:p>
          <a:p>
            <a:endParaRPr lang="en-US" dirty="0"/>
          </a:p>
          <a:p>
            <a:r>
              <a:rPr lang="en-US" dirty="0"/>
              <a:t>Bronze/Silver Package</a:t>
            </a:r>
          </a:p>
          <a:p>
            <a:r>
              <a:rPr lang="en-US" dirty="0"/>
              <a:t>(enough to fully engage with the protocol, but you pretty much do all the work on your own)</a:t>
            </a:r>
          </a:p>
          <a:p>
            <a:r>
              <a:rPr lang="en-US" dirty="0"/>
              <a:t>-website, program</a:t>
            </a:r>
          </a:p>
          <a:p>
            <a:r>
              <a:rPr lang="en-US" dirty="0"/>
              <a:t>-1 testing session per month</a:t>
            </a:r>
          </a:p>
          <a:p>
            <a:r>
              <a:rPr lang="en-US" dirty="0"/>
              <a:t>-1 training session per month</a:t>
            </a:r>
          </a:p>
          <a:p>
            <a:endParaRPr lang="en-US" dirty="0"/>
          </a:p>
          <a:p>
            <a:endParaRPr lang="en-US" dirty="0"/>
          </a:p>
          <a:p>
            <a:r>
              <a:rPr lang="en-US" dirty="0"/>
              <a:t>CH:</a:t>
            </a:r>
          </a:p>
          <a:p>
            <a:r>
              <a:rPr lang="en-US" dirty="0"/>
              <a:t>-</a:t>
            </a:r>
            <a:r>
              <a:rPr lang="en-CA" sz="1200" kern="1200" dirty="0">
                <a:solidFill>
                  <a:schemeClr val="tx1"/>
                </a:solidFill>
                <a:effectLst/>
                <a:latin typeface="+mn-lt"/>
                <a:ea typeface="+mn-ea"/>
                <a:cs typeface="+mn-cs"/>
              </a:rPr>
              <a:t>Increased and stable NSO and PSO investment in performance services</a:t>
            </a:r>
          </a:p>
          <a:p>
            <a:r>
              <a:rPr lang="en-CA" sz="1200" kern="1200" dirty="0">
                <a:solidFill>
                  <a:schemeClr val="tx1"/>
                </a:solidFill>
                <a:effectLst/>
                <a:latin typeface="+mn-lt"/>
                <a:ea typeface="+mn-ea"/>
                <a:cs typeface="+mn-cs"/>
              </a:rPr>
              <a:t>-strengthening stakeholder engagement </a:t>
            </a:r>
            <a:r>
              <a:rPr lang="en-CA" sz="1200" kern="1200" dirty="0" err="1">
                <a:solidFill>
                  <a:schemeClr val="tx1"/>
                </a:solidFill>
                <a:effectLst/>
                <a:latin typeface="+mn-lt"/>
                <a:ea typeface="+mn-ea"/>
                <a:cs typeface="+mn-cs"/>
              </a:rPr>
              <a:t>byfostering</a:t>
            </a:r>
            <a:r>
              <a:rPr lang="en-CA" sz="1200" kern="1200" dirty="0">
                <a:solidFill>
                  <a:schemeClr val="tx1"/>
                </a:solidFill>
                <a:effectLst/>
                <a:latin typeface="+mn-lt"/>
                <a:ea typeface="+mn-ea"/>
                <a:cs typeface="+mn-cs"/>
              </a:rPr>
              <a:t> collaboration with NSO and PSO partners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-scaled </a:t>
            </a:r>
            <a:r>
              <a:rPr lang="en-CA" sz="1200" kern="1200" dirty="0">
                <a:solidFill>
                  <a:schemeClr val="tx1"/>
                </a:solidFill>
                <a:effectLst/>
                <a:latin typeface="+mn-lt"/>
                <a:ea typeface="+mn-ea"/>
                <a:cs typeface="+mn-cs"/>
              </a:rPr>
              <a:t>private pay RTP service for</a:t>
            </a:r>
            <a:r>
              <a:rPr lang="en-US" sz="1200" kern="1200" dirty="0">
                <a:solidFill>
                  <a:schemeClr val="tx1"/>
                </a:solidFill>
                <a:effectLst/>
                <a:latin typeface="+mn-lt"/>
                <a:ea typeface="+mn-ea"/>
                <a:cs typeface="+mn-cs"/>
              </a:rPr>
              <a:t> PN</a:t>
            </a:r>
          </a:p>
          <a:p>
            <a:r>
              <a:rPr lang="en-US" sz="1200" kern="1200" dirty="0">
                <a:solidFill>
                  <a:schemeClr val="tx1"/>
                </a:solidFill>
                <a:effectLst/>
                <a:latin typeface="+mn-lt"/>
                <a:ea typeface="+mn-ea"/>
                <a:cs typeface="+mn-cs"/>
              </a:rPr>
              <a:t>-</a:t>
            </a:r>
            <a:r>
              <a:rPr lang="en-CA" sz="1200" kern="1200" dirty="0">
                <a:solidFill>
                  <a:schemeClr val="tx1"/>
                </a:solidFill>
                <a:effectLst/>
                <a:latin typeface="+mn-lt"/>
                <a:ea typeface="+mn-ea"/>
                <a:cs typeface="+mn-cs"/>
              </a:rPr>
              <a:t>The population in Whistler is approaching 16,000 residents, with almost 30,000 in Squamish and 4,000 in Pemberton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-I think we build the protocol without a Biodex and then we can decide if and how we go about getting one later</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	-grants, R&amp;D partnerships</a:t>
            </a:r>
          </a:p>
        </p:txBody>
      </p:sp>
      <p:sp>
        <p:nvSpPr>
          <p:cNvPr id="4" name="Slide Number Placeholder 3">
            <a:extLst>
              <a:ext uri="{FF2B5EF4-FFF2-40B4-BE49-F238E27FC236}">
                <a16:creationId xmlns:a16="http://schemas.microsoft.com/office/drawing/2014/main" id="{01831B1E-B36A-D92F-9C9B-0650388F0F00}"/>
              </a:ext>
            </a:extLst>
          </p:cNvPr>
          <p:cNvSpPr>
            <a:spLocks noGrp="1"/>
          </p:cNvSpPr>
          <p:nvPr>
            <p:ph type="sldNum" sz="quarter" idx="5"/>
          </p:nvPr>
        </p:nvSpPr>
        <p:spPr/>
        <p:txBody>
          <a:bodyPr/>
          <a:lstStyle/>
          <a:p>
            <a:fld id="{EAF9EB4E-D50A-4CF1-9B06-457599E410FB}" type="slidenum">
              <a:rPr lang="en-CA" smtClean="0"/>
              <a:t>16</a:t>
            </a:fld>
            <a:endParaRPr lang="en-CA"/>
          </a:p>
        </p:txBody>
      </p:sp>
    </p:spTree>
    <p:extLst>
      <p:ext uri="{BB962C8B-B14F-4D97-AF65-F5344CB8AC3E}">
        <p14:creationId xmlns:p14="http://schemas.microsoft.com/office/powerpoint/2010/main" val="3011887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lastly the objective at the moment would be to have a working version of the protocol ready to go in April.</a:t>
            </a:r>
          </a:p>
          <a:p>
            <a:endParaRPr lang="en-US" dirty="0"/>
          </a:p>
          <a:p>
            <a:r>
              <a:rPr lang="en-US" dirty="0"/>
              <a:t>From now </a:t>
            </a:r>
            <a:r>
              <a:rPr lang="en-US" dirty="0" err="1"/>
              <a:t>ntil</a:t>
            </a:r>
            <a:r>
              <a:rPr lang="en-US" dirty="0"/>
              <a:t> then , I would be the building this thing out, continuously working on it, while also  getting it </a:t>
            </a:r>
            <a:r>
              <a:rPr lang="en-US"/>
              <a:t>to different points </a:t>
            </a:r>
            <a:r>
              <a:rPr lang="en-US" dirty="0"/>
              <a:t>where collaboration with different skilled professionals can be most effective.</a:t>
            </a:r>
          </a:p>
          <a:p>
            <a:endParaRPr lang="en-US" dirty="0"/>
          </a:p>
          <a:p>
            <a:r>
              <a:rPr lang="en-US" dirty="0"/>
              <a:t>And then once version 1 is built, then future work involves </a:t>
            </a:r>
          </a:p>
          <a:p>
            <a:endParaRPr lang="en-US" dirty="0"/>
          </a:p>
          <a:p>
            <a:endParaRPr lang="en-US" dirty="0"/>
          </a:p>
          <a:p>
            <a:r>
              <a:rPr lang="en-US" dirty="0"/>
              <a:t>So that’s the pitch, if anyone wants to pause now, I can answer any questions you have, otherwise I can show you some of what I’ve been working on so you can see my actual idea and vison for this project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In January the goal would be to have it at a point where collaboration can be most effective. So starting to get input and have discussions on the actual content of the protocol, and also the behind-the-scenes technical work to make sure that this is a professional, functional product that we can put out there with confidence.</a:t>
            </a:r>
          </a:p>
          <a:p>
            <a:endParaRPr lang="en-US" dirty="0"/>
          </a:p>
          <a:p>
            <a:endParaRPr lang="en-US" dirty="0"/>
          </a:p>
          <a:p>
            <a:endParaRPr lang="en-US" dirty="0"/>
          </a:p>
          <a:p>
            <a:r>
              <a:rPr lang="en-US" dirty="0"/>
              <a:t>Deliver a working product in April</a:t>
            </a:r>
          </a:p>
          <a:p>
            <a:endParaRPr lang="en-US" dirty="0"/>
          </a:p>
          <a:p>
            <a:endParaRPr lang="en-US" dirty="0"/>
          </a:p>
          <a:p>
            <a:endParaRPr lang="en-US" dirty="0"/>
          </a:p>
          <a:p>
            <a:r>
              <a:rPr lang="en-US" b="1" dirty="0"/>
              <a:t>AK</a:t>
            </a:r>
          </a:p>
          <a:p>
            <a:r>
              <a:rPr lang="en-US" dirty="0"/>
              <a:t>-my proposal is far more internal.. I don’t think it’s productive to include all the stakeholders at this stage</a:t>
            </a:r>
          </a:p>
          <a:p>
            <a:r>
              <a:rPr lang="en-US" dirty="0"/>
              <a:t>-build a prototype</a:t>
            </a:r>
          </a:p>
          <a:p>
            <a:r>
              <a:rPr lang="en-US" dirty="0"/>
              <a:t>-ensure it aligns with CSI policies and procedures and is feasible within those</a:t>
            </a:r>
          </a:p>
          <a:p>
            <a:endParaRPr lang="en-US" dirty="0"/>
          </a:p>
          <a:p>
            <a:r>
              <a:rPr lang="en-US" b="1" dirty="0"/>
              <a:t>CH</a:t>
            </a:r>
          </a:p>
          <a:p>
            <a:r>
              <a:rPr lang="en-US" u="sng" dirty="0"/>
              <a:t>Discovery and Planning (0-3 months)</a:t>
            </a:r>
          </a:p>
          <a:p>
            <a:r>
              <a:rPr lang="en-US" dirty="0"/>
              <a:t>-</a:t>
            </a:r>
            <a:r>
              <a:rPr lang="en-CA" sz="1200" kern="1200" dirty="0">
                <a:solidFill>
                  <a:schemeClr val="tx1"/>
                </a:solidFill>
                <a:effectLst/>
                <a:latin typeface="+mn-lt"/>
                <a:ea typeface="+mn-ea"/>
                <a:cs typeface="+mn-cs"/>
              </a:rPr>
              <a:t>comprehensive stakeholder consultation and needs analysis</a:t>
            </a:r>
          </a:p>
          <a:p>
            <a:r>
              <a:rPr lang="en-CA" sz="1200" i="1" kern="1200" dirty="0">
                <a:solidFill>
                  <a:schemeClr val="tx1"/>
                </a:solidFill>
                <a:effectLst/>
                <a:latin typeface="+mn-lt"/>
                <a:ea typeface="+mn-ea"/>
                <a:cs typeface="+mn-cs"/>
              </a:rPr>
              <a:t>	-We discover that athletes sometimes get hurt and there is a lack of effective, structured protocols 	to support the rehab process and include all stakeholders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u="sng" kern="1200" dirty="0">
                <a:solidFill>
                  <a:schemeClr val="tx1"/>
                </a:solidFill>
                <a:effectLst/>
                <a:latin typeface="+mn-lt"/>
                <a:ea typeface="+mn-ea"/>
                <a:cs typeface="+mn-cs"/>
              </a:rPr>
              <a:t>Phase 2: Design and Development </a:t>
            </a:r>
            <a:r>
              <a:rPr lang="en-CA" sz="1200" u="sng" kern="1200" dirty="0">
                <a:solidFill>
                  <a:schemeClr val="tx1"/>
                </a:solidFill>
                <a:effectLst/>
                <a:latin typeface="+mn-lt"/>
                <a:ea typeface="+mn-ea"/>
                <a:cs typeface="+mn-cs"/>
              </a:rPr>
              <a:t>(months 3–6)</a:t>
            </a:r>
            <a:endParaRPr lang="en-CA" sz="1200" i="1" u="sng"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i="1" kern="1200" dirty="0">
                <a:solidFill>
                  <a:schemeClr val="tx1"/>
                </a:solidFill>
                <a:effectLst/>
                <a:latin typeface="+mn-lt"/>
                <a:ea typeface="+mn-ea"/>
                <a:cs typeface="+mn-cs"/>
              </a:rPr>
              <a:t>-</a:t>
            </a:r>
            <a:r>
              <a:rPr lang="en-CA" sz="1200" kern="1200" dirty="0">
                <a:solidFill>
                  <a:schemeClr val="tx1"/>
                </a:solidFill>
                <a:effectLst/>
                <a:latin typeface="+mn-lt"/>
                <a:ea typeface="+mn-ea"/>
                <a:cs typeface="+mn-cs"/>
              </a:rPr>
              <a:t>facility enhancements will be planned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-Biodex isokinetic dynamometer equipment will be procured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-Operational guidelines and best practice protocols will be developed</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-staff training</a:t>
            </a:r>
          </a:p>
          <a:p>
            <a:r>
              <a:rPr lang="en-CA" sz="1200" kern="1200" dirty="0">
                <a:solidFill>
                  <a:schemeClr val="tx1"/>
                </a:solidFill>
                <a:effectLst/>
                <a:latin typeface="+mn-lt"/>
                <a:ea typeface="+mn-ea"/>
                <a:cs typeface="+mn-cs"/>
              </a:rPr>
              <a:t>-Establishing research partnerships with academic and clinical institutions</a:t>
            </a:r>
          </a:p>
          <a:p>
            <a:r>
              <a:rPr lang="en-CA" sz="1200" kern="1200" dirty="0">
                <a:solidFill>
                  <a:schemeClr val="tx1"/>
                </a:solidFill>
                <a:effectLst/>
                <a:latin typeface="+mn-lt"/>
                <a:ea typeface="+mn-ea"/>
                <a:cs typeface="+mn-cs"/>
              </a:rPr>
              <a:t>	</a:t>
            </a:r>
            <a:r>
              <a:rPr lang="en-CA" sz="1200" i="1" kern="1200" dirty="0">
                <a:solidFill>
                  <a:schemeClr val="tx1"/>
                </a:solidFill>
                <a:effectLst/>
                <a:latin typeface="+mn-lt"/>
                <a:ea typeface="+mn-ea"/>
                <a:cs typeface="+mn-cs"/>
              </a:rPr>
              <a:t>-Build the protocol document</a:t>
            </a:r>
          </a:p>
          <a:p>
            <a:r>
              <a:rPr lang="en-CA" sz="1200" i="1" kern="1200" dirty="0">
                <a:solidFill>
                  <a:schemeClr val="tx1"/>
                </a:solidFill>
                <a:effectLst/>
                <a:latin typeface="+mn-lt"/>
                <a:ea typeface="+mn-ea"/>
                <a:cs typeface="+mn-cs"/>
              </a:rPr>
              <a:t>	-Set up </a:t>
            </a:r>
            <a:r>
              <a:rPr lang="en-CA" sz="1200" i="1" kern="1200" dirty="0" err="1">
                <a:solidFill>
                  <a:schemeClr val="tx1"/>
                </a:solidFill>
                <a:effectLst/>
                <a:latin typeface="+mn-lt"/>
                <a:ea typeface="+mn-ea"/>
                <a:cs typeface="+mn-cs"/>
              </a:rPr>
              <a:t>Tindeq</a:t>
            </a:r>
            <a:endParaRPr lang="en-CA"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u="sng" kern="1200" dirty="0">
                <a:solidFill>
                  <a:schemeClr val="tx1"/>
                </a:solidFill>
                <a:effectLst/>
                <a:latin typeface="+mn-lt"/>
                <a:ea typeface="+mn-ea"/>
                <a:cs typeface="+mn-cs"/>
              </a:rPr>
              <a:t>Phase 3: Pilot Implementation and Testing (months 6–12)</a:t>
            </a:r>
          </a:p>
          <a:p>
            <a:r>
              <a:rPr lang="en-CA" sz="1200" kern="1200" dirty="0">
                <a:solidFill>
                  <a:schemeClr val="tx1"/>
                </a:solidFill>
                <a:effectLst/>
                <a:latin typeface="+mn-lt"/>
                <a:ea typeface="+mn-ea"/>
                <a:cs typeface="+mn-cs"/>
              </a:rPr>
              <a:t>-initial rollout of RTP services through a pilot program in collaboration with select winter sport NSOs</a:t>
            </a:r>
          </a:p>
          <a:p>
            <a:r>
              <a:rPr lang="en-CA" sz="1200" kern="1200" dirty="0">
                <a:solidFill>
                  <a:schemeClr val="tx1"/>
                </a:solidFill>
                <a:effectLst/>
                <a:latin typeface="+mn-lt"/>
                <a:ea typeface="+mn-ea"/>
                <a:cs typeface="+mn-cs"/>
              </a:rPr>
              <a:t>-development of RTP service packages accessible to the broader public via Performance Nation</a:t>
            </a:r>
          </a:p>
          <a:p>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u="sng" kern="1200" dirty="0">
                <a:solidFill>
                  <a:schemeClr val="tx1"/>
                </a:solidFill>
                <a:effectLst/>
                <a:latin typeface="+mn-lt"/>
                <a:ea typeface="+mn-ea"/>
                <a:cs typeface="+mn-cs"/>
              </a:rPr>
              <a:t>Phase 4: Full-Scale Implementation and Launch (months 12–18)</a:t>
            </a:r>
          </a:p>
          <a:p>
            <a:r>
              <a:rPr lang="en-CA" sz="1200" kern="1200" dirty="0">
                <a:solidFill>
                  <a:schemeClr val="tx1"/>
                </a:solidFill>
                <a:effectLst/>
                <a:latin typeface="+mn-lt"/>
                <a:ea typeface="+mn-ea"/>
                <a:cs typeface="+mn-cs"/>
              </a:rPr>
              <a:t>-fully operational and accessible to all NSO and PSO partners as well as the public via Performance 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-comprehensive marketing and communication strategy</a:t>
            </a:r>
          </a:p>
          <a:p>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u="sng" kern="1200" dirty="0">
                <a:solidFill>
                  <a:schemeClr val="tx1"/>
                </a:solidFill>
                <a:effectLst/>
                <a:latin typeface="+mn-lt"/>
                <a:ea typeface="+mn-ea"/>
                <a:cs typeface="+mn-cs"/>
              </a:rPr>
              <a:t>Phase 5: Evaluation and Continuous Improvement (ongoing)</a:t>
            </a:r>
          </a:p>
          <a:p>
            <a:r>
              <a:rPr lang="en-CA" sz="1200" kern="1200" dirty="0">
                <a:solidFill>
                  <a:schemeClr val="tx1"/>
                </a:solidFill>
                <a:effectLst/>
                <a:latin typeface="+mn-lt"/>
                <a:ea typeface="+mn-ea"/>
                <a:cs typeface="+mn-cs"/>
              </a:rPr>
              <a:t>-monitoring program outcomes against the established KPIs</a:t>
            </a:r>
          </a:p>
          <a:p>
            <a:r>
              <a:rPr lang="en-CA" sz="1200" kern="1200" dirty="0">
                <a:solidFill>
                  <a:schemeClr val="tx1"/>
                </a:solidFill>
                <a:effectLst/>
                <a:latin typeface="+mn-lt"/>
                <a:ea typeface="+mn-ea"/>
                <a:cs typeface="+mn-cs"/>
              </a:rPr>
              <a:t>-regular audits and impact assessments to evaluate effectiveness, refine protocols, and integrate emerging</a:t>
            </a:r>
          </a:p>
          <a:p>
            <a:r>
              <a:rPr lang="en-CA" sz="1200" kern="1200" dirty="0">
                <a:solidFill>
                  <a:schemeClr val="tx1"/>
                </a:solidFill>
                <a:effectLst/>
                <a:latin typeface="+mn-lt"/>
                <a:ea typeface="+mn-ea"/>
                <a:cs typeface="+mn-cs"/>
              </a:rPr>
              <a:t>technologies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endParaRPr lang="en-CA" sz="1200" i="1" kern="1200" dirty="0">
              <a:solidFill>
                <a:schemeClr val="tx1"/>
              </a:solidFill>
              <a:effectLst/>
              <a:latin typeface="+mn-lt"/>
              <a:ea typeface="+mn-ea"/>
              <a:cs typeface="+mn-cs"/>
            </a:endParaRPr>
          </a:p>
          <a:p>
            <a:endParaRPr lang="en-CA" sz="120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AF9EB4E-D50A-4CF1-9B06-457599E410FB}" type="slidenum">
              <a:rPr lang="en-CA" smtClean="0"/>
              <a:t>17</a:t>
            </a:fld>
            <a:endParaRPr lang="en-CA"/>
          </a:p>
        </p:txBody>
      </p:sp>
    </p:spTree>
    <p:extLst>
      <p:ext uri="{BB962C8B-B14F-4D97-AF65-F5344CB8AC3E}">
        <p14:creationId xmlns:p14="http://schemas.microsoft.com/office/powerpoint/2010/main" val="3294888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starting from zero investment into this,</a:t>
            </a:r>
          </a:p>
          <a:p>
            <a:r>
              <a:rPr lang="en-US" dirty="0"/>
              <a:t>Now committing 0.4FTE of a PS2</a:t>
            </a:r>
          </a:p>
        </p:txBody>
      </p:sp>
      <p:sp>
        <p:nvSpPr>
          <p:cNvPr id="4" name="Slide Number Placeholder 3"/>
          <p:cNvSpPr>
            <a:spLocks noGrp="1"/>
          </p:cNvSpPr>
          <p:nvPr>
            <p:ph type="sldNum" sz="quarter" idx="5"/>
          </p:nvPr>
        </p:nvSpPr>
        <p:spPr/>
        <p:txBody>
          <a:bodyPr/>
          <a:lstStyle/>
          <a:p>
            <a:fld id="{EAF9EB4E-D50A-4CF1-9B06-457599E410FB}" type="slidenum">
              <a:rPr lang="en-CA" smtClean="0"/>
              <a:t>19</a:t>
            </a:fld>
            <a:endParaRPr lang="en-CA"/>
          </a:p>
        </p:txBody>
      </p:sp>
    </p:spTree>
    <p:extLst>
      <p:ext uri="{BB962C8B-B14F-4D97-AF65-F5344CB8AC3E}">
        <p14:creationId xmlns:p14="http://schemas.microsoft.com/office/powerpoint/2010/main" val="38609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259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a:spLocks noGrp="1"/>
          </p:cNvSpPr>
          <p:nvPr>
            <p:ph type="title"/>
          </p:nvPr>
        </p:nvSpPr>
        <p:spPr>
          <a:xfrm>
            <a:off x="838200" y="1602799"/>
            <a:ext cx="10515600" cy="826366"/>
          </a:xfrm>
          <a:prstGeom prst="rect">
            <a:avLst/>
          </a:prstGeom>
        </p:spPr>
        <p:txBody>
          <a:bodyPr>
            <a:normAutofit/>
          </a:bodyPr>
          <a:lstStyle/>
          <a:p>
            <a:endParaRPr lang="en-US" sz="3200" b="1" dirty="0">
              <a:latin typeface="Arial" panose="020B0604020202020204" pitchFamily="34" charset="0"/>
              <a:cs typeface="Arial" panose="020B0604020202020204" pitchFamily="34" charset="0"/>
            </a:endParaRPr>
          </a:p>
        </p:txBody>
      </p:sp>
      <p:sp>
        <p:nvSpPr>
          <p:cNvPr id="8" name="Content Placeholder 2"/>
          <p:cNvSpPr>
            <a:spLocks noGrp="1"/>
          </p:cNvSpPr>
          <p:nvPr>
            <p:ph idx="1"/>
          </p:nvPr>
        </p:nvSpPr>
        <p:spPr>
          <a:xfrm>
            <a:off x="838200" y="2623127"/>
            <a:ext cx="10515600" cy="3553835"/>
          </a:xfrm>
          <a:prstGeom prst="rect">
            <a:avLst/>
          </a:prstGeom>
        </p:spPr>
        <p:txBody>
          <a:bodyPr>
            <a:normAutofit/>
          </a:bodyPr>
          <a:lstStyle/>
          <a:p>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997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1"/>
        <p:cNvGrpSpPr/>
        <p:nvPr/>
      </p:nvGrpSpPr>
      <p:grpSpPr>
        <a:xfrm>
          <a:off x="0" y="0"/>
          <a:ext cx="0" cy="0"/>
          <a:chOff x="0" y="0"/>
          <a:chExt cx="0" cy="0"/>
        </a:xfrm>
      </p:grpSpPr>
      <p:sp>
        <p:nvSpPr>
          <p:cNvPr id="42" name="Shape 42"/>
          <p:cNvSpPr txBox="1">
            <a:spLocks noGrp="1"/>
          </p:cNvSpPr>
          <p:nvPr>
            <p:ph type="title"/>
          </p:nvPr>
        </p:nvSpPr>
        <p:spPr>
          <a:xfrm>
            <a:off x="838200" y="1012371"/>
            <a:ext cx="10515600" cy="678400"/>
          </a:xfrm>
          <a:prstGeom prst="rect">
            <a:avLst/>
          </a:prstGeom>
          <a:noFill/>
          <a:ln>
            <a:noFill/>
          </a:ln>
        </p:spPr>
        <p:txBody>
          <a:bodyPr spcFirstLastPara="1" wrap="square" lIns="68575" tIns="68575" rIns="68575" bIns="68575" anchor="ctr" anchorCtr="0"/>
          <a:lstStyle>
            <a:lvl1pPr marL="0" marR="0" lvl="0" indent="0" algn="ctr" rtl="0">
              <a:lnSpc>
                <a:spcPct val="90000"/>
              </a:lnSpc>
              <a:spcBef>
                <a:spcPts val="0"/>
              </a:spcBef>
              <a:spcAft>
                <a:spcPts val="0"/>
              </a:spcAft>
              <a:buClr>
                <a:srgbClr val="3F3F3F"/>
              </a:buClr>
              <a:buSzPts val="1100"/>
              <a:buFont typeface="Arial"/>
              <a:buNone/>
              <a:defRPr sz="3200" b="1" i="0" u="none" strike="noStrike" cap="none">
                <a:solidFill>
                  <a:srgbClr val="3F3F3F"/>
                </a:solidFill>
                <a:latin typeface="Arial"/>
                <a:ea typeface="Arial"/>
                <a:cs typeface="Arial"/>
                <a:sym typeface="Arial"/>
              </a:defRPr>
            </a:lvl1pPr>
            <a:lvl2pPr lvl="1" indent="0">
              <a:spcBef>
                <a:spcPts val="0"/>
              </a:spcBef>
              <a:spcAft>
                <a:spcPts val="0"/>
              </a:spcAft>
              <a:buSzPts val="1100"/>
              <a:buNone/>
              <a:defRPr sz="1867"/>
            </a:lvl2pPr>
            <a:lvl3pPr lvl="2" indent="0">
              <a:spcBef>
                <a:spcPts val="0"/>
              </a:spcBef>
              <a:spcAft>
                <a:spcPts val="0"/>
              </a:spcAft>
              <a:buSzPts val="1100"/>
              <a:buNone/>
              <a:defRPr sz="1867"/>
            </a:lvl3pPr>
            <a:lvl4pPr lvl="3" indent="0">
              <a:spcBef>
                <a:spcPts val="0"/>
              </a:spcBef>
              <a:spcAft>
                <a:spcPts val="0"/>
              </a:spcAft>
              <a:buSzPts val="1100"/>
              <a:buNone/>
              <a:defRPr sz="1867"/>
            </a:lvl4pPr>
            <a:lvl5pPr lvl="4" indent="0">
              <a:spcBef>
                <a:spcPts val="0"/>
              </a:spcBef>
              <a:spcAft>
                <a:spcPts val="0"/>
              </a:spcAft>
              <a:buSzPts val="1100"/>
              <a:buNone/>
              <a:defRPr sz="1867"/>
            </a:lvl5pPr>
            <a:lvl6pPr lvl="5" indent="0">
              <a:spcBef>
                <a:spcPts val="0"/>
              </a:spcBef>
              <a:spcAft>
                <a:spcPts val="0"/>
              </a:spcAft>
              <a:buSzPts val="1100"/>
              <a:buNone/>
              <a:defRPr sz="1867"/>
            </a:lvl6pPr>
            <a:lvl7pPr lvl="6" indent="0">
              <a:spcBef>
                <a:spcPts val="0"/>
              </a:spcBef>
              <a:spcAft>
                <a:spcPts val="0"/>
              </a:spcAft>
              <a:buSzPts val="1100"/>
              <a:buNone/>
              <a:defRPr sz="1867"/>
            </a:lvl7pPr>
            <a:lvl8pPr lvl="7" indent="0">
              <a:spcBef>
                <a:spcPts val="0"/>
              </a:spcBef>
              <a:spcAft>
                <a:spcPts val="0"/>
              </a:spcAft>
              <a:buSzPts val="1100"/>
              <a:buNone/>
              <a:defRPr sz="1867"/>
            </a:lvl8pPr>
            <a:lvl9pPr lvl="8" indent="0">
              <a:spcBef>
                <a:spcPts val="0"/>
              </a:spcBef>
              <a:spcAft>
                <a:spcPts val="0"/>
              </a:spcAft>
              <a:buSzPts val="1100"/>
              <a:buNone/>
              <a:defRPr sz="1867"/>
            </a:lvl9pPr>
          </a:lstStyle>
          <a:p>
            <a:endParaRPr/>
          </a:p>
        </p:txBody>
      </p:sp>
      <p:sp>
        <p:nvSpPr>
          <p:cNvPr id="43" name="Shape 43"/>
          <p:cNvSpPr txBox="1">
            <a:spLocks noGrp="1"/>
          </p:cNvSpPr>
          <p:nvPr>
            <p:ph type="dt" idx="10"/>
          </p:nvPr>
        </p:nvSpPr>
        <p:spPr>
          <a:xfrm>
            <a:off x="838200" y="6356352"/>
            <a:ext cx="2743200" cy="365200"/>
          </a:xfrm>
          <a:prstGeom prst="rect">
            <a:avLst/>
          </a:prstGeom>
          <a:noFill/>
          <a:ln>
            <a:noFill/>
          </a:ln>
        </p:spPr>
        <p:txBody>
          <a:bodyPr spcFirstLastPara="1" wrap="square" lIns="68575" tIns="68575" rIns="68575" bIns="68575" anchor="t" anchorCtr="0"/>
          <a:lstStyle>
            <a:lvl1pPr marL="0" marR="0" lvl="0" indent="0" algn="l" rtl="0">
              <a:spcBef>
                <a:spcPts val="0"/>
              </a:spcBef>
              <a:spcAft>
                <a:spcPts val="0"/>
              </a:spcAft>
              <a:buSzPts val="1100"/>
              <a:buNone/>
              <a:defRPr sz="1867">
                <a:solidFill>
                  <a:schemeClr val="dk1"/>
                </a:solidFill>
                <a:latin typeface="Arial"/>
                <a:ea typeface="Arial"/>
                <a:cs typeface="Arial"/>
                <a:sym typeface="Arial"/>
              </a:defRPr>
            </a:lvl1pPr>
            <a:lvl2pPr marL="457189" marR="0" lvl="1"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2pPr>
            <a:lvl3pPr marL="914377" marR="0" lvl="2"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3pPr>
            <a:lvl4pPr marL="1371566" marR="0" lvl="3"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4pPr>
            <a:lvl5pPr marL="1828754" marR="0" lvl="4"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5pPr>
            <a:lvl6pPr marL="2285943" marR="0" lvl="5"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6pPr>
            <a:lvl7pPr marL="2743131" marR="0" lvl="6"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7pPr>
            <a:lvl8pPr marL="3200320" marR="0" lvl="7"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8pPr>
            <a:lvl9pPr marL="3657509" marR="0" lvl="8"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ftr" idx="11"/>
          </p:nvPr>
        </p:nvSpPr>
        <p:spPr>
          <a:xfrm>
            <a:off x="4038600" y="6356352"/>
            <a:ext cx="4114800" cy="365200"/>
          </a:xfrm>
          <a:prstGeom prst="rect">
            <a:avLst/>
          </a:prstGeom>
          <a:noFill/>
          <a:ln>
            <a:noFill/>
          </a:ln>
        </p:spPr>
        <p:txBody>
          <a:bodyPr spcFirstLastPara="1" wrap="square" lIns="68575" tIns="68575" rIns="68575" bIns="68575" anchor="t" anchorCtr="0"/>
          <a:lstStyle>
            <a:lvl1pPr marL="0" marR="0" lvl="0" indent="0" algn="l" rtl="0">
              <a:spcBef>
                <a:spcPts val="0"/>
              </a:spcBef>
              <a:spcAft>
                <a:spcPts val="0"/>
              </a:spcAft>
              <a:buSzPts val="1100"/>
              <a:buNone/>
              <a:defRPr sz="1867">
                <a:solidFill>
                  <a:schemeClr val="dk1"/>
                </a:solidFill>
                <a:latin typeface="Arial"/>
                <a:ea typeface="Arial"/>
                <a:cs typeface="Arial"/>
                <a:sym typeface="Arial"/>
              </a:defRPr>
            </a:lvl1pPr>
            <a:lvl2pPr marL="457189" marR="0" lvl="1"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2pPr>
            <a:lvl3pPr marL="914377" marR="0" lvl="2"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3pPr>
            <a:lvl4pPr marL="1371566" marR="0" lvl="3"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4pPr>
            <a:lvl5pPr marL="1828754" marR="0" lvl="4"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5pPr>
            <a:lvl6pPr marL="2285943" marR="0" lvl="5"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6pPr>
            <a:lvl7pPr marL="2743131" marR="0" lvl="6"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7pPr>
            <a:lvl8pPr marL="3200320" marR="0" lvl="7"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8pPr>
            <a:lvl9pPr marL="3657509" marR="0" lvl="8" indent="0" algn="l" rtl="0">
              <a:spcBef>
                <a:spcPts val="0"/>
              </a:spcBef>
              <a:spcAft>
                <a:spcPts val="0"/>
              </a:spcAft>
              <a:buSzPts val="1100"/>
              <a:buNone/>
              <a:defRPr sz="1867" b="0" i="0" u="none" strike="noStrike" cap="none">
                <a:solidFill>
                  <a:schemeClr val="dk1"/>
                </a:solidFill>
                <a:latin typeface="Arial"/>
                <a:ea typeface="Arial"/>
                <a:cs typeface="Arial"/>
                <a:sym typeface="Arial"/>
              </a:defRPr>
            </a:lvl9pPr>
          </a:lstStyle>
          <a:p>
            <a:endParaRPr/>
          </a:p>
        </p:txBody>
      </p:sp>
      <p:sp>
        <p:nvSpPr>
          <p:cNvPr id="45" name="Shape 45"/>
          <p:cNvSpPr txBox="1">
            <a:spLocks noGrp="1"/>
          </p:cNvSpPr>
          <p:nvPr>
            <p:ph type="sldNum" idx="12"/>
          </p:nvPr>
        </p:nvSpPr>
        <p:spPr>
          <a:xfrm>
            <a:off x="8610600" y="6356352"/>
            <a:ext cx="2743200" cy="365200"/>
          </a:xfrm>
          <a:prstGeom prst="rect">
            <a:avLst/>
          </a:prstGeom>
          <a:noFill/>
          <a:ln>
            <a:noFill/>
          </a:ln>
        </p:spPr>
        <p:txBody>
          <a:bodyPr spcFirstLastPara="1" wrap="square" lIns="68575" tIns="34275" rIns="68575" bIns="34275" anchor="t" anchorCtr="0">
            <a:noAutofit/>
          </a:bodyPr>
          <a:lstStyle/>
          <a:p>
            <a:fld id="{00000000-1234-1234-1234-123412341234}" type="slidenum">
              <a:rPr lang="en-GB" sz="1867" smtClean="0">
                <a:solidFill>
                  <a:schemeClr val="dk1"/>
                </a:solidFill>
                <a:ea typeface="Arial"/>
                <a:cs typeface="Arial"/>
                <a:sym typeface="Arial"/>
              </a:rPr>
              <a:pPr/>
              <a:t>‹#›</a:t>
            </a:fld>
            <a:endParaRPr lang="en-GB" sz="1867">
              <a:solidFill>
                <a:schemeClr val="dk1"/>
              </a:solidFill>
              <a:ea typeface="Arial"/>
              <a:cs typeface="Arial"/>
              <a:sym typeface="Arial"/>
            </a:endParaRPr>
          </a:p>
        </p:txBody>
      </p:sp>
    </p:spTree>
    <p:extLst>
      <p:ext uri="{BB962C8B-B14F-4D97-AF65-F5344CB8AC3E}">
        <p14:creationId xmlns:p14="http://schemas.microsoft.com/office/powerpoint/2010/main" val="244681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838200" y="1012371"/>
            <a:ext cx="10515600" cy="678400"/>
          </a:xfrm>
          <a:prstGeom prst="rect">
            <a:avLst/>
          </a:prstGeom>
          <a:noFill/>
          <a:ln>
            <a:noFill/>
          </a:ln>
        </p:spPr>
        <p:txBody>
          <a:bodyPr spcFirstLastPara="1" wrap="square" lIns="68575" tIns="68575" rIns="68575" bIns="68575" anchor="ctr" anchorCtr="0"/>
          <a:lstStyle>
            <a:lvl1pPr marL="0" marR="0" lvl="0" indent="0" algn="l" rtl="0">
              <a:lnSpc>
                <a:spcPct val="90000"/>
              </a:lnSpc>
              <a:spcBef>
                <a:spcPts val="0"/>
              </a:spcBef>
              <a:spcAft>
                <a:spcPts val="0"/>
              </a:spcAft>
              <a:buClr>
                <a:srgbClr val="3F3F3F"/>
              </a:buClr>
              <a:buSzPts val="1100"/>
              <a:buFont typeface="Arial"/>
              <a:buNone/>
              <a:defRPr sz="3200" b="1" i="0" u="none" strike="noStrike" cap="none">
                <a:solidFill>
                  <a:srgbClr val="3F3F3F"/>
                </a:solidFill>
                <a:latin typeface="Arial"/>
                <a:ea typeface="Arial"/>
                <a:cs typeface="Arial"/>
                <a:sym typeface="Arial"/>
              </a:defRPr>
            </a:lvl1pPr>
            <a:lvl2pPr lvl="1" indent="0">
              <a:spcBef>
                <a:spcPts val="0"/>
              </a:spcBef>
              <a:spcAft>
                <a:spcPts val="0"/>
              </a:spcAft>
              <a:buSzPts val="1100"/>
              <a:buNone/>
              <a:defRPr sz="1867"/>
            </a:lvl2pPr>
            <a:lvl3pPr lvl="2" indent="0">
              <a:spcBef>
                <a:spcPts val="0"/>
              </a:spcBef>
              <a:spcAft>
                <a:spcPts val="0"/>
              </a:spcAft>
              <a:buSzPts val="1100"/>
              <a:buNone/>
              <a:defRPr sz="1867"/>
            </a:lvl3pPr>
            <a:lvl4pPr lvl="3" indent="0">
              <a:spcBef>
                <a:spcPts val="0"/>
              </a:spcBef>
              <a:spcAft>
                <a:spcPts val="0"/>
              </a:spcAft>
              <a:buSzPts val="1100"/>
              <a:buNone/>
              <a:defRPr sz="1867"/>
            </a:lvl4pPr>
            <a:lvl5pPr lvl="4" indent="0">
              <a:spcBef>
                <a:spcPts val="0"/>
              </a:spcBef>
              <a:spcAft>
                <a:spcPts val="0"/>
              </a:spcAft>
              <a:buSzPts val="1100"/>
              <a:buNone/>
              <a:defRPr sz="1867"/>
            </a:lvl5pPr>
            <a:lvl6pPr lvl="5" indent="0">
              <a:spcBef>
                <a:spcPts val="0"/>
              </a:spcBef>
              <a:spcAft>
                <a:spcPts val="0"/>
              </a:spcAft>
              <a:buSzPts val="1100"/>
              <a:buNone/>
              <a:defRPr sz="1867"/>
            </a:lvl6pPr>
            <a:lvl7pPr lvl="6" indent="0">
              <a:spcBef>
                <a:spcPts val="0"/>
              </a:spcBef>
              <a:spcAft>
                <a:spcPts val="0"/>
              </a:spcAft>
              <a:buSzPts val="1100"/>
              <a:buNone/>
              <a:defRPr sz="1867"/>
            </a:lvl7pPr>
            <a:lvl8pPr lvl="7" indent="0">
              <a:spcBef>
                <a:spcPts val="0"/>
              </a:spcBef>
              <a:spcAft>
                <a:spcPts val="0"/>
              </a:spcAft>
              <a:buSzPts val="1100"/>
              <a:buNone/>
              <a:defRPr sz="1867"/>
            </a:lvl8pPr>
            <a:lvl9pPr lvl="8" indent="0">
              <a:spcBef>
                <a:spcPts val="0"/>
              </a:spcBef>
              <a:spcAft>
                <a:spcPts val="0"/>
              </a:spcAft>
              <a:buSzPts val="1100"/>
              <a:buNone/>
              <a:defRPr sz="1867"/>
            </a:lvl9pPr>
          </a:lstStyle>
          <a:p>
            <a:endParaRPr/>
          </a:p>
        </p:txBody>
      </p:sp>
      <p:sp>
        <p:nvSpPr>
          <p:cNvPr id="13" name="Google Shape;13;p3"/>
          <p:cNvSpPr txBox="1">
            <a:spLocks noGrp="1"/>
          </p:cNvSpPr>
          <p:nvPr>
            <p:ph type="body" idx="1"/>
          </p:nvPr>
        </p:nvSpPr>
        <p:spPr>
          <a:xfrm>
            <a:off x="838200" y="1825625"/>
            <a:ext cx="10515600" cy="4351200"/>
          </a:xfrm>
          <a:prstGeom prst="rect">
            <a:avLst/>
          </a:prstGeom>
          <a:noFill/>
          <a:ln>
            <a:noFill/>
          </a:ln>
        </p:spPr>
        <p:txBody>
          <a:bodyPr spcFirstLastPara="1" wrap="square" lIns="68575" tIns="68575" rIns="68575" bIns="68575" anchor="t" anchorCtr="0"/>
          <a:lstStyle>
            <a:lvl1pPr marL="609585" marR="0" lvl="0" indent="-457189" algn="l" rtl="0">
              <a:lnSpc>
                <a:spcPct val="90000"/>
              </a:lnSpc>
              <a:spcBef>
                <a:spcPts val="1067"/>
              </a:spcBef>
              <a:spcAft>
                <a:spcPts val="0"/>
              </a:spcAft>
              <a:buClr>
                <a:srgbClr val="3F3F3F"/>
              </a:buClr>
              <a:buSzPts val="1800"/>
              <a:buFont typeface="Arial"/>
              <a:buChar char="•"/>
              <a:defRPr sz="2400" b="0" i="0" u="none" strike="noStrike" cap="none">
                <a:solidFill>
                  <a:srgbClr val="3F3F3F"/>
                </a:solidFill>
                <a:latin typeface="Arial"/>
                <a:ea typeface="Arial"/>
                <a:cs typeface="Arial"/>
                <a:sym typeface="Arial"/>
              </a:defRPr>
            </a:lvl1pPr>
            <a:lvl2pPr marL="1219170" marR="0" lvl="1" indent="-431789" algn="l" rtl="0">
              <a:lnSpc>
                <a:spcPct val="90000"/>
              </a:lnSpc>
              <a:spcBef>
                <a:spcPts val="533"/>
              </a:spcBef>
              <a:spcAft>
                <a:spcPts val="0"/>
              </a:spcAft>
              <a:buClr>
                <a:srgbClr val="3F3F3F"/>
              </a:buClr>
              <a:buSzPts val="1500"/>
              <a:buFont typeface="Arial"/>
              <a:buChar char="•"/>
              <a:defRPr sz="2000" b="0" i="0" u="none" strike="noStrike" cap="none">
                <a:solidFill>
                  <a:srgbClr val="3F3F3F"/>
                </a:solidFill>
                <a:latin typeface="Arial"/>
                <a:ea typeface="Arial"/>
                <a:cs typeface="Arial"/>
                <a:sym typeface="Arial"/>
              </a:defRPr>
            </a:lvl2pPr>
            <a:lvl3pPr marL="1828754" marR="0" lvl="2" indent="-423323" algn="l" rtl="0">
              <a:lnSpc>
                <a:spcPct val="90000"/>
              </a:lnSpc>
              <a:spcBef>
                <a:spcPts val="533"/>
              </a:spcBef>
              <a:spcAft>
                <a:spcPts val="0"/>
              </a:spcAft>
              <a:buClr>
                <a:srgbClr val="3F3F3F"/>
              </a:buClr>
              <a:buSzPts val="1400"/>
              <a:buFont typeface="Arial"/>
              <a:buChar char="•"/>
              <a:defRPr sz="1867" b="0" i="0" u="none" strike="noStrike" cap="none">
                <a:solidFill>
                  <a:srgbClr val="3F3F3F"/>
                </a:solidFill>
                <a:latin typeface="Arial"/>
                <a:ea typeface="Arial"/>
                <a:cs typeface="Arial"/>
                <a:sym typeface="Arial"/>
              </a:defRPr>
            </a:lvl3pPr>
            <a:lvl4pPr marL="2438339" marR="0" lvl="3" indent="-406390" algn="l" rtl="0">
              <a:lnSpc>
                <a:spcPct val="90000"/>
              </a:lnSpc>
              <a:spcBef>
                <a:spcPts val="533"/>
              </a:spcBef>
              <a:spcAft>
                <a:spcPts val="0"/>
              </a:spcAft>
              <a:buClr>
                <a:srgbClr val="3F3F3F"/>
              </a:buClr>
              <a:buSzPts val="1200"/>
              <a:buFont typeface="Arial"/>
              <a:buChar char="•"/>
              <a:defRPr sz="1600" b="0" i="0" u="none" strike="noStrike" cap="none">
                <a:solidFill>
                  <a:srgbClr val="3F3F3F"/>
                </a:solidFill>
                <a:latin typeface="Arial"/>
                <a:ea typeface="Arial"/>
                <a:cs typeface="Arial"/>
                <a:sym typeface="Arial"/>
              </a:defRPr>
            </a:lvl4pPr>
            <a:lvl5pPr marL="3047924" marR="0" lvl="4" indent="-397923" algn="l" rtl="0">
              <a:lnSpc>
                <a:spcPct val="90000"/>
              </a:lnSpc>
              <a:spcBef>
                <a:spcPts val="533"/>
              </a:spcBef>
              <a:spcAft>
                <a:spcPts val="0"/>
              </a:spcAft>
              <a:buClr>
                <a:srgbClr val="3F3F3F"/>
              </a:buClr>
              <a:buSzPts val="1100"/>
              <a:buFont typeface="Arial"/>
              <a:buChar char="•"/>
              <a:defRPr sz="1467" b="0" i="0" u="none" strike="noStrike" cap="none">
                <a:solidFill>
                  <a:srgbClr val="3F3F3F"/>
                </a:solidFill>
                <a:latin typeface="Arial"/>
                <a:ea typeface="Arial"/>
                <a:cs typeface="Arial"/>
                <a:sym typeface="Arial"/>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1965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25060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0.png"/><Relationship Id="rId7" Type="http://schemas.openxmlformats.org/officeDocument/2006/relationships/diagramColors" Target="../diagrams/colors3.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3.png"/><Relationship Id="rId7" Type="http://schemas.openxmlformats.org/officeDocument/2006/relationships/diagramColors" Target="../diagrams/colors5.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012369"/>
            <a:ext cx="10522527" cy="4817624"/>
          </a:xfrm>
        </p:spPr>
        <p:txBody>
          <a:bodyPr/>
          <a:lstStyle/>
          <a:p>
            <a:br>
              <a:rPr lang="en-US" dirty="0"/>
            </a:br>
            <a:br>
              <a:rPr lang="en-US" dirty="0"/>
            </a:br>
            <a:r>
              <a:rPr lang="en-CA" sz="4000" dirty="0"/>
              <a:t>Lunch &amp; Learn: Introducing the CSI Pacific Return to Performance Program</a:t>
            </a:r>
            <a:br>
              <a:rPr lang="en-CA" dirty="0"/>
            </a:br>
            <a:br>
              <a:rPr lang="en-CA" dirty="0"/>
            </a:br>
            <a:br>
              <a:rPr lang="en-CA" dirty="0"/>
            </a:br>
            <a:r>
              <a:rPr lang="en-CA" b="0" dirty="0"/>
              <a:t>Andrew Kates</a:t>
            </a:r>
            <a:br>
              <a:rPr lang="en-US" b="0" dirty="0"/>
            </a:br>
            <a:br>
              <a:rPr lang="en-US" dirty="0"/>
            </a:br>
            <a:r>
              <a:rPr lang="en-US" b="0" dirty="0"/>
              <a:t>May 19, 2026</a:t>
            </a:r>
            <a:endParaRPr lang="en-CA" b="0" dirty="0"/>
          </a:p>
        </p:txBody>
      </p:sp>
    </p:spTree>
    <p:extLst>
      <p:ext uri="{BB962C8B-B14F-4D97-AF65-F5344CB8AC3E}">
        <p14:creationId xmlns:p14="http://schemas.microsoft.com/office/powerpoint/2010/main" val="3543289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67ADF-DFCE-E675-06DF-82607B900DBE}"/>
              </a:ext>
            </a:extLst>
          </p:cNvPr>
          <p:cNvSpPr>
            <a:spLocks noGrp="1"/>
          </p:cNvSpPr>
          <p:nvPr>
            <p:ph type="title"/>
          </p:nvPr>
        </p:nvSpPr>
        <p:spPr/>
        <p:txBody>
          <a:bodyPr/>
          <a:lstStyle/>
          <a:p>
            <a:r>
              <a:rPr lang="en-US" dirty="0"/>
              <a:t>Presentation Overview</a:t>
            </a:r>
          </a:p>
        </p:txBody>
      </p:sp>
      <p:sp>
        <p:nvSpPr>
          <p:cNvPr id="3" name="Text Placeholder 2">
            <a:extLst>
              <a:ext uri="{FF2B5EF4-FFF2-40B4-BE49-F238E27FC236}">
                <a16:creationId xmlns:a16="http://schemas.microsoft.com/office/drawing/2014/main" id="{B90B3B7C-025A-F06A-B7DD-B3E3D1C4F7E5}"/>
              </a:ext>
            </a:extLst>
          </p:cNvPr>
          <p:cNvSpPr>
            <a:spLocks noGrp="1"/>
          </p:cNvSpPr>
          <p:nvPr>
            <p:ph type="body" idx="1"/>
          </p:nvPr>
        </p:nvSpPr>
        <p:spPr/>
        <p:txBody>
          <a:bodyPr/>
          <a:lstStyle/>
          <a:p>
            <a:r>
              <a:rPr lang="en-US" dirty="0"/>
              <a:t>Introduction slides 						~ 5 mins</a:t>
            </a:r>
          </a:p>
          <a:p>
            <a:endParaRPr lang="en-US" dirty="0"/>
          </a:p>
          <a:p>
            <a:r>
              <a:rPr lang="en-US" dirty="0"/>
              <a:t>RTP Protocol Tour						~20 mins</a:t>
            </a:r>
          </a:p>
          <a:p>
            <a:endParaRPr lang="en-US" dirty="0"/>
          </a:p>
          <a:p>
            <a:r>
              <a:rPr lang="en-US" dirty="0"/>
              <a:t>Implementation							~ 5 mins</a:t>
            </a:r>
          </a:p>
          <a:p>
            <a:endParaRPr lang="en-US" dirty="0"/>
          </a:p>
          <a:p>
            <a:r>
              <a:rPr lang="en-US" dirty="0"/>
              <a:t>Questions</a:t>
            </a:r>
          </a:p>
        </p:txBody>
      </p:sp>
    </p:spTree>
    <p:extLst>
      <p:ext uri="{BB962C8B-B14F-4D97-AF65-F5344CB8AC3E}">
        <p14:creationId xmlns:p14="http://schemas.microsoft.com/office/powerpoint/2010/main" val="279376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D008-D094-CED3-C43A-E0E7A6DA3B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B6C86C-B8CD-2B6A-6B02-2C65D0F25933}"/>
              </a:ext>
            </a:extLst>
          </p:cNvPr>
          <p:cNvSpPr>
            <a:spLocks noGrp="1"/>
          </p:cNvSpPr>
          <p:nvPr>
            <p:ph idx="1"/>
          </p:nvPr>
        </p:nvSpPr>
        <p:spPr>
          <a:xfrm>
            <a:off x="838200" y="5591565"/>
            <a:ext cx="10515600" cy="804181"/>
          </a:xfrm>
        </p:spPr>
        <p:txBody>
          <a:bodyPr>
            <a:normAutofit/>
          </a:bodyPr>
          <a:lstStyle/>
          <a:p>
            <a:pPr marL="0" indent="0" algn="ctr">
              <a:buNone/>
            </a:pPr>
            <a:r>
              <a:rPr lang="en-CA" dirty="0"/>
              <a:t>RTP Technical Advisor – August 2025 - Present</a:t>
            </a:r>
            <a:endParaRPr lang="en-US" dirty="0"/>
          </a:p>
          <a:p>
            <a:pPr marL="0" indent="0">
              <a:buNone/>
            </a:pPr>
            <a:endParaRPr lang="en-US" dirty="0"/>
          </a:p>
        </p:txBody>
      </p:sp>
      <p:graphicFrame>
        <p:nvGraphicFramePr>
          <p:cNvPr id="5" name="Diagram 4">
            <a:extLst>
              <a:ext uri="{FF2B5EF4-FFF2-40B4-BE49-F238E27FC236}">
                <a16:creationId xmlns:a16="http://schemas.microsoft.com/office/drawing/2014/main" id="{F76B0F9A-EA06-C3E5-6A99-24CCE3571E65}"/>
              </a:ext>
            </a:extLst>
          </p:cNvPr>
          <p:cNvGraphicFramePr/>
          <p:nvPr>
            <p:extLst>
              <p:ext uri="{D42A27DB-BD31-4B8C-83A1-F6EECF244321}">
                <p14:modId xmlns:p14="http://schemas.microsoft.com/office/powerpoint/2010/main" val="3269697117"/>
              </p:ext>
            </p:extLst>
          </p:nvPr>
        </p:nvGraphicFramePr>
        <p:xfrm>
          <a:off x="2488406" y="1085849"/>
          <a:ext cx="7215188" cy="4214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A group of people posing for a picture&#10;&#10;Description automatically generated">
            <a:extLst>
              <a:ext uri="{FF2B5EF4-FFF2-40B4-BE49-F238E27FC236}">
                <a16:creationId xmlns:a16="http://schemas.microsoft.com/office/drawing/2014/main" id="{9300C8D1-70F7-533C-6426-17F8680FAA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flipV="1">
            <a:off x="7252879" y="1240140"/>
            <a:ext cx="2232132" cy="1674099"/>
          </a:xfrm>
          <a:prstGeom prst="rect">
            <a:avLst/>
          </a:prstGeom>
        </p:spPr>
      </p:pic>
      <p:pic>
        <p:nvPicPr>
          <p:cNvPr id="1026" name="Picture 2" descr="UVic-logo | ACE-WIL | Association for ...">
            <a:extLst>
              <a:ext uri="{FF2B5EF4-FFF2-40B4-BE49-F238E27FC236}">
                <a16:creationId xmlns:a16="http://schemas.microsoft.com/office/drawing/2014/main" id="{A2A48C86-1703-98FD-5584-DE258183EF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2976" y="3648115"/>
            <a:ext cx="1652547" cy="16525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tacs-logo • Néo UQTR">
            <a:extLst>
              <a:ext uri="{FF2B5EF4-FFF2-40B4-BE49-F238E27FC236}">
                <a16:creationId xmlns:a16="http://schemas.microsoft.com/office/drawing/2014/main" id="{F3518565-8D24-03EE-3467-C5D8D022826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65306" y="4340575"/>
            <a:ext cx="2652686" cy="960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534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aby crawling on the floor&#10;&#10;AI-generated content may be incorrect.">
            <a:extLst>
              <a:ext uri="{FF2B5EF4-FFF2-40B4-BE49-F238E27FC236}">
                <a16:creationId xmlns:a16="http://schemas.microsoft.com/office/drawing/2014/main" id="{73470F84-0A25-4407-ECD7-76AC5B3A62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6761" y="1113663"/>
            <a:ext cx="4018477" cy="5357969"/>
          </a:xfrm>
          <a:prstGeom prst="rect">
            <a:avLst/>
          </a:prstGeom>
        </p:spPr>
      </p:pic>
    </p:spTree>
    <p:extLst>
      <p:ext uri="{BB962C8B-B14F-4D97-AF65-F5344CB8AC3E}">
        <p14:creationId xmlns:p14="http://schemas.microsoft.com/office/powerpoint/2010/main" val="4116205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2A20-EF16-AF2A-9208-9484E7529817}"/>
            </a:ext>
          </a:extLst>
        </p:cNvPr>
        <p:cNvGrpSpPr/>
        <p:nvPr/>
      </p:nvGrpSpPr>
      <p:grpSpPr>
        <a:xfrm>
          <a:off x="0" y="0"/>
          <a:ext cx="0" cy="0"/>
          <a:chOff x="0" y="0"/>
          <a:chExt cx="0" cy="0"/>
        </a:xfrm>
      </p:grpSpPr>
      <p:sp>
        <p:nvSpPr>
          <p:cNvPr id="63490" name="Rectangle 2">
            <a:extLst>
              <a:ext uri="{FF2B5EF4-FFF2-40B4-BE49-F238E27FC236}">
                <a16:creationId xmlns:a16="http://schemas.microsoft.com/office/drawing/2014/main" id="{4094FB13-A814-7A15-2AEA-9071C5707720}"/>
              </a:ext>
            </a:extLst>
          </p:cNvPr>
          <p:cNvSpPr>
            <a:spLocks noGrp="1" noChangeArrowheads="1"/>
          </p:cNvSpPr>
          <p:nvPr>
            <p:ph type="title"/>
          </p:nvPr>
        </p:nvSpPr>
        <p:spPr>
          <a:xfrm>
            <a:off x="286747" y="1104559"/>
            <a:ext cx="6660232" cy="565151"/>
          </a:xfrm>
          <a:noFill/>
        </p:spPr>
        <p:txBody>
          <a:bodyPr>
            <a:noAutofit/>
          </a:bodyPr>
          <a:lstStyle/>
          <a:p>
            <a:r>
              <a:rPr lang="en-CA" sz="3733" dirty="0"/>
              <a:t>Step 1.  The Problem </a:t>
            </a:r>
          </a:p>
        </p:txBody>
      </p:sp>
      <p:sp>
        <p:nvSpPr>
          <p:cNvPr id="6" name="Rectangle 3">
            <a:extLst>
              <a:ext uri="{FF2B5EF4-FFF2-40B4-BE49-F238E27FC236}">
                <a16:creationId xmlns:a16="http://schemas.microsoft.com/office/drawing/2014/main" id="{4A6E5B51-4509-719F-7BA8-9CE908EAD025}"/>
              </a:ext>
            </a:extLst>
          </p:cNvPr>
          <p:cNvSpPr txBox="1">
            <a:spLocks noChangeArrowheads="1"/>
          </p:cNvSpPr>
          <p:nvPr/>
        </p:nvSpPr>
        <p:spPr>
          <a:xfrm>
            <a:off x="2042809" y="1881377"/>
            <a:ext cx="9808339" cy="341685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spcBef>
                <a:spcPts val="0"/>
              </a:spcBef>
              <a:buNone/>
            </a:pPr>
            <a:endParaRPr lang="en-CA" sz="1600" b="1" i="1" dirty="0">
              <a:solidFill>
                <a:srgbClr val="002060"/>
              </a:solidFill>
            </a:endParaRPr>
          </a:p>
        </p:txBody>
      </p:sp>
      <p:pic>
        <p:nvPicPr>
          <p:cNvPr id="5" name="Picture 2">
            <a:extLst>
              <a:ext uri="{FF2B5EF4-FFF2-40B4-BE49-F238E27FC236}">
                <a16:creationId xmlns:a16="http://schemas.microsoft.com/office/drawing/2014/main" id="{2AFA2BA7-2435-EE91-CB48-3B117B86D13F}"/>
              </a:ext>
            </a:extLst>
          </p:cNvPr>
          <p:cNvPicPr>
            <a:picLocks noChangeAspect="1"/>
          </p:cNvPicPr>
          <p:nvPr/>
        </p:nvPicPr>
        <p:blipFill rotWithShape="1">
          <a:blip r:embed="rId3">
            <a:extLst>
              <a:ext uri="{28A0092B-C50C-407E-A947-70E740481C1C}">
                <a14:useLocalDpi xmlns:a14="http://schemas.microsoft.com/office/drawing/2010/main" val="0"/>
              </a:ext>
            </a:extLst>
          </a:blip>
          <a:srcRect l="14133" t="42559" r="68784" b="8443"/>
          <a:stretch/>
        </p:blipFill>
        <p:spPr bwMode="auto">
          <a:xfrm>
            <a:off x="541239" y="2427680"/>
            <a:ext cx="1363407" cy="2062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Diagram 2">
            <a:extLst>
              <a:ext uri="{FF2B5EF4-FFF2-40B4-BE49-F238E27FC236}">
                <a16:creationId xmlns:a16="http://schemas.microsoft.com/office/drawing/2014/main" id="{4117B0BF-A6F2-802D-6475-C3BE56322528}"/>
              </a:ext>
            </a:extLst>
          </p:cNvPr>
          <p:cNvGraphicFramePr/>
          <p:nvPr>
            <p:extLst>
              <p:ext uri="{D42A27DB-BD31-4B8C-83A1-F6EECF244321}">
                <p14:modId xmlns:p14="http://schemas.microsoft.com/office/powerpoint/2010/main" val="268499524"/>
              </p:ext>
            </p:extLst>
          </p:nvPr>
        </p:nvGraphicFramePr>
        <p:xfrm>
          <a:off x="866534" y="1104559"/>
          <a:ext cx="10458931"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7781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C5037-734F-F44F-6097-47FA64559BF7}"/>
            </a:ext>
          </a:extLst>
        </p:cNvPr>
        <p:cNvGrpSpPr/>
        <p:nvPr/>
      </p:nvGrpSpPr>
      <p:grpSpPr>
        <a:xfrm>
          <a:off x="0" y="0"/>
          <a:ext cx="0" cy="0"/>
          <a:chOff x="0" y="0"/>
          <a:chExt cx="0" cy="0"/>
        </a:xfrm>
      </p:grpSpPr>
      <p:sp>
        <p:nvSpPr>
          <p:cNvPr id="63490" name="Rectangle 2">
            <a:extLst>
              <a:ext uri="{FF2B5EF4-FFF2-40B4-BE49-F238E27FC236}">
                <a16:creationId xmlns:a16="http://schemas.microsoft.com/office/drawing/2014/main" id="{3C8ADA45-EBEA-64BA-E508-3310E49D8D61}"/>
              </a:ext>
            </a:extLst>
          </p:cNvPr>
          <p:cNvSpPr>
            <a:spLocks noGrp="1" noChangeArrowheads="1"/>
          </p:cNvSpPr>
          <p:nvPr>
            <p:ph type="title"/>
          </p:nvPr>
        </p:nvSpPr>
        <p:spPr>
          <a:xfrm>
            <a:off x="286747" y="1104559"/>
            <a:ext cx="6660232" cy="565151"/>
          </a:xfrm>
          <a:noFill/>
        </p:spPr>
        <p:txBody>
          <a:bodyPr>
            <a:noAutofit/>
          </a:bodyPr>
          <a:lstStyle/>
          <a:p>
            <a:r>
              <a:rPr lang="en-CA" sz="3733" dirty="0"/>
              <a:t>Step 2.  Your Solution(s)</a:t>
            </a:r>
          </a:p>
        </p:txBody>
      </p:sp>
      <p:sp>
        <p:nvSpPr>
          <p:cNvPr id="6" name="Rectangle 3">
            <a:extLst>
              <a:ext uri="{FF2B5EF4-FFF2-40B4-BE49-F238E27FC236}">
                <a16:creationId xmlns:a16="http://schemas.microsoft.com/office/drawing/2014/main" id="{BF6273ED-31A9-B065-41E0-91AB18C6B476}"/>
              </a:ext>
            </a:extLst>
          </p:cNvPr>
          <p:cNvSpPr txBox="1">
            <a:spLocks noChangeArrowheads="1"/>
          </p:cNvSpPr>
          <p:nvPr/>
        </p:nvSpPr>
        <p:spPr>
          <a:xfrm>
            <a:off x="1844843" y="2207198"/>
            <a:ext cx="10086516" cy="403318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CA" b="1" dirty="0"/>
              <a:t>“Build something good with what we have now.”</a:t>
            </a:r>
          </a:p>
          <a:p>
            <a:pPr marL="0" indent="0">
              <a:spcBef>
                <a:spcPts val="0"/>
              </a:spcBef>
              <a:buNone/>
            </a:pPr>
            <a:endParaRPr lang="en-CA" sz="2400" b="1" i="1" dirty="0">
              <a:solidFill>
                <a:srgbClr val="002060"/>
              </a:solidFill>
            </a:endParaRPr>
          </a:p>
          <a:p>
            <a:pPr marL="0" indent="0">
              <a:spcBef>
                <a:spcPts val="0"/>
              </a:spcBef>
              <a:buNone/>
            </a:pPr>
            <a:r>
              <a:rPr lang="en-CA" sz="2400" b="1" dirty="0"/>
              <a:t>Step 1: An ACL Rehabilitation Protocol</a:t>
            </a:r>
          </a:p>
          <a:p>
            <a:pPr>
              <a:spcBef>
                <a:spcPts val="0"/>
              </a:spcBef>
            </a:pPr>
            <a:r>
              <a:rPr lang="en-CA" sz="2400" dirty="0"/>
              <a:t>Criteria Based, Evidence-Informed Progression</a:t>
            </a:r>
          </a:p>
          <a:p>
            <a:pPr>
              <a:spcBef>
                <a:spcPts val="0"/>
              </a:spcBef>
            </a:pPr>
            <a:r>
              <a:rPr lang="en-CA" sz="2400" dirty="0"/>
              <a:t>Training Program Templates</a:t>
            </a:r>
          </a:p>
          <a:p>
            <a:pPr>
              <a:spcBef>
                <a:spcPts val="0"/>
              </a:spcBef>
            </a:pPr>
            <a:r>
              <a:rPr lang="en-CA" sz="2400" dirty="0"/>
              <a:t>Neuromuscular Testing Protocols</a:t>
            </a:r>
          </a:p>
          <a:p>
            <a:pPr>
              <a:spcBef>
                <a:spcPts val="0"/>
              </a:spcBef>
            </a:pPr>
            <a:endParaRPr lang="en-CA" sz="2400" dirty="0"/>
          </a:p>
          <a:p>
            <a:pPr>
              <a:spcBef>
                <a:spcPts val="0"/>
              </a:spcBef>
            </a:pPr>
            <a:r>
              <a:rPr lang="en-CA" sz="2400" b="1" dirty="0">
                <a:solidFill>
                  <a:srgbClr val="FF0000"/>
                </a:solidFill>
              </a:rPr>
              <a:t>Fully digital, interactive protocol</a:t>
            </a:r>
          </a:p>
          <a:p>
            <a:pPr>
              <a:spcBef>
                <a:spcPts val="0"/>
              </a:spcBef>
            </a:pPr>
            <a:r>
              <a:rPr lang="en-CA" sz="2400" b="1" dirty="0">
                <a:solidFill>
                  <a:srgbClr val="FF0000"/>
                </a:solidFill>
              </a:rPr>
              <a:t>Integrated Performance Data Pipeline</a:t>
            </a:r>
          </a:p>
          <a:p>
            <a:pPr>
              <a:spcBef>
                <a:spcPts val="0"/>
              </a:spcBef>
            </a:pPr>
            <a:r>
              <a:rPr lang="en-CA" sz="2400" b="1" dirty="0">
                <a:solidFill>
                  <a:srgbClr val="FF0000"/>
                </a:solidFill>
              </a:rPr>
              <a:t>Centralized, accessible reporting</a:t>
            </a:r>
          </a:p>
          <a:p>
            <a:pPr marL="0" indent="0">
              <a:spcBef>
                <a:spcPts val="0"/>
              </a:spcBef>
              <a:buNone/>
            </a:pPr>
            <a:endParaRPr lang="en-CA" sz="2400" b="1" i="1" dirty="0">
              <a:solidFill>
                <a:srgbClr val="002060"/>
              </a:solidFill>
            </a:endParaRPr>
          </a:p>
        </p:txBody>
      </p:sp>
      <p:pic>
        <p:nvPicPr>
          <p:cNvPr id="7" name="Picture 4">
            <a:extLst>
              <a:ext uri="{FF2B5EF4-FFF2-40B4-BE49-F238E27FC236}">
                <a16:creationId xmlns:a16="http://schemas.microsoft.com/office/drawing/2014/main" id="{0B070B4E-1CEE-843F-BFFC-3922B7B1F82D}"/>
              </a:ext>
            </a:extLst>
          </p:cNvPr>
          <p:cNvPicPr>
            <a:picLocks noChangeAspect="1"/>
          </p:cNvPicPr>
          <p:nvPr/>
        </p:nvPicPr>
        <p:blipFill rotWithShape="1">
          <a:blip r:embed="rId3">
            <a:extLst>
              <a:ext uri="{28A0092B-C50C-407E-A947-70E740481C1C}">
                <a14:useLocalDpi xmlns:a14="http://schemas.microsoft.com/office/drawing/2010/main" val="0"/>
              </a:ext>
            </a:extLst>
          </a:blip>
          <a:srcRect l="74990" t="53625" r="3076"/>
          <a:stretch/>
        </p:blipFill>
        <p:spPr bwMode="auto">
          <a:xfrm>
            <a:off x="535196" y="2678844"/>
            <a:ext cx="1402736" cy="164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8230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AEE9E-A058-4C42-D5B1-AD5C1A4152E9}"/>
              </a:ext>
            </a:extLst>
          </p:cNvPr>
          <p:cNvSpPr>
            <a:spLocks noGrp="1"/>
          </p:cNvSpPr>
          <p:nvPr>
            <p:ph type="title"/>
          </p:nvPr>
        </p:nvSpPr>
        <p:spPr/>
        <p:txBody>
          <a:bodyPr/>
          <a:lstStyle/>
          <a:p>
            <a:r>
              <a:rPr lang="en-US" dirty="0"/>
              <a:t>Preface: What is this thing?</a:t>
            </a:r>
          </a:p>
        </p:txBody>
      </p:sp>
      <p:sp>
        <p:nvSpPr>
          <p:cNvPr id="3" name="Text Placeholder 2">
            <a:extLst>
              <a:ext uri="{FF2B5EF4-FFF2-40B4-BE49-F238E27FC236}">
                <a16:creationId xmlns:a16="http://schemas.microsoft.com/office/drawing/2014/main" id="{0E1E268D-BD35-7CFB-878D-300D7931D110}"/>
              </a:ext>
            </a:extLst>
          </p:cNvPr>
          <p:cNvSpPr>
            <a:spLocks noGrp="1"/>
          </p:cNvSpPr>
          <p:nvPr>
            <p:ph type="body" idx="1"/>
          </p:nvPr>
        </p:nvSpPr>
        <p:spPr/>
        <p:txBody>
          <a:bodyPr/>
          <a:lstStyle/>
          <a:p>
            <a:r>
              <a:rPr lang="en-US" dirty="0"/>
              <a:t>Website</a:t>
            </a:r>
          </a:p>
          <a:p>
            <a:pPr lvl="1"/>
            <a:r>
              <a:rPr lang="en-US" dirty="0"/>
              <a:t>ACL Protocol (SOP)</a:t>
            </a:r>
          </a:p>
          <a:p>
            <a:pPr lvl="1"/>
            <a:r>
              <a:rPr lang="en-US" dirty="0"/>
              <a:t>Data Communication (Dashboards)</a:t>
            </a:r>
          </a:p>
          <a:p>
            <a:pPr lvl="1"/>
            <a:endParaRPr lang="en-US" dirty="0"/>
          </a:p>
          <a:p>
            <a:r>
              <a:rPr lang="en-US" dirty="0"/>
              <a:t>Data Collection tools</a:t>
            </a:r>
          </a:p>
          <a:p>
            <a:r>
              <a:rPr lang="en-US" dirty="0"/>
              <a:t>Data Pipeline</a:t>
            </a:r>
          </a:p>
          <a:p>
            <a:r>
              <a:rPr lang="en-US" dirty="0"/>
              <a:t>Exercise Program Template</a:t>
            </a:r>
          </a:p>
          <a:p>
            <a:r>
              <a:rPr lang="en-US" dirty="0"/>
              <a:t>Peer-Reviewed Research Library</a:t>
            </a:r>
            <a:br>
              <a:rPr lang="en-US" dirty="0"/>
            </a:br>
            <a:r>
              <a:rPr lang="en-US" dirty="0"/>
              <a:t>		</a:t>
            </a:r>
            <a:br>
              <a:rPr lang="en-US" dirty="0"/>
            </a:br>
            <a:endParaRPr lang="en-US" dirty="0"/>
          </a:p>
          <a:p>
            <a:pPr lvl="1"/>
            <a:endParaRPr lang="en-US" dirty="0"/>
          </a:p>
        </p:txBody>
      </p:sp>
    </p:spTree>
    <p:extLst>
      <p:ext uri="{BB962C8B-B14F-4D97-AF65-F5344CB8AC3E}">
        <p14:creationId xmlns:p14="http://schemas.microsoft.com/office/powerpoint/2010/main" val="151080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147F-0049-6B1D-40A7-AEAEBA4E1387}"/>
              </a:ext>
            </a:extLst>
          </p:cNvPr>
          <p:cNvSpPr>
            <a:spLocks noGrp="1"/>
          </p:cNvSpPr>
          <p:nvPr>
            <p:ph type="title"/>
          </p:nvPr>
        </p:nvSpPr>
        <p:spPr/>
        <p:txBody>
          <a:bodyPr/>
          <a:lstStyle/>
          <a:p>
            <a:r>
              <a:rPr lang="en-US" dirty="0"/>
              <a:t>What ISN’T this Thing</a:t>
            </a:r>
          </a:p>
        </p:txBody>
      </p:sp>
      <p:sp>
        <p:nvSpPr>
          <p:cNvPr id="3" name="Text Placeholder 2">
            <a:extLst>
              <a:ext uri="{FF2B5EF4-FFF2-40B4-BE49-F238E27FC236}">
                <a16:creationId xmlns:a16="http://schemas.microsoft.com/office/drawing/2014/main" id="{DC2085FF-7136-2E20-D840-6A95FBEE8989}"/>
              </a:ext>
            </a:extLst>
          </p:cNvPr>
          <p:cNvSpPr>
            <a:spLocks noGrp="1"/>
          </p:cNvSpPr>
          <p:nvPr>
            <p:ph type="body" idx="1"/>
          </p:nvPr>
        </p:nvSpPr>
        <p:spPr/>
        <p:txBody>
          <a:bodyPr/>
          <a:lstStyle/>
          <a:p>
            <a:r>
              <a:rPr lang="en-US" dirty="0"/>
              <a:t>Set it and Forget It</a:t>
            </a:r>
          </a:p>
          <a:p>
            <a:endParaRPr lang="en-US" dirty="0"/>
          </a:p>
          <a:p>
            <a:r>
              <a:rPr lang="en-US" dirty="0"/>
              <a:t>High Performance &gt; PN</a:t>
            </a:r>
          </a:p>
          <a:p>
            <a:pPr marL="152396" indent="0">
              <a:buNone/>
            </a:pPr>
            <a:endParaRPr lang="en-US" dirty="0"/>
          </a:p>
        </p:txBody>
      </p:sp>
    </p:spTree>
    <p:extLst>
      <p:ext uri="{BB962C8B-B14F-4D97-AF65-F5344CB8AC3E}">
        <p14:creationId xmlns:p14="http://schemas.microsoft.com/office/powerpoint/2010/main" val="248690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E5C6-4F65-A868-4B6E-75990055CC99}"/>
              </a:ext>
            </a:extLst>
          </p:cNvPr>
          <p:cNvSpPr>
            <a:spLocks noGrp="1"/>
          </p:cNvSpPr>
          <p:nvPr>
            <p:ph type="title"/>
          </p:nvPr>
        </p:nvSpPr>
        <p:spPr/>
        <p:txBody>
          <a:bodyPr/>
          <a:lstStyle/>
          <a:p>
            <a:r>
              <a:rPr lang="en-US" dirty="0"/>
              <a:t>Choose your lens</a:t>
            </a:r>
          </a:p>
        </p:txBody>
      </p:sp>
      <p:sp>
        <p:nvSpPr>
          <p:cNvPr id="3" name="Text Placeholder 2">
            <a:extLst>
              <a:ext uri="{FF2B5EF4-FFF2-40B4-BE49-F238E27FC236}">
                <a16:creationId xmlns:a16="http://schemas.microsoft.com/office/drawing/2014/main" id="{B5F32B5F-1F0E-D479-ECFB-BBA2812A72AD}"/>
              </a:ext>
            </a:extLst>
          </p:cNvPr>
          <p:cNvSpPr>
            <a:spLocks noGrp="1"/>
          </p:cNvSpPr>
          <p:nvPr>
            <p:ph type="body" idx="1"/>
          </p:nvPr>
        </p:nvSpPr>
        <p:spPr/>
        <p:txBody>
          <a:bodyPr/>
          <a:lstStyle/>
          <a:p>
            <a:r>
              <a:rPr lang="en-US" dirty="0"/>
              <a:t>Athlete</a:t>
            </a:r>
          </a:p>
          <a:p>
            <a:endParaRPr lang="en-US" dirty="0"/>
          </a:p>
          <a:p>
            <a:r>
              <a:rPr lang="en-US" dirty="0"/>
              <a:t>Practitioner</a:t>
            </a:r>
          </a:p>
          <a:p>
            <a:endParaRPr lang="en-US" dirty="0"/>
          </a:p>
          <a:p>
            <a:r>
              <a:rPr lang="en-US" dirty="0"/>
              <a:t>Coach</a:t>
            </a:r>
          </a:p>
          <a:p>
            <a:endParaRPr lang="en-US" dirty="0"/>
          </a:p>
          <a:p>
            <a:r>
              <a:rPr lang="en-US" dirty="0"/>
              <a:t>Administrator</a:t>
            </a:r>
          </a:p>
        </p:txBody>
      </p:sp>
    </p:spTree>
    <p:extLst>
      <p:ext uri="{BB962C8B-B14F-4D97-AF65-F5344CB8AC3E}">
        <p14:creationId xmlns:p14="http://schemas.microsoft.com/office/powerpoint/2010/main" val="2913460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A37E-B017-9684-8292-92306C831849}"/>
              </a:ext>
            </a:extLst>
          </p:cNvPr>
          <p:cNvSpPr>
            <a:spLocks noGrp="1"/>
          </p:cNvSpPr>
          <p:nvPr>
            <p:ph type="title"/>
          </p:nvPr>
        </p:nvSpPr>
        <p:spPr/>
        <p:txBody>
          <a:bodyPr/>
          <a:lstStyle/>
          <a:p>
            <a:r>
              <a:rPr lang="en-US" dirty="0"/>
              <a:t>After the Tour</a:t>
            </a:r>
          </a:p>
        </p:txBody>
      </p:sp>
      <p:sp>
        <p:nvSpPr>
          <p:cNvPr id="3" name="Text Placeholder 2">
            <a:extLst>
              <a:ext uri="{FF2B5EF4-FFF2-40B4-BE49-F238E27FC236}">
                <a16:creationId xmlns:a16="http://schemas.microsoft.com/office/drawing/2014/main" id="{5EF710E7-21FE-102D-2DB6-CDE9B94C01E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0656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49BF-0610-5307-2D7D-4D63AAAAFB20}"/>
              </a:ext>
            </a:extLst>
          </p:cNvPr>
          <p:cNvSpPr>
            <a:spLocks noGrp="1"/>
          </p:cNvSpPr>
          <p:nvPr>
            <p:ph type="title"/>
          </p:nvPr>
        </p:nvSpPr>
        <p:spPr/>
        <p:txBody>
          <a:bodyPr/>
          <a:lstStyle/>
          <a:p>
            <a:r>
              <a:rPr lang="en-US" dirty="0"/>
              <a:t>Implementation – Business Model</a:t>
            </a:r>
          </a:p>
        </p:txBody>
      </p:sp>
      <p:sp>
        <p:nvSpPr>
          <p:cNvPr id="3" name="Text Placeholder 2">
            <a:extLst>
              <a:ext uri="{FF2B5EF4-FFF2-40B4-BE49-F238E27FC236}">
                <a16:creationId xmlns:a16="http://schemas.microsoft.com/office/drawing/2014/main" id="{AA8218A9-E9CC-32B5-D297-CABB62CD1204}"/>
              </a:ext>
            </a:extLst>
          </p:cNvPr>
          <p:cNvSpPr>
            <a:spLocks noGrp="1"/>
          </p:cNvSpPr>
          <p:nvPr>
            <p:ph type="body" idx="1"/>
          </p:nvPr>
        </p:nvSpPr>
        <p:spPr>
          <a:xfrm>
            <a:off x="360218" y="1825625"/>
            <a:ext cx="11526982" cy="4351200"/>
          </a:xfrm>
        </p:spPr>
        <p:txBody>
          <a:bodyPr/>
          <a:lstStyle/>
          <a:p>
            <a:pPr marL="609596" indent="-457200">
              <a:lnSpc>
                <a:spcPct val="150000"/>
              </a:lnSpc>
              <a:buFont typeface="+mj-lt"/>
              <a:buAutoNum type="arabicPeriod"/>
            </a:pPr>
            <a:r>
              <a:rPr lang="en-US" sz="2800" dirty="0"/>
              <a:t>Collect previously unrealized revenue from ongoing service delivery</a:t>
            </a:r>
          </a:p>
          <a:p>
            <a:pPr marL="609596" indent="-457200">
              <a:lnSpc>
                <a:spcPct val="150000"/>
              </a:lnSpc>
              <a:buFont typeface="+mj-lt"/>
              <a:buAutoNum type="arabicPeriod"/>
            </a:pPr>
            <a:r>
              <a:rPr lang="en-US" sz="2800" dirty="0"/>
              <a:t>Collect previously unrealized revenue from ongoing service delivery</a:t>
            </a:r>
          </a:p>
          <a:p>
            <a:pPr marL="609596" indent="-457200">
              <a:lnSpc>
                <a:spcPct val="150000"/>
              </a:lnSpc>
              <a:buFont typeface="+mj-lt"/>
              <a:buAutoNum type="arabicPeriod"/>
            </a:pPr>
            <a:r>
              <a:rPr lang="en-US" sz="2800" dirty="0"/>
              <a:t>Collect previously unrealized revenue from ongoing service delivery</a:t>
            </a:r>
          </a:p>
          <a:p>
            <a:pPr marL="609596" indent="-457200">
              <a:lnSpc>
                <a:spcPct val="150000"/>
              </a:lnSpc>
              <a:buFont typeface="+mj-lt"/>
              <a:buAutoNum type="arabicPeriod"/>
            </a:pPr>
            <a:r>
              <a:rPr lang="en-US" sz="2800" dirty="0"/>
              <a:t>Collect previously unrealized revenue from ongoing service delivery</a:t>
            </a:r>
          </a:p>
          <a:p>
            <a:pPr marL="609596" indent="-457200">
              <a:lnSpc>
                <a:spcPct val="150000"/>
              </a:lnSpc>
              <a:buFont typeface="+mj-lt"/>
              <a:buAutoNum type="arabicPeriod"/>
            </a:pPr>
            <a:r>
              <a:rPr lang="en-US" sz="2800" dirty="0"/>
              <a:t>Collect previously unrealized revenue from ongoing service delivery</a:t>
            </a:r>
          </a:p>
          <a:p>
            <a:pPr marL="609596" indent="-457200">
              <a:buFont typeface="+mj-lt"/>
              <a:buAutoNum type="arabicPeriod"/>
            </a:pPr>
            <a:endParaRPr lang="en-US" sz="2800" dirty="0"/>
          </a:p>
          <a:p>
            <a:pPr marL="609596" indent="-457200">
              <a:buFont typeface="+mj-lt"/>
              <a:buAutoNum type="arabicPeriod"/>
            </a:pPr>
            <a:endParaRPr lang="en-US" sz="2800" dirty="0"/>
          </a:p>
        </p:txBody>
      </p:sp>
    </p:spTree>
    <p:extLst>
      <p:ext uri="{BB962C8B-B14F-4D97-AF65-F5344CB8AC3E}">
        <p14:creationId xmlns:p14="http://schemas.microsoft.com/office/powerpoint/2010/main" val="316307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86747" y="1104559"/>
            <a:ext cx="8459688" cy="565151"/>
          </a:xfrm>
          <a:noFill/>
        </p:spPr>
        <p:txBody>
          <a:bodyPr>
            <a:noAutofit/>
          </a:bodyPr>
          <a:lstStyle/>
          <a:p>
            <a:r>
              <a:rPr lang="en-CA" sz="3733" dirty="0"/>
              <a:t>Step 3.  Competition Benchmarking</a:t>
            </a:r>
          </a:p>
        </p:txBody>
      </p:sp>
      <p:sp>
        <p:nvSpPr>
          <p:cNvPr id="6" name="Rectangle 3"/>
          <p:cNvSpPr txBox="1">
            <a:spLocks noChangeArrowheads="1"/>
          </p:cNvSpPr>
          <p:nvPr/>
        </p:nvSpPr>
        <p:spPr>
          <a:xfrm>
            <a:off x="2042809" y="2207198"/>
            <a:ext cx="9808339" cy="371946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CA" sz="2400" b="1" dirty="0">
                <a:solidFill>
                  <a:srgbClr val="002060"/>
                </a:solidFill>
              </a:rPr>
              <a:t>World Leading-</a:t>
            </a:r>
            <a:r>
              <a:rPr lang="en-CA" sz="2400" b="1" dirty="0" err="1">
                <a:solidFill>
                  <a:srgbClr val="002060"/>
                </a:solidFill>
              </a:rPr>
              <a:t>ish</a:t>
            </a:r>
            <a:r>
              <a:rPr lang="en-CA" sz="2400" b="1" dirty="0">
                <a:solidFill>
                  <a:srgbClr val="002060"/>
                </a:solidFill>
              </a:rPr>
              <a:t> Examples</a:t>
            </a:r>
          </a:p>
          <a:p>
            <a:pPr marL="0" indent="0">
              <a:spcBef>
                <a:spcPts val="0"/>
              </a:spcBef>
              <a:buNone/>
            </a:pPr>
            <a:r>
              <a:rPr lang="en-CA" sz="2400" dirty="0">
                <a:solidFill>
                  <a:srgbClr val="002060"/>
                </a:solidFill>
              </a:rPr>
              <a:t>- Sports Physiotherapy &amp; Athletic Rehabilitation Clinic (SPARC)</a:t>
            </a:r>
          </a:p>
          <a:p>
            <a:pPr marL="0" indent="0">
              <a:spcBef>
                <a:spcPts val="0"/>
              </a:spcBef>
              <a:buNone/>
            </a:pPr>
            <a:r>
              <a:rPr lang="en-CA" sz="2400" dirty="0">
                <a:solidFill>
                  <a:srgbClr val="002060"/>
                </a:solidFill>
              </a:rPr>
              <a:t>- Aspetar</a:t>
            </a:r>
          </a:p>
          <a:p>
            <a:pPr marL="0" indent="0">
              <a:spcBef>
                <a:spcPts val="0"/>
              </a:spcBef>
              <a:buNone/>
            </a:pPr>
            <a:r>
              <a:rPr lang="en-CA" sz="2400" dirty="0">
                <a:solidFill>
                  <a:srgbClr val="002060"/>
                </a:solidFill>
              </a:rPr>
              <a:t>- MOON</a:t>
            </a:r>
          </a:p>
          <a:p>
            <a:pPr marL="0" indent="0">
              <a:spcBef>
                <a:spcPts val="0"/>
              </a:spcBef>
              <a:buNone/>
            </a:pPr>
            <a:r>
              <a:rPr lang="en-CA" sz="2400" dirty="0">
                <a:solidFill>
                  <a:srgbClr val="002060"/>
                </a:solidFill>
              </a:rPr>
              <a:t>- USA Ski &amp; SB</a:t>
            </a:r>
          </a:p>
          <a:p>
            <a:pPr marL="0" indent="0">
              <a:spcBef>
                <a:spcPts val="0"/>
              </a:spcBef>
              <a:buNone/>
            </a:pPr>
            <a:endParaRPr lang="en-CA" sz="2400" dirty="0">
              <a:solidFill>
                <a:srgbClr val="002060"/>
              </a:solidFill>
            </a:endParaRPr>
          </a:p>
          <a:p>
            <a:pPr marL="0" indent="0">
              <a:spcBef>
                <a:spcPts val="0"/>
              </a:spcBef>
              <a:buNone/>
            </a:pPr>
            <a:r>
              <a:rPr lang="en-CA" sz="2400" b="1" dirty="0">
                <a:solidFill>
                  <a:srgbClr val="002060"/>
                </a:solidFill>
              </a:rPr>
              <a:t>Actual “Competition”</a:t>
            </a:r>
          </a:p>
          <a:p>
            <a:pPr marL="0" indent="0">
              <a:spcBef>
                <a:spcPts val="0"/>
              </a:spcBef>
              <a:buNone/>
            </a:pPr>
            <a:r>
              <a:rPr lang="en-CA" sz="2400" dirty="0">
                <a:solidFill>
                  <a:srgbClr val="002060"/>
                </a:solidFill>
              </a:rPr>
              <a:t>- CSI Alberta</a:t>
            </a:r>
          </a:p>
          <a:p>
            <a:pPr marL="0" indent="0">
              <a:spcBef>
                <a:spcPts val="0"/>
              </a:spcBef>
              <a:buNone/>
            </a:pPr>
            <a:r>
              <a:rPr lang="en-CA" sz="2400" dirty="0">
                <a:solidFill>
                  <a:srgbClr val="002060"/>
                </a:solidFill>
              </a:rPr>
              <a:t>- NSO Staff (i.e. Alpine Canada)</a:t>
            </a:r>
          </a:p>
          <a:p>
            <a:pPr marL="0" indent="0">
              <a:spcBef>
                <a:spcPts val="0"/>
              </a:spcBef>
              <a:buNone/>
            </a:pPr>
            <a:r>
              <a:rPr lang="en-CA" sz="2400" dirty="0">
                <a:solidFill>
                  <a:srgbClr val="002060"/>
                </a:solidFill>
              </a:rPr>
              <a:t>- Private Business (i.e. </a:t>
            </a:r>
            <a:r>
              <a:rPr lang="en-CA" sz="2400" strike="sngStrike" dirty="0" err="1">
                <a:solidFill>
                  <a:srgbClr val="002060"/>
                </a:solidFill>
              </a:rPr>
              <a:t>Fortius</a:t>
            </a:r>
            <a:r>
              <a:rPr lang="en-CA" sz="2400" dirty="0">
                <a:solidFill>
                  <a:srgbClr val="002060"/>
                </a:solidFill>
              </a:rPr>
              <a:t>, … )</a:t>
            </a:r>
          </a:p>
        </p:txBody>
      </p:sp>
      <p:pic>
        <p:nvPicPr>
          <p:cNvPr id="7" name="Picture 7"/>
          <p:cNvPicPr>
            <a:picLocks noChangeAspect="1"/>
          </p:cNvPicPr>
          <p:nvPr/>
        </p:nvPicPr>
        <p:blipFill rotWithShape="1">
          <a:blip r:embed="rId3">
            <a:extLst>
              <a:ext uri="{28A0092B-C50C-407E-A947-70E740481C1C}">
                <a14:useLocalDpi xmlns:a14="http://schemas.microsoft.com/office/drawing/2010/main" val="0"/>
              </a:ext>
            </a:extLst>
          </a:blip>
          <a:srcRect l="62661" t="52838" r="7524"/>
          <a:stretch/>
        </p:blipFill>
        <p:spPr bwMode="auto">
          <a:xfrm>
            <a:off x="143056" y="2412180"/>
            <a:ext cx="1812968" cy="180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F045E61D-139D-5577-3EA2-79A0AB5C7858}"/>
              </a:ext>
            </a:extLst>
          </p:cNvPr>
          <p:cNvSpPr txBox="1"/>
          <p:nvPr/>
        </p:nvSpPr>
        <p:spPr>
          <a:xfrm>
            <a:off x="7079343" y="3631418"/>
            <a:ext cx="4612148" cy="1200329"/>
          </a:xfrm>
          <a:prstGeom prst="rect">
            <a:avLst/>
          </a:prstGeom>
          <a:noFill/>
        </p:spPr>
        <p:txBody>
          <a:bodyPr wrap="square" rtlCol="0">
            <a:spAutoFit/>
          </a:bodyPr>
          <a:lstStyle/>
          <a:p>
            <a:pPr marL="285750" indent="-285750">
              <a:spcBef>
                <a:spcPts val="0"/>
              </a:spcBef>
              <a:buFont typeface="Arial" panose="020B0604020202020204" pitchFamily="34" charset="0"/>
              <a:buChar char="•"/>
            </a:pPr>
            <a:r>
              <a:rPr lang="en-CA" b="1" dirty="0">
                <a:solidFill>
                  <a:srgbClr val="FF0000"/>
                </a:solidFill>
              </a:rPr>
              <a:t>Fully digital, interactive protocol</a:t>
            </a:r>
          </a:p>
          <a:p>
            <a:pPr marL="285750" indent="-285750">
              <a:spcBef>
                <a:spcPts val="0"/>
              </a:spcBef>
              <a:buFont typeface="Arial" panose="020B0604020202020204" pitchFamily="34" charset="0"/>
              <a:buChar char="•"/>
            </a:pPr>
            <a:r>
              <a:rPr lang="en-CA" b="1" dirty="0">
                <a:solidFill>
                  <a:srgbClr val="FF0000"/>
                </a:solidFill>
              </a:rPr>
              <a:t>Integrated Performance Data Pipeline</a:t>
            </a:r>
          </a:p>
          <a:p>
            <a:pPr marL="285750" indent="-285750">
              <a:spcBef>
                <a:spcPts val="0"/>
              </a:spcBef>
              <a:buFont typeface="Arial" panose="020B0604020202020204" pitchFamily="34" charset="0"/>
              <a:buChar char="•"/>
            </a:pPr>
            <a:r>
              <a:rPr lang="en-CA" b="1" dirty="0">
                <a:solidFill>
                  <a:srgbClr val="FF0000"/>
                </a:solidFill>
              </a:rPr>
              <a:t>Centralized, accessible reporting</a:t>
            </a:r>
          </a:p>
          <a:p>
            <a:endParaRPr lang="en-US" dirty="0"/>
          </a:p>
        </p:txBody>
      </p:sp>
      <p:sp>
        <p:nvSpPr>
          <p:cNvPr id="4" name="TextBox 3">
            <a:extLst>
              <a:ext uri="{FF2B5EF4-FFF2-40B4-BE49-F238E27FC236}">
                <a16:creationId xmlns:a16="http://schemas.microsoft.com/office/drawing/2014/main" id="{803B6C40-3F79-231C-FAF9-3AB0DC63857A}"/>
              </a:ext>
            </a:extLst>
          </p:cNvPr>
          <p:cNvSpPr txBox="1"/>
          <p:nvPr/>
        </p:nvSpPr>
        <p:spPr>
          <a:xfrm>
            <a:off x="7650413" y="5100491"/>
            <a:ext cx="3718627" cy="923330"/>
          </a:xfrm>
          <a:prstGeom prst="rect">
            <a:avLst/>
          </a:prstGeom>
          <a:noFill/>
        </p:spPr>
        <p:txBody>
          <a:bodyPr wrap="square" rtlCol="0">
            <a:spAutoFit/>
          </a:bodyPr>
          <a:lstStyle/>
          <a:p>
            <a:pPr>
              <a:spcBef>
                <a:spcPts val="0"/>
              </a:spcBef>
            </a:pPr>
            <a:r>
              <a:rPr lang="en-CA" b="1" dirty="0">
                <a:solidFill>
                  <a:srgbClr val="FF0000"/>
                </a:solidFill>
              </a:rPr>
              <a:t>Not just “WHAT” to do but “HOW” to do it.</a:t>
            </a:r>
          </a:p>
          <a:p>
            <a:endParaRPr lang="en-US" dirty="0"/>
          </a:p>
        </p:txBody>
      </p:sp>
    </p:spTree>
    <p:extLst>
      <p:ext uri="{BB962C8B-B14F-4D97-AF65-F5344CB8AC3E}">
        <p14:creationId xmlns:p14="http://schemas.microsoft.com/office/powerpoint/2010/main" val="3918262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86747" y="1104559"/>
            <a:ext cx="6660232" cy="565151"/>
          </a:xfrm>
          <a:noFill/>
        </p:spPr>
        <p:txBody>
          <a:bodyPr>
            <a:noAutofit/>
          </a:bodyPr>
          <a:lstStyle/>
          <a:p>
            <a:r>
              <a:rPr lang="en-CA" sz="3733" dirty="0"/>
              <a:t>Step 4.  Target Market</a:t>
            </a:r>
          </a:p>
        </p:txBody>
      </p:sp>
      <p:pic>
        <p:nvPicPr>
          <p:cNvPr id="5" name="Picture 5"/>
          <p:cNvPicPr>
            <a:picLocks noChangeAspect="1"/>
          </p:cNvPicPr>
          <p:nvPr/>
        </p:nvPicPr>
        <p:blipFill rotWithShape="1">
          <a:blip r:embed="rId3">
            <a:extLst>
              <a:ext uri="{28A0092B-C50C-407E-A947-70E740481C1C}">
                <a14:useLocalDpi xmlns:a14="http://schemas.microsoft.com/office/drawing/2010/main" val="0"/>
              </a:ext>
            </a:extLst>
          </a:blip>
          <a:srcRect l="17219" t="50876" r="59719"/>
          <a:stretch/>
        </p:blipFill>
        <p:spPr bwMode="auto">
          <a:xfrm>
            <a:off x="271338" y="2399073"/>
            <a:ext cx="1691148" cy="175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Diagram 1">
            <a:extLst>
              <a:ext uri="{FF2B5EF4-FFF2-40B4-BE49-F238E27FC236}">
                <a16:creationId xmlns:a16="http://schemas.microsoft.com/office/drawing/2014/main" id="{D0A8F765-861F-91C7-36C3-3555BF0BF1D9}"/>
              </a:ext>
            </a:extLst>
          </p:cNvPr>
          <p:cNvGraphicFramePr>
            <a:graphicFrameLocks noChangeAspect="1"/>
          </p:cNvGraphicFramePr>
          <p:nvPr>
            <p:extLst>
              <p:ext uri="{D42A27DB-BD31-4B8C-83A1-F6EECF244321}">
                <p14:modId xmlns:p14="http://schemas.microsoft.com/office/powerpoint/2010/main" val="2401085282"/>
              </p:ext>
            </p:extLst>
          </p:nvPr>
        </p:nvGraphicFramePr>
        <p:xfrm>
          <a:off x="588000" y="794513"/>
          <a:ext cx="11016000" cy="67280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836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86745" y="1104559"/>
            <a:ext cx="9808339" cy="565151"/>
          </a:xfrm>
          <a:noFill/>
        </p:spPr>
        <p:txBody>
          <a:bodyPr>
            <a:noAutofit/>
          </a:bodyPr>
          <a:lstStyle/>
          <a:p>
            <a:r>
              <a:rPr lang="en-CA" sz="3733" dirty="0"/>
              <a:t>Step 5.  Highlight Your Team Advantage</a:t>
            </a:r>
          </a:p>
        </p:txBody>
      </p:sp>
      <p:sp>
        <p:nvSpPr>
          <p:cNvPr id="6" name="Rectangle 3"/>
          <p:cNvSpPr txBox="1">
            <a:spLocks noChangeArrowheads="1"/>
          </p:cNvSpPr>
          <p:nvPr/>
        </p:nvSpPr>
        <p:spPr>
          <a:xfrm>
            <a:off x="2042809" y="2207198"/>
            <a:ext cx="9808339" cy="328766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CA" sz="2400" b="1" dirty="0">
                <a:solidFill>
                  <a:srgbClr val="002060"/>
                </a:solidFill>
              </a:rPr>
              <a:t>Project Lead – Andrew Kates</a:t>
            </a:r>
          </a:p>
          <a:p>
            <a:pPr>
              <a:spcBef>
                <a:spcPts val="0"/>
              </a:spcBef>
            </a:pPr>
            <a:r>
              <a:rPr lang="en-CA" sz="2400" dirty="0">
                <a:solidFill>
                  <a:srgbClr val="002060"/>
                </a:solidFill>
              </a:rPr>
              <a:t>Experience in RTP leadership + applied sport/data science</a:t>
            </a:r>
          </a:p>
          <a:p>
            <a:pPr>
              <a:spcBef>
                <a:spcPts val="0"/>
              </a:spcBef>
            </a:pPr>
            <a:r>
              <a:rPr lang="en-CA" sz="2400" dirty="0">
                <a:solidFill>
                  <a:srgbClr val="002060"/>
                </a:solidFill>
              </a:rPr>
              <a:t>History of delivering outcomes</a:t>
            </a:r>
          </a:p>
          <a:p>
            <a:pPr>
              <a:spcBef>
                <a:spcPts val="0"/>
              </a:spcBef>
            </a:pPr>
            <a:r>
              <a:rPr lang="en-CA" sz="2400" dirty="0">
                <a:solidFill>
                  <a:srgbClr val="002060"/>
                </a:solidFill>
              </a:rPr>
              <a:t>Practical Approach + Research/Innovation</a:t>
            </a:r>
          </a:p>
          <a:p>
            <a:pPr>
              <a:spcBef>
                <a:spcPts val="0"/>
              </a:spcBef>
            </a:pPr>
            <a:endParaRPr lang="en-CA" sz="2400" dirty="0">
              <a:solidFill>
                <a:srgbClr val="002060"/>
              </a:solidFill>
            </a:endParaRPr>
          </a:p>
          <a:p>
            <a:pPr marL="0" indent="0">
              <a:spcBef>
                <a:spcPts val="0"/>
              </a:spcBef>
              <a:buNone/>
            </a:pPr>
            <a:r>
              <a:rPr lang="en-CA" sz="2400" b="1" dirty="0">
                <a:solidFill>
                  <a:srgbClr val="002060"/>
                </a:solidFill>
              </a:rPr>
              <a:t>Initial Support – Craig, Marc</a:t>
            </a:r>
          </a:p>
          <a:p>
            <a:pPr>
              <a:spcBef>
                <a:spcPts val="0"/>
              </a:spcBef>
            </a:pPr>
            <a:r>
              <a:rPr lang="en-CA" sz="2400" dirty="0">
                <a:solidFill>
                  <a:srgbClr val="002060"/>
                </a:solidFill>
              </a:rPr>
              <a:t>Experience, Expertise, Network</a:t>
            </a:r>
          </a:p>
          <a:p>
            <a:pPr>
              <a:spcBef>
                <a:spcPts val="0"/>
              </a:spcBef>
            </a:pPr>
            <a:endParaRPr lang="en-CA" sz="2400" dirty="0">
              <a:solidFill>
                <a:srgbClr val="002060"/>
              </a:solidFill>
            </a:endParaRPr>
          </a:p>
          <a:p>
            <a:pPr marL="0" indent="0">
              <a:spcBef>
                <a:spcPts val="0"/>
              </a:spcBef>
              <a:buNone/>
            </a:pPr>
            <a:r>
              <a:rPr lang="en-CA" sz="2400" b="1" dirty="0">
                <a:solidFill>
                  <a:srgbClr val="002060"/>
                </a:solidFill>
              </a:rPr>
              <a:t>Expanded Support</a:t>
            </a:r>
          </a:p>
          <a:p>
            <a:pPr>
              <a:spcBef>
                <a:spcPts val="0"/>
              </a:spcBef>
            </a:pPr>
            <a:r>
              <a:rPr lang="en-CA" sz="2400" dirty="0">
                <a:solidFill>
                  <a:srgbClr val="002060"/>
                </a:solidFill>
              </a:rPr>
              <a:t>Surgery, Physiotherapy, Physiology, Nutrition, Mental Performance, DS-BPA</a:t>
            </a:r>
          </a:p>
          <a:p>
            <a:pPr marL="0" indent="0">
              <a:spcBef>
                <a:spcPts val="0"/>
              </a:spcBef>
              <a:buNone/>
            </a:pPr>
            <a:endParaRPr lang="en-CA" sz="2400" b="1" i="1" dirty="0">
              <a:solidFill>
                <a:srgbClr val="002060"/>
              </a:solidFill>
            </a:endParaRPr>
          </a:p>
        </p:txBody>
      </p:sp>
      <p:pic>
        <p:nvPicPr>
          <p:cNvPr id="5" name="Picture 8"/>
          <p:cNvPicPr>
            <a:picLocks noChangeAspect="1"/>
          </p:cNvPicPr>
          <p:nvPr/>
        </p:nvPicPr>
        <p:blipFill rotWithShape="1">
          <a:blip r:embed="rId3">
            <a:extLst>
              <a:ext uri="{28A0092B-C50C-407E-A947-70E740481C1C}">
                <a14:useLocalDpi xmlns:a14="http://schemas.microsoft.com/office/drawing/2010/main" val="0"/>
              </a:ext>
            </a:extLst>
          </a:blip>
          <a:srcRect l="7777" t="45360" r="61009"/>
          <a:stretch/>
        </p:blipFill>
        <p:spPr bwMode="auto">
          <a:xfrm>
            <a:off x="1" y="2792361"/>
            <a:ext cx="2042809" cy="1955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404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86747" y="1104559"/>
            <a:ext cx="6660232" cy="565151"/>
          </a:xfrm>
          <a:noFill/>
        </p:spPr>
        <p:txBody>
          <a:bodyPr>
            <a:noAutofit/>
          </a:bodyPr>
          <a:lstStyle/>
          <a:p>
            <a:r>
              <a:rPr lang="en-CA" sz="3733" dirty="0"/>
              <a:t>Step 6.  Business Model </a:t>
            </a:r>
          </a:p>
        </p:txBody>
      </p:sp>
      <p:sp>
        <p:nvSpPr>
          <p:cNvPr id="6" name="Rectangle 3"/>
          <p:cNvSpPr txBox="1">
            <a:spLocks noChangeArrowheads="1"/>
          </p:cNvSpPr>
          <p:nvPr/>
        </p:nvSpPr>
        <p:spPr>
          <a:xfrm>
            <a:off x="358979" y="1962879"/>
            <a:ext cx="6453945" cy="403867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CA" sz="2400" b="1" i="1" dirty="0">
                <a:solidFill>
                  <a:srgbClr val="002060"/>
                </a:solidFill>
              </a:rPr>
              <a:t>Subscription business model:</a:t>
            </a:r>
          </a:p>
          <a:p>
            <a:pPr>
              <a:spcBef>
                <a:spcPts val="0"/>
              </a:spcBef>
            </a:pPr>
            <a:r>
              <a:rPr lang="en-CA" sz="2400" dirty="0">
                <a:solidFill>
                  <a:srgbClr val="002060"/>
                </a:solidFill>
              </a:rPr>
              <a:t>Monthly cost per athlete</a:t>
            </a:r>
          </a:p>
          <a:p>
            <a:pPr>
              <a:spcBef>
                <a:spcPts val="0"/>
              </a:spcBef>
            </a:pPr>
            <a:r>
              <a:rPr lang="en-CA" sz="2400" dirty="0">
                <a:solidFill>
                  <a:srgbClr val="002060"/>
                </a:solidFill>
              </a:rPr>
              <a:t>$$$ ~ time commitment, service integration</a:t>
            </a:r>
          </a:p>
          <a:p>
            <a:pPr marL="0" indent="0">
              <a:spcBef>
                <a:spcPts val="0"/>
              </a:spcBef>
              <a:buNone/>
            </a:pPr>
            <a:endParaRPr lang="en-CA" sz="2400" b="1" i="1" dirty="0">
              <a:solidFill>
                <a:srgbClr val="002060"/>
              </a:solidFill>
            </a:endParaRPr>
          </a:p>
          <a:p>
            <a:pPr marL="0" indent="0">
              <a:spcBef>
                <a:spcPts val="0"/>
              </a:spcBef>
              <a:buNone/>
            </a:pPr>
            <a:endParaRPr lang="en-CA" sz="2400" b="1" i="1" dirty="0">
              <a:solidFill>
                <a:srgbClr val="002060"/>
              </a:solidFill>
            </a:endParaRPr>
          </a:p>
          <a:p>
            <a:pPr marL="0" indent="0">
              <a:spcBef>
                <a:spcPts val="0"/>
              </a:spcBef>
              <a:buNone/>
            </a:pPr>
            <a:r>
              <a:rPr lang="en-CA" sz="2400" b="1" i="1" dirty="0">
                <a:solidFill>
                  <a:srgbClr val="002060"/>
                </a:solidFill>
              </a:rPr>
              <a:t>Upfront business model:</a:t>
            </a:r>
          </a:p>
          <a:p>
            <a:pPr>
              <a:spcBef>
                <a:spcPts val="0"/>
              </a:spcBef>
            </a:pPr>
            <a:r>
              <a:rPr lang="en-CA" sz="2400" dirty="0">
                <a:solidFill>
                  <a:srgbClr val="002060"/>
                </a:solidFill>
              </a:rPr>
              <a:t>NSOs pay upfront for access to this program in full</a:t>
            </a:r>
          </a:p>
          <a:p>
            <a:pPr>
              <a:spcBef>
                <a:spcPts val="0"/>
              </a:spcBef>
            </a:pPr>
            <a:r>
              <a:rPr lang="en-CA" sz="2400" dirty="0">
                <a:solidFill>
                  <a:srgbClr val="002060"/>
                </a:solidFill>
              </a:rPr>
              <a:t>Less expensive, cost certainty</a:t>
            </a:r>
          </a:p>
        </p:txBody>
      </p:sp>
      <p:graphicFrame>
        <p:nvGraphicFramePr>
          <p:cNvPr id="3" name="Diagram 2">
            <a:extLst>
              <a:ext uri="{FF2B5EF4-FFF2-40B4-BE49-F238E27FC236}">
                <a16:creationId xmlns:a16="http://schemas.microsoft.com/office/drawing/2014/main" id="{F4A1F89C-3934-2C7C-CDDF-016B44BD3395}"/>
              </a:ext>
            </a:extLst>
          </p:cNvPr>
          <p:cNvGraphicFramePr/>
          <p:nvPr>
            <p:extLst>
              <p:ext uri="{D42A27DB-BD31-4B8C-83A1-F6EECF244321}">
                <p14:modId xmlns:p14="http://schemas.microsoft.com/office/powerpoint/2010/main" val="3795215523"/>
              </p:ext>
            </p:extLst>
          </p:nvPr>
        </p:nvGraphicFramePr>
        <p:xfrm>
          <a:off x="6133165" y="1382751"/>
          <a:ext cx="7394498" cy="47555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41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360311-EB69-E84D-B29B-A69D34836CE1}"/>
            </a:ext>
          </a:extLst>
        </p:cNvPr>
        <p:cNvGrpSpPr/>
        <p:nvPr/>
      </p:nvGrpSpPr>
      <p:grpSpPr>
        <a:xfrm>
          <a:off x="0" y="0"/>
          <a:ext cx="0" cy="0"/>
          <a:chOff x="0" y="0"/>
          <a:chExt cx="0" cy="0"/>
        </a:xfrm>
      </p:grpSpPr>
      <p:sp>
        <p:nvSpPr>
          <p:cNvPr id="63490" name="Rectangle 2">
            <a:extLst>
              <a:ext uri="{FF2B5EF4-FFF2-40B4-BE49-F238E27FC236}">
                <a16:creationId xmlns:a16="http://schemas.microsoft.com/office/drawing/2014/main" id="{B1630046-287D-264C-0F36-58D51C2608CC}"/>
              </a:ext>
            </a:extLst>
          </p:cNvPr>
          <p:cNvSpPr>
            <a:spLocks noGrp="1" noChangeArrowheads="1"/>
          </p:cNvSpPr>
          <p:nvPr>
            <p:ph type="title"/>
          </p:nvPr>
        </p:nvSpPr>
        <p:spPr>
          <a:xfrm>
            <a:off x="286747" y="1104559"/>
            <a:ext cx="6660232" cy="565151"/>
          </a:xfrm>
          <a:noFill/>
        </p:spPr>
        <p:txBody>
          <a:bodyPr>
            <a:noAutofit/>
          </a:bodyPr>
          <a:lstStyle/>
          <a:p>
            <a:r>
              <a:rPr lang="en-CA" sz="3733" dirty="0"/>
              <a:t>Step 6.  Business Model </a:t>
            </a:r>
          </a:p>
        </p:txBody>
      </p:sp>
      <p:sp>
        <p:nvSpPr>
          <p:cNvPr id="6" name="Rectangle 3">
            <a:extLst>
              <a:ext uri="{FF2B5EF4-FFF2-40B4-BE49-F238E27FC236}">
                <a16:creationId xmlns:a16="http://schemas.microsoft.com/office/drawing/2014/main" id="{2EC2C951-F89F-B409-1316-6906058AA461}"/>
              </a:ext>
            </a:extLst>
          </p:cNvPr>
          <p:cNvSpPr txBox="1">
            <a:spLocks noChangeArrowheads="1"/>
          </p:cNvSpPr>
          <p:nvPr/>
        </p:nvSpPr>
        <p:spPr>
          <a:xfrm>
            <a:off x="2042809" y="1716136"/>
            <a:ext cx="9808339" cy="30235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CA" sz="2400" b="1" i="1" dirty="0">
                <a:solidFill>
                  <a:srgbClr val="002060"/>
                </a:solidFill>
              </a:rPr>
              <a:t>Subscription business model (expensive):</a:t>
            </a:r>
          </a:p>
          <a:p>
            <a:pPr>
              <a:spcBef>
                <a:spcPts val="0"/>
              </a:spcBef>
            </a:pPr>
            <a:r>
              <a:rPr lang="en-CA" sz="2400" dirty="0">
                <a:solidFill>
                  <a:srgbClr val="002060"/>
                </a:solidFill>
              </a:rPr>
              <a:t>Monthly cost per athlete</a:t>
            </a:r>
          </a:p>
          <a:p>
            <a:pPr>
              <a:spcBef>
                <a:spcPts val="0"/>
              </a:spcBef>
            </a:pPr>
            <a:r>
              <a:rPr lang="en-CA" sz="2400" dirty="0">
                <a:solidFill>
                  <a:srgbClr val="002060"/>
                </a:solidFill>
              </a:rPr>
              <a:t>i.e. Bronze = Custom Protocol, 1 workout &amp; 1 testing session/month</a:t>
            </a:r>
          </a:p>
          <a:p>
            <a:pPr marL="0" indent="0">
              <a:spcBef>
                <a:spcPts val="0"/>
              </a:spcBef>
              <a:buNone/>
            </a:pPr>
            <a:endParaRPr lang="en-CA" sz="2400" b="1" i="1" dirty="0">
              <a:solidFill>
                <a:srgbClr val="002060"/>
              </a:solidFill>
            </a:endParaRPr>
          </a:p>
          <a:p>
            <a:pPr marL="0" indent="0">
              <a:spcBef>
                <a:spcPts val="0"/>
              </a:spcBef>
              <a:buNone/>
            </a:pPr>
            <a:r>
              <a:rPr lang="en-CA" sz="2400" b="1" i="1" dirty="0">
                <a:solidFill>
                  <a:srgbClr val="002060"/>
                </a:solidFill>
              </a:rPr>
              <a:t>Upfront business model (inexpensive):</a:t>
            </a:r>
          </a:p>
          <a:p>
            <a:pPr>
              <a:spcBef>
                <a:spcPts val="0"/>
              </a:spcBef>
            </a:pPr>
            <a:r>
              <a:rPr lang="en-CA" sz="2400" dirty="0">
                <a:solidFill>
                  <a:srgbClr val="002060"/>
                </a:solidFill>
              </a:rPr>
              <a:t>NSOs pay upfront for access to this program in full</a:t>
            </a:r>
            <a:endParaRPr lang="en-CA" sz="2400" i="1" dirty="0">
              <a:solidFill>
                <a:srgbClr val="002060"/>
              </a:solidFill>
            </a:endParaRPr>
          </a:p>
          <a:p>
            <a:pPr marL="0" indent="0">
              <a:spcBef>
                <a:spcPts val="0"/>
              </a:spcBef>
              <a:buNone/>
            </a:pPr>
            <a:endParaRPr lang="en-CA" sz="2400" b="1" i="1" dirty="0">
              <a:solidFill>
                <a:srgbClr val="002060"/>
              </a:solidFill>
            </a:endParaRPr>
          </a:p>
          <a:p>
            <a:pPr marL="0" indent="0">
              <a:spcBef>
                <a:spcPts val="0"/>
              </a:spcBef>
              <a:buNone/>
            </a:pPr>
            <a:endParaRPr lang="en-CA" sz="2400" b="1" i="1" dirty="0">
              <a:solidFill>
                <a:srgbClr val="002060"/>
              </a:solidFill>
            </a:endParaRPr>
          </a:p>
          <a:p>
            <a:pPr marL="0" indent="0">
              <a:spcBef>
                <a:spcPts val="0"/>
              </a:spcBef>
              <a:buNone/>
            </a:pPr>
            <a:r>
              <a:rPr lang="en-CA" sz="2400" b="1" i="1" dirty="0">
                <a:solidFill>
                  <a:srgbClr val="002060"/>
                </a:solidFill>
              </a:rPr>
              <a:t>Expenses</a:t>
            </a:r>
          </a:p>
        </p:txBody>
      </p:sp>
      <p:pic>
        <p:nvPicPr>
          <p:cNvPr id="7" name="Picture 9">
            <a:extLst>
              <a:ext uri="{FF2B5EF4-FFF2-40B4-BE49-F238E27FC236}">
                <a16:creationId xmlns:a16="http://schemas.microsoft.com/office/drawing/2014/main" id="{7E3F0867-922C-B941-2927-B89434035E86}"/>
              </a:ext>
            </a:extLst>
          </p:cNvPr>
          <p:cNvPicPr>
            <a:picLocks noChangeAspect="1"/>
          </p:cNvPicPr>
          <p:nvPr/>
        </p:nvPicPr>
        <p:blipFill rotWithShape="1">
          <a:blip r:embed="rId3">
            <a:extLst>
              <a:ext uri="{28A0092B-C50C-407E-A947-70E740481C1C}">
                <a14:useLocalDpi xmlns:a14="http://schemas.microsoft.com/office/drawing/2010/main" val="0"/>
              </a:ext>
            </a:extLst>
          </a:blip>
          <a:srcRect l="72828" t="48990" r="1784"/>
          <a:stretch/>
        </p:blipFill>
        <p:spPr bwMode="auto">
          <a:xfrm>
            <a:off x="194345" y="2569496"/>
            <a:ext cx="1848464" cy="1989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a:extLst>
              <a:ext uri="{FF2B5EF4-FFF2-40B4-BE49-F238E27FC236}">
                <a16:creationId xmlns:a16="http://schemas.microsoft.com/office/drawing/2014/main" id="{FE2D8E77-833D-3039-7E34-AFDC13E97AC3}"/>
              </a:ext>
            </a:extLst>
          </p:cNvPr>
          <p:cNvGraphicFramePr>
            <a:graphicFrameLocks noGrp="1"/>
          </p:cNvGraphicFramePr>
          <p:nvPr/>
        </p:nvGraphicFramePr>
        <p:xfrm>
          <a:off x="2042809" y="5096744"/>
          <a:ext cx="8127999" cy="1483360"/>
        </p:xfrm>
        <a:graphic>
          <a:graphicData uri="http://schemas.openxmlformats.org/drawingml/2006/table">
            <a:tbl>
              <a:tblPr firstRow="1" bandRow="1">
                <a:tableStyleId>{F5AB1C69-6EDB-4FF4-983F-18BD219EF322}</a:tableStyleId>
              </a:tblPr>
              <a:tblGrid>
                <a:gridCol w="2709333">
                  <a:extLst>
                    <a:ext uri="{9D8B030D-6E8A-4147-A177-3AD203B41FA5}">
                      <a16:colId xmlns:a16="http://schemas.microsoft.com/office/drawing/2014/main" val="438285618"/>
                    </a:ext>
                  </a:extLst>
                </a:gridCol>
                <a:gridCol w="3515976">
                  <a:extLst>
                    <a:ext uri="{9D8B030D-6E8A-4147-A177-3AD203B41FA5}">
                      <a16:colId xmlns:a16="http://schemas.microsoft.com/office/drawing/2014/main" val="2750472994"/>
                    </a:ext>
                  </a:extLst>
                </a:gridCol>
                <a:gridCol w="1902690">
                  <a:extLst>
                    <a:ext uri="{9D8B030D-6E8A-4147-A177-3AD203B41FA5}">
                      <a16:colId xmlns:a16="http://schemas.microsoft.com/office/drawing/2014/main" val="395270509"/>
                    </a:ext>
                  </a:extLst>
                </a:gridCol>
              </a:tblGrid>
              <a:tr h="370840">
                <a:tc>
                  <a:txBody>
                    <a:bodyPr/>
                    <a:lstStyle/>
                    <a:p>
                      <a:r>
                        <a:rPr lang="en-US" dirty="0"/>
                        <a:t>Estimated Costs</a:t>
                      </a:r>
                    </a:p>
                  </a:txBody>
                  <a:tcPr/>
                </a:tc>
                <a:tc>
                  <a:txBody>
                    <a:bodyPr/>
                    <a:lstStyle/>
                    <a:p>
                      <a:r>
                        <a:rPr lang="en-US" dirty="0"/>
                        <a:t>Description</a:t>
                      </a:r>
                    </a:p>
                  </a:txBody>
                  <a:tcPr/>
                </a:tc>
                <a:tc>
                  <a:txBody>
                    <a:bodyPr/>
                    <a:lstStyle/>
                    <a:p>
                      <a:r>
                        <a:rPr lang="en-US" dirty="0"/>
                        <a:t>Costs</a:t>
                      </a:r>
                    </a:p>
                  </a:txBody>
                  <a:tcPr/>
                </a:tc>
                <a:extLst>
                  <a:ext uri="{0D108BD9-81ED-4DB2-BD59-A6C34878D82A}">
                    <a16:rowId xmlns:a16="http://schemas.microsoft.com/office/drawing/2014/main" val="3269524530"/>
                  </a:ext>
                </a:extLst>
              </a:tr>
              <a:tr h="370840">
                <a:tc>
                  <a:txBody>
                    <a:bodyPr/>
                    <a:lstStyle/>
                    <a:p>
                      <a:r>
                        <a:rPr lang="en-US" dirty="0"/>
                        <a:t>Project </a:t>
                      </a:r>
                      <a:r>
                        <a:rPr lang="en-US" dirty="0" err="1"/>
                        <a:t>Labour</a:t>
                      </a:r>
                      <a:endParaRPr lang="en-US" dirty="0"/>
                    </a:p>
                  </a:txBody>
                  <a:tcPr/>
                </a:tc>
                <a:tc>
                  <a:txBody>
                    <a:bodyPr/>
                    <a:lstStyle/>
                    <a:p>
                      <a:r>
                        <a:rPr lang="en-CA" sz="1800" dirty="0"/>
                        <a:t>0.4 FTE </a:t>
                      </a:r>
                      <a:endParaRPr lang="en-US" dirty="0"/>
                    </a:p>
                  </a:txBody>
                  <a:tcPr/>
                </a:tc>
                <a:tc>
                  <a:txBody>
                    <a:bodyPr/>
                    <a:lstStyle/>
                    <a:p>
                      <a:r>
                        <a:rPr lang="en-US" dirty="0"/>
                        <a:t>~$20-30k/year</a:t>
                      </a:r>
                    </a:p>
                  </a:txBody>
                  <a:tcPr/>
                </a:tc>
                <a:extLst>
                  <a:ext uri="{0D108BD9-81ED-4DB2-BD59-A6C34878D82A}">
                    <a16:rowId xmlns:a16="http://schemas.microsoft.com/office/drawing/2014/main" val="2008890734"/>
                  </a:ext>
                </a:extLst>
              </a:tr>
              <a:tr h="370840">
                <a:tc>
                  <a:txBody>
                    <a:bodyPr/>
                    <a:lstStyle/>
                    <a:p>
                      <a:r>
                        <a:rPr lang="en-US" dirty="0"/>
                        <a:t>Soft Goods</a:t>
                      </a:r>
                    </a:p>
                  </a:txBody>
                  <a:tcPr/>
                </a:tc>
                <a:tc>
                  <a:txBody>
                    <a:bodyPr/>
                    <a:lstStyle/>
                    <a:p>
                      <a:r>
                        <a:rPr lang="en-US" dirty="0"/>
                        <a:t>i.e. software</a:t>
                      </a:r>
                    </a:p>
                  </a:txBody>
                  <a:tcPr/>
                </a:tc>
                <a:tc>
                  <a:txBody>
                    <a:bodyPr/>
                    <a:lstStyle/>
                    <a:p>
                      <a:r>
                        <a:rPr lang="en-US" dirty="0"/>
                        <a:t>$0*</a:t>
                      </a:r>
                    </a:p>
                  </a:txBody>
                  <a:tcPr/>
                </a:tc>
                <a:extLst>
                  <a:ext uri="{0D108BD9-81ED-4DB2-BD59-A6C34878D82A}">
                    <a16:rowId xmlns:a16="http://schemas.microsoft.com/office/drawing/2014/main" val="4241826137"/>
                  </a:ext>
                </a:extLst>
              </a:tr>
              <a:tr h="370840">
                <a:tc>
                  <a:txBody>
                    <a:bodyPr/>
                    <a:lstStyle/>
                    <a:p>
                      <a:r>
                        <a:rPr lang="en-US" dirty="0"/>
                        <a:t>Hard Goods</a:t>
                      </a:r>
                    </a:p>
                  </a:txBody>
                  <a:tcPr/>
                </a:tc>
                <a:tc>
                  <a:txBody>
                    <a:bodyPr/>
                    <a:lstStyle/>
                    <a:p>
                      <a:r>
                        <a:rPr lang="en-US" dirty="0" err="1"/>
                        <a:t>Tindeq</a:t>
                      </a:r>
                      <a:r>
                        <a:rPr lang="en-US" dirty="0"/>
                        <a:t> Dynamometer, misc.</a:t>
                      </a:r>
                    </a:p>
                  </a:txBody>
                  <a:tcPr/>
                </a:tc>
                <a:tc>
                  <a:txBody>
                    <a:bodyPr/>
                    <a:lstStyle/>
                    <a:p>
                      <a:r>
                        <a:rPr lang="en-US" dirty="0"/>
                        <a:t>~$500</a:t>
                      </a:r>
                    </a:p>
                  </a:txBody>
                  <a:tcPr/>
                </a:tc>
                <a:extLst>
                  <a:ext uri="{0D108BD9-81ED-4DB2-BD59-A6C34878D82A}">
                    <a16:rowId xmlns:a16="http://schemas.microsoft.com/office/drawing/2014/main" val="3770342774"/>
                  </a:ext>
                </a:extLst>
              </a:tr>
            </a:tbl>
          </a:graphicData>
        </a:graphic>
      </p:graphicFrame>
    </p:spTree>
    <p:extLst>
      <p:ext uri="{BB962C8B-B14F-4D97-AF65-F5344CB8AC3E}">
        <p14:creationId xmlns:p14="http://schemas.microsoft.com/office/powerpoint/2010/main" val="296376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86747" y="1104559"/>
            <a:ext cx="6660232" cy="565151"/>
          </a:xfrm>
          <a:noFill/>
        </p:spPr>
        <p:txBody>
          <a:bodyPr>
            <a:noAutofit/>
          </a:bodyPr>
          <a:lstStyle/>
          <a:p>
            <a:r>
              <a:rPr lang="en-CA" sz="3733" dirty="0"/>
              <a:t>Step 7.  Milestones </a:t>
            </a:r>
          </a:p>
        </p:txBody>
      </p:sp>
      <p:pic>
        <p:nvPicPr>
          <p:cNvPr id="5" name="Picture 10"/>
          <p:cNvPicPr>
            <a:picLocks noChangeAspect="1"/>
          </p:cNvPicPr>
          <p:nvPr/>
        </p:nvPicPr>
        <p:blipFill rotWithShape="1">
          <a:blip r:embed="rId3">
            <a:extLst>
              <a:ext uri="{28A0092B-C50C-407E-A947-70E740481C1C}">
                <a14:useLocalDpi xmlns:a14="http://schemas.microsoft.com/office/drawing/2010/main" val="0"/>
              </a:ext>
            </a:extLst>
          </a:blip>
          <a:srcRect l="10699" t="42953" r="65931" b="8923"/>
          <a:stretch/>
        </p:blipFill>
        <p:spPr bwMode="auto">
          <a:xfrm>
            <a:off x="286747" y="2279795"/>
            <a:ext cx="1612492" cy="186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Diagram 3">
            <a:extLst>
              <a:ext uri="{FF2B5EF4-FFF2-40B4-BE49-F238E27FC236}">
                <a16:creationId xmlns:a16="http://schemas.microsoft.com/office/drawing/2014/main" id="{21742B22-5B55-7295-D23E-4E6F20BD00E8}"/>
              </a:ext>
            </a:extLst>
          </p:cNvPr>
          <p:cNvGraphicFramePr/>
          <p:nvPr>
            <p:extLst>
              <p:ext uri="{D42A27DB-BD31-4B8C-83A1-F6EECF244321}">
                <p14:modId xmlns:p14="http://schemas.microsoft.com/office/powerpoint/2010/main" val="1449076897"/>
              </p:ext>
            </p:extLst>
          </p:nvPr>
        </p:nvGraphicFramePr>
        <p:xfrm>
          <a:off x="2288674" y="992264"/>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5287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F1E11-BB0E-FF82-9D9E-562E4141FDCA}"/>
              </a:ext>
            </a:extLst>
          </p:cNvPr>
          <p:cNvSpPr>
            <a:spLocks noGrp="1"/>
          </p:cNvSpPr>
          <p:nvPr>
            <p:ph type="title"/>
          </p:nvPr>
        </p:nvSpPr>
        <p:spPr/>
        <p:txBody>
          <a:bodyPr/>
          <a:lstStyle/>
          <a:p>
            <a:r>
              <a:rPr lang="en-US" dirty="0"/>
              <a:t>Step 7b. Specific Project Components</a:t>
            </a:r>
          </a:p>
        </p:txBody>
      </p:sp>
      <p:sp>
        <p:nvSpPr>
          <p:cNvPr id="3" name="Text Placeholder 2">
            <a:extLst>
              <a:ext uri="{FF2B5EF4-FFF2-40B4-BE49-F238E27FC236}">
                <a16:creationId xmlns:a16="http://schemas.microsoft.com/office/drawing/2014/main" id="{4FD779C0-08B7-4DD0-64BF-7B8F1EFAC4FF}"/>
              </a:ext>
            </a:extLst>
          </p:cNvPr>
          <p:cNvSpPr>
            <a:spLocks noGrp="1"/>
          </p:cNvSpPr>
          <p:nvPr>
            <p:ph type="body" idx="1"/>
          </p:nvPr>
        </p:nvSpPr>
        <p:spPr/>
        <p:txBody>
          <a:bodyPr/>
          <a:lstStyle/>
          <a:p>
            <a:r>
              <a:rPr lang="en-US" dirty="0"/>
              <a:t>Research and Writing</a:t>
            </a:r>
          </a:p>
          <a:p>
            <a:endParaRPr lang="en-US" dirty="0"/>
          </a:p>
          <a:p>
            <a:r>
              <a:rPr lang="en-US" dirty="0"/>
              <a:t>Building the App/Website</a:t>
            </a:r>
          </a:p>
          <a:p>
            <a:endParaRPr lang="en-US" dirty="0"/>
          </a:p>
          <a:p>
            <a:r>
              <a:rPr lang="en-US" dirty="0"/>
              <a:t>Integration with AMS</a:t>
            </a:r>
          </a:p>
          <a:p>
            <a:endParaRPr lang="en-US" dirty="0"/>
          </a:p>
          <a:p>
            <a:r>
              <a:rPr lang="en-US" dirty="0"/>
              <a:t>Integrating New Tools</a:t>
            </a:r>
          </a:p>
          <a:p>
            <a:pPr lvl="1"/>
            <a:r>
              <a:rPr lang="en-US" dirty="0"/>
              <a:t>Dynamometer</a:t>
            </a:r>
          </a:p>
          <a:p>
            <a:pPr lvl="1"/>
            <a:r>
              <a:rPr lang="en-US" dirty="0"/>
              <a:t>Data Collection tools</a:t>
            </a:r>
          </a:p>
        </p:txBody>
      </p:sp>
    </p:spTree>
    <p:extLst>
      <p:ext uri="{BB962C8B-B14F-4D97-AF65-F5344CB8AC3E}">
        <p14:creationId xmlns:p14="http://schemas.microsoft.com/office/powerpoint/2010/main" val="17498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86747" y="1104559"/>
            <a:ext cx="6660232" cy="565151"/>
          </a:xfrm>
          <a:noFill/>
        </p:spPr>
        <p:txBody>
          <a:bodyPr>
            <a:noAutofit/>
          </a:bodyPr>
          <a:lstStyle/>
          <a:p>
            <a:pPr algn="l"/>
            <a:r>
              <a:rPr lang="en-US" sz="3733" dirty="0"/>
              <a:t>Multi Step Project “PITCH”</a:t>
            </a:r>
            <a:endParaRPr lang="en-CA" sz="3733" dirty="0"/>
          </a:p>
        </p:txBody>
      </p:sp>
      <p:sp>
        <p:nvSpPr>
          <p:cNvPr id="6" name="Rectangle 3"/>
          <p:cNvSpPr txBox="1">
            <a:spLocks noChangeArrowheads="1"/>
          </p:cNvSpPr>
          <p:nvPr/>
        </p:nvSpPr>
        <p:spPr>
          <a:xfrm>
            <a:off x="5112775" y="2207198"/>
            <a:ext cx="6738373" cy="30235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000" kern="1200" baseline="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1800" kern="1200" baseline="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1600" kern="1200" baseline="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14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CA" sz="3733" b="1" dirty="0"/>
              <a:t>Step 8.  SWOT (optional)</a:t>
            </a:r>
          </a:p>
          <a:p>
            <a:pPr marL="0" indent="0">
              <a:spcBef>
                <a:spcPts val="0"/>
              </a:spcBef>
              <a:buNone/>
            </a:pPr>
            <a:r>
              <a:rPr lang="en-CA" sz="2400" dirty="0"/>
              <a:t>If you have been able to collect enough information in steps 1 through 7, consider developing a single slide SWOT analysis. </a:t>
            </a:r>
            <a:endParaRPr lang="en-CA" sz="2400" b="1" i="1" dirty="0">
              <a:solidFill>
                <a:srgbClr val="002060"/>
              </a:solidFill>
            </a:endParaRPr>
          </a:p>
          <a:p>
            <a:pPr marL="0" indent="0">
              <a:spcBef>
                <a:spcPts val="0"/>
              </a:spcBef>
              <a:buNone/>
            </a:pPr>
            <a:endParaRPr lang="en-CA" sz="2400" b="1" i="1" dirty="0">
              <a:solidFill>
                <a:srgbClr val="002060"/>
              </a:solidFill>
            </a:endParaRPr>
          </a:p>
        </p:txBody>
      </p:sp>
      <p:pic>
        <p:nvPicPr>
          <p:cNvPr id="3" name="Picture 2"/>
          <p:cNvPicPr>
            <a:picLocks noChangeAspect="1"/>
          </p:cNvPicPr>
          <p:nvPr/>
        </p:nvPicPr>
        <p:blipFill>
          <a:blip r:embed="rId3"/>
          <a:stretch>
            <a:fillRect/>
          </a:stretch>
        </p:blipFill>
        <p:spPr>
          <a:xfrm>
            <a:off x="0" y="1746656"/>
            <a:ext cx="4840651" cy="4626351"/>
          </a:xfrm>
          <a:prstGeom prst="rect">
            <a:avLst/>
          </a:prstGeom>
        </p:spPr>
      </p:pic>
    </p:spTree>
    <p:extLst>
      <p:ext uri="{BB962C8B-B14F-4D97-AF65-F5344CB8AC3E}">
        <p14:creationId xmlns:p14="http://schemas.microsoft.com/office/powerpoint/2010/main" val="289979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9833</TotalTime>
  <Words>6360</Words>
  <Application>Microsoft Macintosh PowerPoint</Application>
  <PresentationFormat>Widescreen</PresentationFormat>
  <Paragraphs>726</Paragraphs>
  <Slides>19</Slides>
  <Notes>17</Notes>
  <HiddenSlides>6</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  Lunch &amp; Learn: Introducing the CSI Pacific Return to Performance Program   Andrew Kates  May 19, 2026</vt:lpstr>
      <vt:lpstr>Presentation Overview</vt:lpstr>
      <vt:lpstr>PowerPoint Presentation</vt:lpstr>
      <vt:lpstr>PowerPoint Presentation</vt:lpstr>
      <vt:lpstr>Step 1.  The Problem </vt:lpstr>
      <vt:lpstr>Step 2.  Your Solution(s)</vt:lpstr>
      <vt:lpstr>Preface: What is this thing?</vt:lpstr>
      <vt:lpstr>What ISN’T this Thing</vt:lpstr>
      <vt:lpstr>Choose your lens</vt:lpstr>
      <vt:lpstr>After the Tour</vt:lpstr>
      <vt:lpstr>Implementation – Business Model</vt:lpstr>
      <vt:lpstr>Step 3.  Competition Benchmarking</vt:lpstr>
      <vt:lpstr>Step 4.  Target Market</vt:lpstr>
      <vt:lpstr>Step 5.  Highlight Your Team Advantage</vt:lpstr>
      <vt:lpstr>Step 6.  Business Model </vt:lpstr>
      <vt:lpstr>Step 6.  Business Model </vt:lpstr>
      <vt:lpstr>Step 7.  Milestones </vt:lpstr>
      <vt:lpstr>Step 7b. Specific Project Components</vt:lpstr>
      <vt:lpstr>Multi Step Project “PITCH”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Noah Wheelock</dc:creator>
  <cp:lastModifiedBy>Andrew Kates</cp:lastModifiedBy>
  <cp:revision>71</cp:revision>
  <dcterms:created xsi:type="dcterms:W3CDTF">2017-01-05T20:16:58Z</dcterms:created>
  <dcterms:modified xsi:type="dcterms:W3CDTF">2026-05-18T16:35:45Z</dcterms:modified>
</cp:coreProperties>
</file>